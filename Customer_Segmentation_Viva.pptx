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Our project is Customer Segmentation for Targeted E-Commerce Marketing. In one line: we take a year of raw transaction data, group the customers by how they actually behave, and turn that into a live dashboard a marketing team can act on. I'll cover the problem, the method, the results, the system we built, and the limitations.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route. Six parts. I'll spend most of the time on parts three and four — the method and what the segments actually say — because that is where the contribution is.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problem is simple to state. An online retailer has thousands of customers and treats them as one undifferentiated list. Every campaign goes to everybody. But the customers are not the same: in our data the top ten percent of customers generate sixty-one percent of the revenue. Sending the same twenty-percent-off coupon to a loyal high spender and to someone who bought once a year ago is wasteful in two directions — you discount revenue you would have earned anyway, and you spend on people who will not come back.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that problem we set five objectives. Note the fifth one — we did not want this to end as a notebook full of plots. A marketing team cannot run Jupyter, so part of the objective was delivering it as a working web application.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used the UCI Online Retail dataset — a real transaction log from a UK-based online gift retailer, about 542,000 rows covering roughly one year. It is a standard benchmark for this task, which means our results are comparable to published work. Note the dates shown here: we shifted the original 2010–2011 window forward so the live dashboard demo has recent activity to react to. The behaviour and the relative gaps between purchases are unchanged.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any modelling, the data had to be cleaned. Two decisions matter and the examiner may push on both. First, we dropped 135,080 rows with no CustomerID — roughly a quarter of the file. These are guest checkouts; without an ID we cannot attribute behaviour to a person, and per-customer analysis is the entire point. Second, we removed rows with quantity less than or equal to zero — these are returns and cancellations. We keep them out because a return is not purchase behaviour. We acknowledge in our limitations that a returns-heavy customer is itself a useful signal we are discarding.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heart of the feature engineering. RFM is a long-established marketing framework that describes a customer with three numbers. Recency: how many days since their last order — measured against a snapshot date one day after the last transaction in the data, so no customer has a recency of zero. Frequency: how many distinct invoices they placed. Monetary: total money spent. The key transformation is that 398,000 transaction rows collapse to 4,339 customer rows. We are no longer modelling purchases; we are modelling people.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Scaling is where a lot of RFM projects go wrong, so we want to show our working. K-Means uses Euclidean distance, so a feature with a bigger numeric range dominates. Monetary ranges from a few pounds to two hundred and eighty thousand; recency ranges nought to about three seventy. Worse, monetary is extremely right-skewed — a skewness of over nineteen. If we only standardise, a handful of whales sit so far out that K-Means spends clusters isolating them. So we apply log1p first, which compresses the long tail and brings skewness down to zero point three six, and then StandardScaler. One convention we kept throughout: we model on the scaled data but always report and interpret using the original pounds and days.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Choosing K is the question an examiner is most likely to press on, so we will be direct about it. The elbow curve bends between three and five — it is a soft elbow, not a sharp one. Silhouette actually peaks at K equals two, with zero point four three. We did not take K equals two, and here is the defence. Silhouette rewards few, well-separated blobs, and RFM behaviour is a continuum, not naturally separated islands — so silhouette will almost always favour the smallest K. K equals two only tells us 'active versus inactive', which marketing already knows and cannot act on. K equals four still scores zero point three four, which indicates real structure, and it recovers the four segments the marketing literature recognises: champions, loyal, new, and hibernating. We chose K by actionability, with the statistics as a sanity check, and we are stating that openly rather than hiding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is the method. Now the results.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four clusters in original units — days and pounds, not scaled numbers. Read the extremes first. Cluster 2 is 715 customers, bought 12 days ago on average, nearly 14 orders each, over eight thousand pounds apiece — these are the champions. Cluster 3 is the opposite: 1,624 customers, last seen 180 days ago, barely more than one order, about three hundred and forty pounds — dormant. Cluster 0 is recent but low-volume: new or occasional buyers. Cluster 1 sits in the middle and is the interesting one — decent spend, but seventy days since their last order. That is a segment actively cooling down, and it is the one where intervention pays.</a:t>
            </a:r>
          </a:p>
          <a:p/>
          <a:p>
            <a:r>
              <a:t>TWO QUESTIONS TO EXPECT ON THIS SLIDE.</a:t>
            </a:r>
          </a:p>
          <a:p/>
          <a:p>
            <a:r>
              <a:t>(a) 'You clustered on log-scaled data — how can you read these clusters off raw pounds and days?' Because K-Means returns a membership label per customer, not a value. We join that label back onto the untouched RFM table and take group statistics — nothing is back-transformed. And log1p plus StandardScaler are strictly increasing, so rank order per feature is perfectly preserved: we checked all 4,339 customers and found zero inversions. Each cluster holds the same position on every feature in both spaces — Cluster 2's centroid is +1.66 standard deviations on frequency and +1.40 on monetary in the space K-Means actually used. The log changes distances, which is the point; it does not change which direction 'more' is. What we deliberately never do is back-transform a centroid — exp of a mean log is a geometric mean, not the arithmetic mean.</a:t>
            </a:r>
          </a:p>
          <a:p/>
          <a:p>
            <a:r>
              <a:t>(b) 'Is that mean dragged up by a few whales?' Yes, partly — which is why both columns are on the slide. Champions mean £8,083, median £3,738. The median is the typical member; the mean tells you the segment's revenue weight. Both are true and they answer different questions.</a:t>
            </a:r>
          </a:p>
          <a:p/>
          <a:p>
            <a:r>
              <a:t>ONE MORE, IF PRESSED: the cluster NUMBERS are arbitrary. With a different random_state the champions can come out as cluster 0 or 1. The sizes and profiles are stable to within a handful of customers; only the integer moves. That is why random_state=42 is fixed, and why we name segments from the profile, never from the number.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visual check. We ran PCA to project the three-dimensional scaled RFM space down to two so it can be plotted; the first two components retain ninety-four percent of the variance, so this picture is a fair representation. Two things to say before anyone asks. First, PCA is used purely for visualisation — the clustering itself happens in the full three-dimensional scaled space, not on these coordinates. Second, the clusters touch at the boundaries. That is expected and correct: customer behaviour is a continuum, so perfectly separated circles would actually be a sign of something artificial. The centroids are clearly distinct and the gradient runs cleanly from dormant to champion.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single most important slide for the business argument, so I will pause on it. Look at the mismatch between the grey bars and the orange bars. Cluster 2 is sixteen percent of the customer base but sixty-five percent of the revenue. Cluster 3 is thirty-seven percent of the base — the biggest group — and six percent of the revenue. Under blanket marketing those two groups receive identical treatment and identical budget. That is precisely the waste we set out to remove. Segmentation makes the mismatch visible, and once it is visible it can be acted 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cluster number is not a deliverable. This slide is the translation layer — for each segment, who they are and what marketing should actually do. Champions get recognition, not discounts; discounting them destroys margin on revenue you were going to receive anyway. At-risk customers get the win-back offer, because that is where a pound of spend changes an outcome. New buyers get a second-purchase nudge. And the hibernating group gets one cheap reactivation attempt, then goes to a low-cost channel — we deliberately do not recommend abandoning them, but we do not recommend spending premium budget on them either.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money slide — the answer to 'so what?'. Take a campaign costing two pounds per contact. Blanket: 4,339 contacts, £8,678. Targeted at the two segments where spend actually changes behaviour — champions and at-risk — that is 1,890 contacts, £3,780. A fifty-six percent reduction in campaign cost, while still addressing the customers who account for eighty-nine percent of revenue. To be clear about what this claim is: it is a cost-efficiency argument computed from our real segment sizes, not a measured uplift. Proving uplift needs an A/B test against a holdout group, which is the first thing we would do next.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half of the project moves from description to prediction. Clustering tells us who a customer is today; we also wanted a forward-looking risk score. We defined churn as recency greater than ninety days, then trained a logistic regression on recency, frequency and monetary to output a churn probability per customer. Thirty-three percent of the base is flagged as churned under that definition. The really useful output is the breakdown by cluster on the right — churn risk is near zero in champions and seventy-one percent in the hibernating group, which independently confirms the segmentation is capturing something real.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slide we expect to be questioned on, so we are raising it ourselves. The classifier reports one hundred percent accuracy, precision and recall. That is not a good result — it is a warning sign, and we understand exactly why it happens. Our churn label is defined as recency greater than ninety, and recency is also one of the three inputs. The model only has to learn a threshold on a feature it has already been given. It is a tautology, not predictive power. The histogram shows the symptom: probabilities pile up at zero and one with nothing in between, because there is no genuine uncertainty to express. What would fix it: define churn on a future window — for example, did this customer buy in the next ninety days — and train only on features observed before that window, excluding recency. We did not have time to rebuild the pipeline for that, and we would rather state the flaw plainly than present a perfect score as a success.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far this is analysis. The last part of the project was making it usable.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system architecture. Three layers. The data layer is the raw CSV plus a SQLite database holding the product catalogue and any simulated purchases. The application layer is a FastAPI service in Python; critically it imports the exact same pipeline module the notebook uses, so there is no risk of the dashboard and the analysis disagreeing. It runs the pipeline once at startup, holds the results in memory, and serves cached JSON. The presentation layer is a React and TypeScript single-page app using Recharts, which fetches from those endpoints. The whole thing is deployed on Render.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Briefly, the API surface. Nine endpoints. Summary and clusters give the headline figures; customers is a paginated, filterable directory; the three chart endpoints return pre-binned data so the browser never has to process four thousand rows; and the demo endpoints drive the live re-segmentation I will show in a moment. Every response is a typed Pydantic model, so the frontend's TypeScript types match the backend contract exactly.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dashboard is laid out as a report in six sections, so a manager reads it top to bottom rather than hunting through a menu. Overview gives the four headline numbers. The segments section is the cluster table. Distribution has the PCA scatter and the churn density. Directory is the searchable per-customer list — this is the part a marketer actually exports. Method exposes the elbow plot and RFM distributions so the analysis is auditable rather than a black box. One control worth pointing out: the churn threshold selector in the header recomputes the entire dashboard for 30, 60, 90, 120 or 180 days, so the definition of churn is the user's to set, not hard-coded by us.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what we would like to show live, because it demonstrates that the system is not a static report. A customer logs in with real credentials, buys a product, and the backend immediately recomputes that customer's recency to zero, increments frequency, adds to monetary value, re-runs the scaler and K-Means prediction, and reassigns them to a cluster. The panel shows the before and after side by side, so you can watch a customer move segment in real time. There is also a reset endpoint that restores the original state, so the demo can be run repeatedly.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would rather state the limitations than be caught by them. Five. One, the churn label leaks — already covered. Two, we discarded a quarter of the file with the null CustomerID rows; those are real revenue we cannot attribute. Three, the silhouette score genuinely prefers K equals two and we overrode it on business grounds — a defensible choice, but a choice. Four, RFM ignores what people buy, only how much and how often; product affinity would add a lot. Five, the cost saving is arithmetic from our segment sizes, not a measured uplift — that needs a controlled trial.</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Future work maps directly onto those limitations, in priority order. Rebuild churn on a forward window so it becomes a genuine prediction. Run an A/B test to measure real uplift. Add product-affinity features so segments know what people buy, not just how much. Compare against alternative clustering — DBSCAN and hierarchical, which we imported but did not have time to evaluate properly. Add customer lifetime value so segments can be ranked by future worth. And wire the dashboard directly into an email platform so a segment becomes a campaign in one click.</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We took 542,000 raw transactions and turned them into four behavioural segments, each with a persona, a revenue share and a recommended marketing action. We attached a churn indicator to every customer. And we delivered it as a working web application rather than a notebook, so a marketing team can use it without writing code. The headline finding is the concentration: sixteen percent of customers carry sixty-five percent of revenue — and targeting on that basis cuts campaign cost by fifty-six percent while still addressing eighty-nine percent of revenue. Thank you. We are happy to take questions.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 do not present this slide; it is your preparation crib. Keep it in the deck so you can jump to it if a question lands, or delete it before submitting.</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We are ready for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1B1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00584" cy="685800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1051560"/>
            <a:ext cx="10637215" cy="274320"/>
          </a:xfrm>
          <a:prstGeom prst="rect">
            <a:avLst/>
          </a:prstGeom>
          <a:noFill/>
        </p:spPr>
        <p:txBody>
          <a:bodyPr wrap="square" anchor="t" lIns="0" rIns="0" tIns="0" bIns="0">
            <a:spAutoFit/>
          </a:bodyPr>
          <a:lstStyle/>
          <a:p>
            <a:pPr algn="l">
              <a:lnSpc>
                <a:spcPct val="125000"/>
              </a:lnSpc>
              <a:spcAft>
                <a:spcPts val="0"/>
              </a:spcAft>
            </a:pPr>
            <a:r>
              <a:rPr sz="1100" b="0" i="0" spc="220">
                <a:solidFill>
                  <a:srgbClr val="A8A296"/>
                </a:solidFill>
                <a:latin typeface="Consolas"/>
              </a:rPr>
              <a:t>FINAL YEAR CAPSTONE PROJECT  ·  B.SC. IN CSE</a:t>
            </a:r>
          </a:p>
        </p:txBody>
      </p:sp>
      <p:sp>
        <p:nvSpPr>
          <p:cNvPr id="5" name="TextBox 4"/>
          <p:cNvSpPr txBox="1"/>
          <p:nvPr/>
        </p:nvSpPr>
        <p:spPr>
          <a:xfrm>
            <a:off x="777240" y="1691640"/>
            <a:ext cx="8778240" cy="2377440"/>
          </a:xfrm>
          <a:prstGeom prst="rect">
            <a:avLst/>
          </a:prstGeom>
          <a:noFill/>
        </p:spPr>
        <p:txBody>
          <a:bodyPr wrap="square" anchor="t" lIns="0" rIns="0" tIns="0" bIns="0">
            <a:spAutoFit/>
          </a:bodyPr>
          <a:lstStyle/>
          <a:p>
            <a:pPr algn="l">
              <a:lnSpc>
                <a:spcPct val="102000"/>
              </a:lnSpc>
              <a:spcAft>
                <a:spcPts val="0"/>
              </a:spcAft>
            </a:pPr>
            <a:r>
              <a:rPr sz="4800" b="0" i="0">
                <a:solidFill>
                  <a:srgbClr val="FAF8F4"/>
                </a:solidFill>
                <a:latin typeface="Georgia"/>
              </a:rPr>
              <a:t>Customer Segmentation</a:t>
            </a:r>
          </a:p>
          <a:p>
            <a:pPr algn="l">
              <a:lnSpc>
                <a:spcPct val="102000"/>
              </a:lnSpc>
              <a:spcAft>
                <a:spcPts val="0"/>
              </a:spcAft>
            </a:pPr>
            <a:r>
              <a:rPr sz="4800" b="0" i="0">
                <a:solidFill>
                  <a:srgbClr val="FAF8F4"/>
                </a:solidFill>
                <a:latin typeface="Georgia"/>
              </a:rPr>
              <a:t>for Targeted</a:t>
            </a:r>
          </a:p>
          <a:p>
            <a:pPr algn="l">
              <a:lnSpc>
                <a:spcPct val="102000"/>
              </a:lnSpc>
              <a:spcAft>
                <a:spcPts val="0"/>
              </a:spcAft>
            </a:pPr>
            <a:r>
              <a:rPr sz="4800" b="0" i="0">
                <a:solidFill>
                  <a:srgbClr val="FAF8F4"/>
                </a:solidFill>
                <a:latin typeface="Georgia"/>
              </a:rPr>
              <a:t>E-Commerce Marketing</a:t>
            </a:r>
          </a:p>
        </p:txBody>
      </p:sp>
      <p:cxnSp>
        <p:nvCxnSpPr>
          <p:cNvPr id="6" name="Connector 5"/>
          <p:cNvCxnSpPr/>
          <p:nvPr/>
        </p:nvCxnSpPr>
        <p:spPr>
          <a:xfrm>
            <a:off x="777240" y="4224528"/>
            <a:ext cx="2194560" cy="0"/>
          </a:xfrm>
          <a:prstGeom prst="line">
            <a:avLst/>
          </a:prstGeom>
          <a:ln w="28575">
            <a:solidFill>
              <a:srgbClr val="B4530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77240" y="4498848"/>
            <a:ext cx="7498079" cy="822960"/>
          </a:xfrm>
          <a:prstGeom prst="rect">
            <a:avLst/>
          </a:prstGeom>
          <a:noFill/>
        </p:spPr>
        <p:txBody>
          <a:bodyPr wrap="square" anchor="t" lIns="0" rIns="0" tIns="0" bIns="0">
            <a:spAutoFit/>
          </a:bodyPr>
          <a:lstStyle/>
          <a:p>
            <a:pPr algn="l">
              <a:lnSpc>
                <a:spcPct val="140000"/>
              </a:lnSpc>
              <a:spcAft>
                <a:spcPts val="0"/>
              </a:spcAft>
            </a:pPr>
            <a:r>
              <a:rPr sz="1500" b="0" i="0">
                <a:solidFill>
                  <a:srgbClr val="C8C2B6"/>
                </a:solidFill>
                <a:latin typeface="Calibri"/>
              </a:rPr>
              <a:t>Spend the marketing budget on the customers who will actually respond — identified from behaviour, not guesswork.</a:t>
            </a:r>
          </a:p>
        </p:txBody>
      </p:sp>
      <p:sp>
        <p:nvSpPr>
          <p:cNvPr id="8" name="TextBox 7"/>
          <p:cNvSpPr txBox="1"/>
          <p:nvPr/>
        </p:nvSpPr>
        <p:spPr>
          <a:xfrm>
            <a:off x="777240" y="5623560"/>
            <a:ext cx="4937760" cy="822960"/>
          </a:xfrm>
          <a:prstGeom prst="rect">
            <a:avLst/>
          </a:prstGeom>
          <a:noFill/>
        </p:spPr>
        <p:txBody>
          <a:bodyPr wrap="square" anchor="t" lIns="0" rIns="0" tIns="0" bIns="0">
            <a:spAutoFit/>
          </a:bodyPr>
          <a:lstStyle/>
          <a:p>
            <a:pPr algn="l">
              <a:lnSpc>
                <a:spcPct val="170000"/>
              </a:lnSpc>
              <a:spcAft>
                <a:spcPts val="0"/>
              </a:spcAft>
            </a:pPr>
            <a:r>
              <a:rPr sz="1050" b="0" i="0" spc="90">
                <a:solidFill>
                  <a:srgbClr val="8A8478"/>
                </a:solidFill>
                <a:latin typeface="Consolas"/>
              </a:rPr>
              <a:t>RFM Analysis  ·  K-Means Clustering  ·  Churn Prediction</a:t>
            </a:r>
          </a:p>
          <a:p>
            <a:pPr algn="l">
              <a:lnSpc>
                <a:spcPct val="170000"/>
              </a:lnSpc>
              <a:spcAft>
                <a:spcPts val="0"/>
              </a:spcAft>
            </a:pPr>
            <a:r>
              <a:rPr sz="1050" b="0" i="0" spc="90">
                <a:solidFill>
                  <a:srgbClr val="8A8478"/>
                </a:solidFill>
                <a:latin typeface="Consolas"/>
              </a:rPr>
              <a:t>FastAPI  ·  React  ·  Live Analytics Dashboard</a:t>
            </a:r>
          </a:p>
        </p:txBody>
      </p:sp>
      <p:sp>
        <p:nvSpPr>
          <p:cNvPr id="9" name="Rectangle 8"/>
          <p:cNvSpPr/>
          <p:nvPr/>
        </p:nvSpPr>
        <p:spPr>
          <a:xfrm>
            <a:off x="8396935" y="1691640"/>
            <a:ext cx="3017520" cy="3931920"/>
          </a:xfrm>
          <a:prstGeom prst="rect">
            <a:avLst/>
          </a:prstGeom>
          <a:noFill/>
          <a:ln w="9525">
            <a:solidFill>
              <a:srgbClr val="3A383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625535" y="1920240"/>
            <a:ext cx="2560320" cy="228600"/>
          </a:xfrm>
          <a:prstGeom prst="rect">
            <a:avLst/>
          </a:prstGeom>
          <a:noFill/>
        </p:spPr>
        <p:txBody>
          <a:bodyPr wrap="square" anchor="t" lIns="0" rIns="0" tIns="0" bIns="0">
            <a:spAutoFit/>
          </a:bodyPr>
          <a:lstStyle/>
          <a:p>
            <a:pPr algn="l">
              <a:lnSpc>
                <a:spcPct val="125000"/>
              </a:lnSpc>
              <a:spcAft>
                <a:spcPts val="0"/>
              </a:spcAft>
            </a:pPr>
            <a:r>
              <a:rPr sz="900" b="0" i="0" spc="180">
                <a:solidFill>
                  <a:srgbClr val="8A8478"/>
                </a:solidFill>
                <a:latin typeface="Consolas"/>
              </a:rPr>
              <a:t>PRESENTED BY</a:t>
            </a:r>
          </a:p>
        </p:txBody>
      </p:sp>
      <p:sp>
        <p:nvSpPr>
          <p:cNvPr id="11" name="TextBox 10"/>
          <p:cNvSpPr txBox="1"/>
          <p:nvPr/>
        </p:nvSpPr>
        <p:spPr>
          <a:xfrm>
            <a:off x="8625535" y="2331720"/>
            <a:ext cx="2560320" cy="219456"/>
          </a:xfrm>
          <a:prstGeom prst="rect">
            <a:avLst/>
          </a:prstGeom>
          <a:noFill/>
        </p:spPr>
        <p:txBody>
          <a:bodyPr wrap="square" anchor="t" lIns="0" rIns="0" tIns="0" bIns="0">
            <a:spAutoFit/>
          </a:bodyPr>
          <a:lstStyle/>
          <a:p>
            <a:pPr algn="l">
              <a:lnSpc>
                <a:spcPct val="125000"/>
              </a:lnSpc>
              <a:spcAft>
                <a:spcPts val="0"/>
              </a:spcAft>
            </a:pPr>
            <a:r>
              <a:rPr sz="1300" b="0" i="0">
                <a:solidFill>
                  <a:srgbClr val="FAF8F4"/>
                </a:solidFill>
                <a:latin typeface="Calibri"/>
              </a:rPr>
              <a:t>S.M. Tahmidul Islam</a:t>
            </a:r>
          </a:p>
        </p:txBody>
      </p:sp>
      <p:sp>
        <p:nvSpPr>
          <p:cNvPr id="12" name="TextBox 11"/>
          <p:cNvSpPr txBox="1"/>
          <p:nvPr/>
        </p:nvSpPr>
        <p:spPr>
          <a:xfrm>
            <a:off x="8625535" y="2546604"/>
            <a:ext cx="2560320" cy="182880"/>
          </a:xfrm>
          <a:prstGeom prst="rect">
            <a:avLst/>
          </a:prstGeom>
          <a:noFill/>
        </p:spPr>
        <p:txBody>
          <a:bodyPr wrap="square" anchor="t" lIns="0" rIns="0" tIns="0" bIns="0">
            <a:spAutoFit/>
          </a:bodyPr>
          <a:lstStyle/>
          <a:p>
            <a:pPr algn="l">
              <a:lnSpc>
                <a:spcPct val="125000"/>
              </a:lnSpc>
              <a:spcAft>
                <a:spcPts val="0"/>
              </a:spcAft>
            </a:pPr>
            <a:r>
              <a:rPr sz="850" b="0" i="0" spc="110">
                <a:solidFill>
                  <a:srgbClr val="8A8478"/>
                </a:solidFill>
                <a:latin typeface="Consolas"/>
              </a:rPr>
              <a:t>21223203044</a:t>
            </a:r>
          </a:p>
        </p:txBody>
      </p:sp>
      <p:sp>
        <p:nvSpPr>
          <p:cNvPr id="13" name="TextBox 12"/>
          <p:cNvSpPr txBox="1"/>
          <p:nvPr/>
        </p:nvSpPr>
        <p:spPr>
          <a:xfrm>
            <a:off x="8625535" y="2971800"/>
            <a:ext cx="2560320" cy="219456"/>
          </a:xfrm>
          <a:prstGeom prst="rect">
            <a:avLst/>
          </a:prstGeom>
          <a:noFill/>
        </p:spPr>
        <p:txBody>
          <a:bodyPr wrap="square" anchor="t" lIns="0" rIns="0" tIns="0" bIns="0">
            <a:spAutoFit/>
          </a:bodyPr>
          <a:lstStyle/>
          <a:p>
            <a:pPr algn="l">
              <a:lnSpc>
                <a:spcPct val="125000"/>
              </a:lnSpc>
              <a:spcAft>
                <a:spcPts val="0"/>
              </a:spcAft>
            </a:pPr>
            <a:r>
              <a:rPr sz="1300" b="0" i="0">
                <a:solidFill>
                  <a:srgbClr val="FAF8F4"/>
                </a:solidFill>
                <a:latin typeface="Calibri"/>
              </a:rPr>
              <a:t>Hasan Al Mamun</a:t>
            </a:r>
          </a:p>
        </p:txBody>
      </p:sp>
      <p:sp>
        <p:nvSpPr>
          <p:cNvPr id="14" name="TextBox 13"/>
          <p:cNvSpPr txBox="1"/>
          <p:nvPr/>
        </p:nvSpPr>
        <p:spPr>
          <a:xfrm>
            <a:off x="8625535" y="3186684"/>
            <a:ext cx="2560320" cy="182880"/>
          </a:xfrm>
          <a:prstGeom prst="rect">
            <a:avLst/>
          </a:prstGeom>
          <a:noFill/>
        </p:spPr>
        <p:txBody>
          <a:bodyPr wrap="square" anchor="t" lIns="0" rIns="0" tIns="0" bIns="0">
            <a:spAutoFit/>
          </a:bodyPr>
          <a:lstStyle/>
          <a:p>
            <a:pPr algn="l">
              <a:lnSpc>
                <a:spcPct val="125000"/>
              </a:lnSpc>
              <a:spcAft>
                <a:spcPts val="0"/>
              </a:spcAft>
            </a:pPr>
            <a:r>
              <a:rPr sz="850" b="0" i="0" spc="110">
                <a:solidFill>
                  <a:srgbClr val="8A8478"/>
                </a:solidFill>
                <a:latin typeface="Consolas"/>
              </a:rPr>
              <a:t>21223203037</a:t>
            </a:r>
          </a:p>
        </p:txBody>
      </p:sp>
      <p:sp>
        <p:nvSpPr>
          <p:cNvPr id="15" name="TextBox 14"/>
          <p:cNvSpPr txBox="1"/>
          <p:nvPr/>
        </p:nvSpPr>
        <p:spPr>
          <a:xfrm>
            <a:off x="8625535" y="3611880"/>
            <a:ext cx="2560320" cy="219456"/>
          </a:xfrm>
          <a:prstGeom prst="rect">
            <a:avLst/>
          </a:prstGeom>
          <a:noFill/>
        </p:spPr>
        <p:txBody>
          <a:bodyPr wrap="square" anchor="t" lIns="0" rIns="0" tIns="0" bIns="0">
            <a:spAutoFit/>
          </a:bodyPr>
          <a:lstStyle/>
          <a:p>
            <a:pPr algn="l">
              <a:lnSpc>
                <a:spcPct val="125000"/>
              </a:lnSpc>
              <a:spcAft>
                <a:spcPts val="0"/>
              </a:spcAft>
            </a:pPr>
            <a:r>
              <a:rPr sz="1300" b="0" i="0">
                <a:solidFill>
                  <a:srgbClr val="FAF8F4"/>
                </a:solidFill>
                <a:latin typeface="Calibri"/>
              </a:rPr>
              <a:t>Mahbubul Alam Marin</a:t>
            </a:r>
          </a:p>
        </p:txBody>
      </p:sp>
      <p:sp>
        <p:nvSpPr>
          <p:cNvPr id="16" name="TextBox 15"/>
          <p:cNvSpPr txBox="1"/>
          <p:nvPr/>
        </p:nvSpPr>
        <p:spPr>
          <a:xfrm>
            <a:off x="8625535" y="3826764"/>
            <a:ext cx="2560320" cy="182880"/>
          </a:xfrm>
          <a:prstGeom prst="rect">
            <a:avLst/>
          </a:prstGeom>
          <a:noFill/>
        </p:spPr>
        <p:txBody>
          <a:bodyPr wrap="square" anchor="t" lIns="0" rIns="0" tIns="0" bIns="0">
            <a:spAutoFit/>
          </a:bodyPr>
          <a:lstStyle/>
          <a:p>
            <a:pPr algn="l">
              <a:lnSpc>
                <a:spcPct val="125000"/>
              </a:lnSpc>
              <a:spcAft>
                <a:spcPts val="0"/>
              </a:spcAft>
            </a:pPr>
            <a:r>
              <a:rPr sz="850" b="0" i="0" spc="110">
                <a:solidFill>
                  <a:srgbClr val="8A8478"/>
                </a:solidFill>
                <a:latin typeface="Consolas"/>
              </a:rPr>
              <a:t>2122303026</a:t>
            </a:r>
          </a:p>
        </p:txBody>
      </p:sp>
      <p:sp>
        <p:nvSpPr>
          <p:cNvPr id="17" name="TextBox 16"/>
          <p:cNvSpPr txBox="1"/>
          <p:nvPr/>
        </p:nvSpPr>
        <p:spPr>
          <a:xfrm>
            <a:off x="8625535" y="4251960"/>
            <a:ext cx="2560320" cy="219456"/>
          </a:xfrm>
          <a:prstGeom prst="rect">
            <a:avLst/>
          </a:prstGeom>
          <a:noFill/>
        </p:spPr>
        <p:txBody>
          <a:bodyPr wrap="square" anchor="t" lIns="0" rIns="0" tIns="0" bIns="0">
            <a:spAutoFit/>
          </a:bodyPr>
          <a:lstStyle/>
          <a:p>
            <a:pPr algn="l">
              <a:lnSpc>
                <a:spcPct val="125000"/>
              </a:lnSpc>
              <a:spcAft>
                <a:spcPts val="0"/>
              </a:spcAft>
            </a:pPr>
            <a:r>
              <a:rPr sz="1300" b="0" i="0">
                <a:solidFill>
                  <a:srgbClr val="FAF8F4"/>
                </a:solidFill>
                <a:latin typeface="Calibri"/>
              </a:rPr>
              <a:t>Mahbubur Raman Mahfuj</a:t>
            </a:r>
          </a:p>
        </p:txBody>
      </p:sp>
      <p:sp>
        <p:nvSpPr>
          <p:cNvPr id="18" name="TextBox 17"/>
          <p:cNvSpPr txBox="1"/>
          <p:nvPr/>
        </p:nvSpPr>
        <p:spPr>
          <a:xfrm>
            <a:off x="8625535" y="4466844"/>
            <a:ext cx="2560320" cy="182880"/>
          </a:xfrm>
          <a:prstGeom prst="rect">
            <a:avLst/>
          </a:prstGeom>
          <a:noFill/>
        </p:spPr>
        <p:txBody>
          <a:bodyPr wrap="square" anchor="t" lIns="0" rIns="0" tIns="0" bIns="0">
            <a:spAutoFit/>
          </a:bodyPr>
          <a:lstStyle/>
          <a:p>
            <a:pPr algn="l">
              <a:lnSpc>
                <a:spcPct val="125000"/>
              </a:lnSpc>
              <a:spcAft>
                <a:spcPts val="0"/>
              </a:spcAft>
            </a:pPr>
            <a:r>
              <a:rPr sz="850" b="0" i="0" spc="110">
                <a:solidFill>
                  <a:srgbClr val="8A8478"/>
                </a:solidFill>
                <a:latin typeface="Consolas"/>
              </a:rPr>
              <a:t>21223203036</a:t>
            </a:r>
          </a:p>
        </p:txBody>
      </p:sp>
      <p:sp>
        <p:nvSpPr>
          <p:cNvPr id="19" name="TextBox 18"/>
          <p:cNvSpPr txBox="1"/>
          <p:nvPr/>
        </p:nvSpPr>
        <p:spPr>
          <a:xfrm>
            <a:off x="8625535" y="4892040"/>
            <a:ext cx="2560320" cy="219456"/>
          </a:xfrm>
          <a:prstGeom prst="rect">
            <a:avLst/>
          </a:prstGeom>
          <a:noFill/>
        </p:spPr>
        <p:txBody>
          <a:bodyPr wrap="square" anchor="t" lIns="0" rIns="0" tIns="0" bIns="0">
            <a:spAutoFit/>
          </a:bodyPr>
          <a:lstStyle/>
          <a:p>
            <a:pPr algn="l">
              <a:lnSpc>
                <a:spcPct val="125000"/>
              </a:lnSpc>
              <a:spcAft>
                <a:spcPts val="0"/>
              </a:spcAft>
            </a:pPr>
            <a:r>
              <a:rPr sz="1300" b="0" i="0">
                <a:solidFill>
                  <a:srgbClr val="FAF8F4"/>
                </a:solidFill>
                <a:latin typeface="Calibri"/>
              </a:rPr>
              <a:t>Aminul Islam</a:t>
            </a:r>
          </a:p>
        </p:txBody>
      </p:sp>
      <p:sp>
        <p:nvSpPr>
          <p:cNvPr id="20" name="TextBox 19"/>
          <p:cNvSpPr txBox="1"/>
          <p:nvPr/>
        </p:nvSpPr>
        <p:spPr>
          <a:xfrm>
            <a:off x="8625535" y="5106924"/>
            <a:ext cx="2560320" cy="182880"/>
          </a:xfrm>
          <a:prstGeom prst="rect">
            <a:avLst/>
          </a:prstGeom>
          <a:noFill/>
        </p:spPr>
        <p:txBody>
          <a:bodyPr wrap="square" anchor="t" lIns="0" rIns="0" tIns="0" bIns="0">
            <a:spAutoFit/>
          </a:bodyPr>
          <a:lstStyle/>
          <a:p>
            <a:pPr algn="l">
              <a:lnSpc>
                <a:spcPct val="125000"/>
              </a:lnSpc>
              <a:spcAft>
                <a:spcPts val="0"/>
              </a:spcAft>
            </a:pPr>
            <a:r>
              <a:rPr sz="850" b="0" i="0" spc="110">
                <a:solidFill>
                  <a:srgbClr val="8A8478"/>
                </a:solidFill>
                <a:latin typeface="Consolas"/>
              </a:rPr>
              <a:t>21223203025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77240" y="566928"/>
            <a:ext cx="10637215" cy="274320"/>
          </a:xfrm>
          <a:prstGeom prst="rect">
            <a:avLst/>
          </a:prstGeom>
          <a:noFill/>
        </p:spPr>
        <p:txBody>
          <a:bodyPr wrap="none" lIns="0" rIns="0" tIns="0" bIns="0">
            <a:spAutoFit/>
          </a:bodyPr>
          <a:lstStyle/>
          <a:p>
            <a:r>
              <a:rPr sz="1050" b="1" spc="200">
                <a:solidFill>
                  <a:srgbClr val="B45309"/>
                </a:solidFill>
                <a:latin typeface="Consolas"/>
              </a:rPr>
              <a:t>00  </a:t>
            </a:r>
            <a:r>
              <a:rPr sz="1050" spc="200">
                <a:solidFill>
                  <a:srgbClr val="6B6B6B"/>
                </a:solidFill>
                <a:latin typeface="Consolas"/>
              </a:rPr>
              <a:t>CONTENTS</a:t>
            </a:r>
            <a:r>
              <a:rPr sz="1050" spc="200">
                <a:solidFill>
                  <a:srgbClr val="6B6B6B"/>
                </a:solidFill>
                <a:latin typeface="Consolas"/>
              </a:rPr>
              <a:t>   ·   SIX PARTS</a:t>
            </a:r>
          </a:p>
        </p:txBody>
      </p:sp>
      <p:sp>
        <p:nvSpPr>
          <p:cNvPr id="4" name="TextBox 3"/>
          <p:cNvSpPr txBox="1"/>
          <p:nvPr/>
        </p:nvSpPr>
        <p:spPr>
          <a:xfrm>
            <a:off x="777240" y="932688"/>
            <a:ext cx="10637215" cy="685800"/>
          </a:xfrm>
          <a:prstGeom prst="rect">
            <a:avLst/>
          </a:prstGeom>
          <a:noFill/>
        </p:spPr>
        <p:txBody>
          <a:bodyPr wrap="square" anchor="t" lIns="0" rIns="0" tIns="0" bIns="0">
            <a:spAutoFit/>
          </a:bodyPr>
          <a:lstStyle/>
          <a:p>
            <a:pPr algn="l">
              <a:lnSpc>
                <a:spcPct val="100000"/>
              </a:lnSpc>
              <a:spcAft>
                <a:spcPts val="0"/>
              </a:spcAft>
            </a:pPr>
            <a:r>
              <a:rPr sz="3200" b="0" i="0">
                <a:solidFill>
                  <a:srgbClr val="1A1A1A"/>
                </a:solidFill>
                <a:latin typeface="Georgia"/>
              </a:rPr>
              <a:t>What we will cover</a:t>
            </a:r>
          </a:p>
        </p:txBody>
      </p:sp>
      <p:cxnSp>
        <p:nvCxnSpPr>
          <p:cNvPr id="5" name="Connector 4"/>
          <p:cNvCxnSpPr/>
          <p:nvPr/>
        </p:nvCxnSpPr>
        <p:spPr>
          <a:xfrm>
            <a:off x="777240" y="1664208"/>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77240" y="2057400"/>
            <a:ext cx="640080" cy="365760"/>
          </a:xfrm>
          <a:prstGeom prst="rect">
            <a:avLst/>
          </a:prstGeom>
          <a:noFill/>
        </p:spPr>
        <p:txBody>
          <a:bodyPr wrap="square" anchor="t" lIns="0" rIns="0" tIns="0" bIns="0">
            <a:spAutoFit/>
          </a:bodyPr>
          <a:lstStyle/>
          <a:p>
            <a:pPr algn="l">
              <a:lnSpc>
                <a:spcPct val="125000"/>
              </a:lnSpc>
              <a:spcAft>
                <a:spcPts val="0"/>
              </a:spcAft>
            </a:pPr>
            <a:r>
              <a:rPr sz="1800" b="1" i="0">
                <a:solidFill>
                  <a:srgbClr val="B45309"/>
                </a:solidFill>
                <a:latin typeface="Consolas"/>
              </a:rPr>
              <a:t>01</a:t>
            </a:r>
          </a:p>
        </p:txBody>
      </p:sp>
      <p:sp>
        <p:nvSpPr>
          <p:cNvPr id="7" name="TextBox 6"/>
          <p:cNvSpPr txBox="1"/>
          <p:nvPr/>
        </p:nvSpPr>
        <p:spPr>
          <a:xfrm>
            <a:off x="1645920" y="2029968"/>
            <a:ext cx="3840480" cy="365760"/>
          </a:xfrm>
          <a:prstGeom prst="rect">
            <a:avLst/>
          </a:prstGeom>
          <a:noFill/>
        </p:spPr>
        <p:txBody>
          <a:bodyPr wrap="square" anchor="t" lIns="0" rIns="0" tIns="0" bIns="0">
            <a:spAutoFit/>
          </a:bodyPr>
          <a:lstStyle/>
          <a:p>
            <a:pPr algn="l">
              <a:lnSpc>
                <a:spcPct val="125000"/>
              </a:lnSpc>
              <a:spcAft>
                <a:spcPts val="0"/>
              </a:spcAft>
            </a:pPr>
            <a:r>
              <a:rPr sz="1900" b="0" i="0">
                <a:solidFill>
                  <a:srgbClr val="1A1A1A"/>
                </a:solidFill>
                <a:latin typeface="Georgia"/>
              </a:rPr>
              <a:t>The Problem</a:t>
            </a:r>
          </a:p>
        </p:txBody>
      </p:sp>
      <p:sp>
        <p:nvSpPr>
          <p:cNvPr id="8" name="TextBox 7"/>
          <p:cNvSpPr txBox="1"/>
          <p:nvPr/>
        </p:nvSpPr>
        <p:spPr>
          <a:xfrm>
            <a:off x="5623560" y="2103120"/>
            <a:ext cx="5486400" cy="365760"/>
          </a:xfrm>
          <a:prstGeom prst="rect">
            <a:avLst/>
          </a:prstGeom>
          <a:noFill/>
        </p:spPr>
        <p:txBody>
          <a:bodyPr wrap="square" anchor="t" lIns="0" rIns="0" tIns="0" bIns="0">
            <a:spAutoFit/>
          </a:bodyPr>
          <a:lstStyle/>
          <a:p>
            <a:pPr algn="l">
              <a:lnSpc>
                <a:spcPct val="125000"/>
              </a:lnSpc>
              <a:spcAft>
                <a:spcPts val="0"/>
              </a:spcAft>
            </a:pPr>
            <a:r>
              <a:rPr sz="1350" b="0" i="0">
                <a:solidFill>
                  <a:srgbClr val="6B6B6B"/>
                </a:solidFill>
                <a:latin typeface="Calibri"/>
              </a:rPr>
              <a:t>Why blanket marketing wastes money</a:t>
            </a:r>
          </a:p>
        </p:txBody>
      </p:sp>
      <p:cxnSp>
        <p:nvCxnSpPr>
          <p:cNvPr id="9" name="Connector 8"/>
          <p:cNvCxnSpPr/>
          <p:nvPr/>
        </p:nvCxnSpPr>
        <p:spPr>
          <a:xfrm>
            <a:off x="777240" y="2587752"/>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77240" y="2715768"/>
            <a:ext cx="640080" cy="365760"/>
          </a:xfrm>
          <a:prstGeom prst="rect">
            <a:avLst/>
          </a:prstGeom>
          <a:noFill/>
        </p:spPr>
        <p:txBody>
          <a:bodyPr wrap="square" anchor="t" lIns="0" rIns="0" tIns="0" bIns="0">
            <a:spAutoFit/>
          </a:bodyPr>
          <a:lstStyle/>
          <a:p>
            <a:pPr algn="l">
              <a:lnSpc>
                <a:spcPct val="125000"/>
              </a:lnSpc>
              <a:spcAft>
                <a:spcPts val="0"/>
              </a:spcAft>
            </a:pPr>
            <a:r>
              <a:rPr sz="1800" b="1" i="0">
                <a:solidFill>
                  <a:srgbClr val="B45309"/>
                </a:solidFill>
                <a:latin typeface="Consolas"/>
              </a:rPr>
              <a:t>02</a:t>
            </a:r>
          </a:p>
        </p:txBody>
      </p:sp>
      <p:sp>
        <p:nvSpPr>
          <p:cNvPr id="11" name="TextBox 10"/>
          <p:cNvSpPr txBox="1"/>
          <p:nvPr/>
        </p:nvSpPr>
        <p:spPr>
          <a:xfrm>
            <a:off x="1645920" y="2688336"/>
            <a:ext cx="3840480" cy="365760"/>
          </a:xfrm>
          <a:prstGeom prst="rect">
            <a:avLst/>
          </a:prstGeom>
          <a:noFill/>
        </p:spPr>
        <p:txBody>
          <a:bodyPr wrap="square" anchor="t" lIns="0" rIns="0" tIns="0" bIns="0">
            <a:spAutoFit/>
          </a:bodyPr>
          <a:lstStyle/>
          <a:p>
            <a:pPr algn="l">
              <a:lnSpc>
                <a:spcPct val="125000"/>
              </a:lnSpc>
              <a:spcAft>
                <a:spcPts val="0"/>
              </a:spcAft>
            </a:pPr>
            <a:r>
              <a:rPr sz="1900" b="0" i="0">
                <a:solidFill>
                  <a:srgbClr val="1A1A1A"/>
                </a:solidFill>
                <a:latin typeface="Georgia"/>
              </a:rPr>
              <a:t>Data &amp; Method</a:t>
            </a:r>
          </a:p>
        </p:txBody>
      </p:sp>
      <p:sp>
        <p:nvSpPr>
          <p:cNvPr id="12" name="TextBox 11"/>
          <p:cNvSpPr txBox="1"/>
          <p:nvPr/>
        </p:nvSpPr>
        <p:spPr>
          <a:xfrm>
            <a:off x="5623560" y="2761488"/>
            <a:ext cx="5486400" cy="365760"/>
          </a:xfrm>
          <a:prstGeom prst="rect">
            <a:avLst/>
          </a:prstGeom>
          <a:noFill/>
        </p:spPr>
        <p:txBody>
          <a:bodyPr wrap="square" anchor="t" lIns="0" rIns="0" tIns="0" bIns="0">
            <a:spAutoFit/>
          </a:bodyPr>
          <a:lstStyle/>
          <a:p>
            <a:pPr algn="l">
              <a:lnSpc>
                <a:spcPct val="125000"/>
              </a:lnSpc>
              <a:spcAft>
                <a:spcPts val="0"/>
              </a:spcAft>
            </a:pPr>
            <a:r>
              <a:rPr sz="1350" b="0" i="0">
                <a:solidFill>
                  <a:srgbClr val="6B6B6B"/>
                </a:solidFill>
                <a:latin typeface="Calibri"/>
              </a:rPr>
              <a:t>RFM features, scaling, choosing K</a:t>
            </a:r>
          </a:p>
        </p:txBody>
      </p:sp>
      <p:cxnSp>
        <p:nvCxnSpPr>
          <p:cNvPr id="13" name="Connector 12"/>
          <p:cNvCxnSpPr/>
          <p:nvPr/>
        </p:nvCxnSpPr>
        <p:spPr>
          <a:xfrm>
            <a:off x="777240" y="3246120"/>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77240" y="3374136"/>
            <a:ext cx="640080" cy="365760"/>
          </a:xfrm>
          <a:prstGeom prst="rect">
            <a:avLst/>
          </a:prstGeom>
          <a:noFill/>
        </p:spPr>
        <p:txBody>
          <a:bodyPr wrap="square" anchor="t" lIns="0" rIns="0" tIns="0" bIns="0">
            <a:spAutoFit/>
          </a:bodyPr>
          <a:lstStyle/>
          <a:p>
            <a:pPr algn="l">
              <a:lnSpc>
                <a:spcPct val="125000"/>
              </a:lnSpc>
              <a:spcAft>
                <a:spcPts val="0"/>
              </a:spcAft>
            </a:pPr>
            <a:r>
              <a:rPr sz="1800" b="1" i="0">
                <a:solidFill>
                  <a:srgbClr val="B45309"/>
                </a:solidFill>
                <a:latin typeface="Consolas"/>
              </a:rPr>
              <a:t>03</a:t>
            </a:r>
          </a:p>
        </p:txBody>
      </p:sp>
      <p:sp>
        <p:nvSpPr>
          <p:cNvPr id="15" name="TextBox 14"/>
          <p:cNvSpPr txBox="1"/>
          <p:nvPr/>
        </p:nvSpPr>
        <p:spPr>
          <a:xfrm>
            <a:off x="1645920" y="3346704"/>
            <a:ext cx="3840480" cy="365760"/>
          </a:xfrm>
          <a:prstGeom prst="rect">
            <a:avLst/>
          </a:prstGeom>
          <a:noFill/>
        </p:spPr>
        <p:txBody>
          <a:bodyPr wrap="square" anchor="t" lIns="0" rIns="0" tIns="0" bIns="0">
            <a:spAutoFit/>
          </a:bodyPr>
          <a:lstStyle/>
          <a:p>
            <a:pPr algn="l">
              <a:lnSpc>
                <a:spcPct val="125000"/>
              </a:lnSpc>
              <a:spcAft>
                <a:spcPts val="0"/>
              </a:spcAft>
            </a:pPr>
            <a:r>
              <a:rPr sz="1900" b="0" i="0">
                <a:solidFill>
                  <a:srgbClr val="1A1A1A"/>
                </a:solidFill>
                <a:latin typeface="Georgia"/>
              </a:rPr>
              <a:t>Segmentation Results</a:t>
            </a:r>
          </a:p>
        </p:txBody>
      </p:sp>
      <p:sp>
        <p:nvSpPr>
          <p:cNvPr id="16" name="TextBox 15"/>
          <p:cNvSpPr txBox="1"/>
          <p:nvPr/>
        </p:nvSpPr>
        <p:spPr>
          <a:xfrm>
            <a:off x="5623560" y="3419856"/>
            <a:ext cx="5486400" cy="365760"/>
          </a:xfrm>
          <a:prstGeom prst="rect">
            <a:avLst/>
          </a:prstGeom>
          <a:noFill/>
        </p:spPr>
        <p:txBody>
          <a:bodyPr wrap="square" anchor="t" lIns="0" rIns="0" tIns="0" bIns="0">
            <a:spAutoFit/>
          </a:bodyPr>
          <a:lstStyle/>
          <a:p>
            <a:pPr algn="l">
              <a:lnSpc>
                <a:spcPct val="125000"/>
              </a:lnSpc>
              <a:spcAft>
                <a:spcPts val="0"/>
              </a:spcAft>
            </a:pPr>
            <a:r>
              <a:rPr sz="1350" b="0" i="0">
                <a:solidFill>
                  <a:srgbClr val="6B6B6B"/>
                </a:solidFill>
                <a:latin typeface="Calibri"/>
              </a:rPr>
              <a:t>Four clusters and what they mean</a:t>
            </a:r>
          </a:p>
        </p:txBody>
      </p:sp>
      <p:cxnSp>
        <p:nvCxnSpPr>
          <p:cNvPr id="17" name="Connector 16"/>
          <p:cNvCxnSpPr/>
          <p:nvPr/>
        </p:nvCxnSpPr>
        <p:spPr>
          <a:xfrm>
            <a:off x="777240" y="3904488"/>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77240" y="4032504"/>
            <a:ext cx="640080" cy="365760"/>
          </a:xfrm>
          <a:prstGeom prst="rect">
            <a:avLst/>
          </a:prstGeom>
          <a:noFill/>
        </p:spPr>
        <p:txBody>
          <a:bodyPr wrap="square" anchor="t" lIns="0" rIns="0" tIns="0" bIns="0">
            <a:spAutoFit/>
          </a:bodyPr>
          <a:lstStyle/>
          <a:p>
            <a:pPr algn="l">
              <a:lnSpc>
                <a:spcPct val="125000"/>
              </a:lnSpc>
              <a:spcAft>
                <a:spcPts val="0"/>
              </a:spcAft>
            </a:pPr>
            <a:r>
              <a:rPr sz="1800" b="1" i="0">
                <a:solidFill>
                  <a:srgbClr val="B45309"/>
                </a:solidFill>
                <a:latin typeface="Consolas"/>
              </a:rPr>
              <a:t>04</a:t>
            </a:r>
          </a:p>
        </p:txBody>
      </p:sp>
      <p:sp>
        <p:nvSpPr>
          <p:cNvPr id="19" name="TextBox 18"/>
          <p:cNvSpPr txBox="1"/>
          <p:nvPr/>
        </p:nvSpPr>
        <p:spPr>
          <a:xfrm>
            <a:off x="1645920" y="4005072"/>
            <a:ext cx="3840480" cy="365760"/>
          </a:xfrm>
          <a:prstGeom prst="rect">
            <a:avLst/>
          </a:prstGeom>
          <a:noFill/>
        </p:spPr>
        <p:txBody>
          <a:bodyPr wrap="square" anchor="t" lIns="0" rIns="0" tIns="0" bIns="0">
            <a:spAutoFit/>
          </a:bodyPr>
          <a:lstStyle/>
          <a:p>
            <a:pPr algn="l">
              <a:lnSpc>
                <a:spcPct val="125000"/>
              </a:lnSpc>
              <a:spcAft>
                <a:spcPts val="0"/>
              </a:spcAft>
            </a:pPr>
            <a:r>
              <a:rPr sz="1900" b="0" i="0">
                <a:solidFill>
                  <a:srgbClr val="1A1A1A"/>
                </a:solidFill>
                <a:latin typeface="Georgia"/>
              </a:rPr>
              <a:t>Churn Prediction</a:t>
            </a:r>
          </a:p>
        </p:txBody>
      </p:sp>
      <p:sp>
        <p:nvSpPr>
          <p:cNvPr id="20" name="TextBox 19"/>
          <p:cNvSpPr txBox="1"/>
          <p:nvPr/>
        </p:nvSpPr>
        <p:spPr>
          <a:xfrm>
            <a:off x="5623560" y="4078224"/>
            <a:ext cx="5486400" cy="365760"/>
          </a:xfrm>
          <a:prstGeom prst="rect">
            <a:avLst/>
          </a:prstGeom>
          <a:noFill/>
        </p:spPr>
        <p:txBody>
          <a:bodyPr wrap="square" anchor="t" lIns="0" rIns="0" tIns="0" bIns="0">
            <a:spAutoFit/>
          </a:bodyPr>
          <a:lstStyle/>
          <a:p>
            <a:pPr algn="l">
              <a:lnSpc>
                <a:spcPct val="125000"/>
              </a:lnSpc>
              <a:spcAft>
                <a:spcPts val="0"/>
              </a:spcAft>
            </a:pPr>
            <a:r>
              <a:rPr sz="1350" b="0" i="0">
                <a:solidFill>
                  <a:srgbClr val="6B6B6B"/>
                </a:solidFill>
                <a:latin typeface="Calibri"/>
              </a:rPr>
              <a:t>Who is about to leave — and the caveat</a:t>
            </a:r>
          </a:p>
        </p:txBody>
      </p:sp>
      <p:cxnSp>
        <p:nvCxnSpPr>
          <p:cNvPr id="21" name="Connector 20"/>
          <p:cNvCxnSpPr/>
          <p:nvPr/>
        </p:nvCxnSpPr>
        <p:spPr>
          <a:xfrm>
            <a:off x="777240" y="4562856"/>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777240" y="4690872"/>
            <a:ext cx="640080" cy="365760"/>
          </a:xfrm>
          <a:prstGeom prst="rect">
            <a:avLst/>
          </a:prstGeom>
          <a:noFill/>
        </p:spPr>
        <p:txBody>
          <a:bodyPr wrap="square" anchor="t" lIns="0" rIns="0" tIns="0" bIns="0">
            <a:spAutoFit/>
          </a:bodyPr>
          <a:lstStyle/>
          <a:p>
            <a:pPr algn="l">
              <a:lnSpc>
                <a:spcPct val="125000"/>
              </a:lnSpc>
              <a:spcAft>
                <a:spcPts val="0"/>
              </a:spcAft>
            </a:pPr>
            <a:r>
              <a:rPr sz="1800" b="1" i="0">
                <a:solidFill>
                  <a:srgbClr val="B45309"/>
                </a:solidFill>
                <a:latin typeface="Consolas"/>
              </a:rPr>
              <a:t>05</a:t>
            </a:r>
          </a:p>
        </p:txBody>
      </p:sp>
      <p:sp>
        <p:nvSpPr>
          <p:cNvPr id="23" name="TextBox 22"/>
          <p:cNvSpPr txBox="1"/>
          <p:nvPr/>
        </p:nvSpPr>
        <p:spPr>
          <a:xfrm>
            <a:off x="1645920" y="4663440"/>
            <a:ext cx="3840480" cy="365760"/>
          </a:xfrm>
          <a:prstGeom prst="rect">
            <a:avLst/>
          </a:prstGeom>
          <a:noFill/>
        </p:spPr>
        <p:txBody>
          <a:bodyPr wrap="square" anchor="t" lIns="0" rIns="0" tIns="0" bIns="0">
            <a:spAutoFit/>
          </a:bodyPr>
          <a:lstStyle/>
          <a:p>
            <a:pPr algn="l">
              <a:lnSpc>
                <a:spcPct val="125000"/>
              </a:lnSpc>
              <a:spcAft>
                <a:spcPts val="0"/>
              </a:spcAft>
            </a:pPr>
            <a:r>
              <a:rPr sz="1900" b="0" i="0">
                <a:solidFill>
                  <a:srgbClr val="1A1A1A"/>
                </a:solidFill>
                <a:latin typeface="Georgia"/>
              </a:rPr>
              <a:t>The System</a:t>
            </a:r>
          </a:p>
        </p:txBody>
      </p:sp>
      <p:sp>
        <p:nvSpPr>
          <p:cNvPr id="24" name="TextBox 23"/>
          <p:cNvSpPr txBox="1"/>
          <p:nvPr/>
        </p:nvSpPr>
        <p:spPr>
          <a:xfrm>
            <a:off x="5623560" y="4736592"/>
            <a:ext cx="5486400" cy="365760"/>
          </a:xfrm>
          <a:prstGeom prst="rect">
            <a:avLst/>
          </a:prstGeom>
          <a:noFill/>
        </p:spPr>
        <p:txBody>
          <a:bodyPr wrap="square" anchor="t" lIns="0" rIns="0" tIns="0" bIns="0">
            <a:spAutoFit/>
          </a:bodyPr>
          <a:lstStyle/>
          <a:p>
            <a:pPr algn="l">
              <a:lnSpc>
                <a:spcPct val="125000"/>
              </a:lnSpc>
              <a:spcAft>
                <a:spcPts val="0"/>
              </a:spcAft>
            </a:pPr>
            <a:r>
              <a:rPr sz="1350" b="0" i="0">
                <a:solidFill>
                  <a:srgbClr val="6B6B6B"/>
                </a:solidFill>
                <a:latin typeface="Calibri"/>
              </a:rPr>
              <a:t>Notebook → API → live dashboard</a:t>
            </a:r>
          </a:p>
        </p:txBody>
      </p:sp>
      <p:cxnSp>
        <p:nvCxnSpPr>
          <p:cNvPr id="25" name="Connector 24"/>
          <p:cNvCxnSpPr/>
          <p:nvPr/>
        </p:nvCxnSpPr>
        <p:spPr>
          <a:xfrm>
            <a:off x="777240" y="5221224"/>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777240" y="5349240"/>
            <a:ext cx="640080" cy="365760"/>
          </a:xfrm>
          <a:prstGeom prst="rect">
            <a:avLst/>
          </a:prstGeom>
          <a:noFill/>
        </p:spPr>
        <p:txBody>
          <a:bodyPr wrap="square" anchor="t" lIns="0" rIns="0" tIns="0" bIns="0">
            <a:spAutoFit/>
          </a:bodyPr>
          <a:lstStyle/>
          <a:p>
            <a:pPr algn="l">
              <a:lnSpc>
                <a:spcPct val="125000"/>
              </a:lnSpc>
              <a:spcAft>
                <a:spcPts val="0"/>
              </a:spcAft>
            </a:pPr>
            <a:r>
              <a:rPr sz="1800" b="1" i="0">
                <a:solidFill>
                  <a:srgbClr val="B45309"/>
                </a:solidFill>
                <a:latin typeface="Consolas"/>
              </a:rPr>
              <a:t>06</a:t>
            </a:r>
          </a:p>
        </p:txBody>
      </p:sp>
      <p:sp>
        <p:nvSpPr>
          <p:cNvPr id="27" name="TextBox 26"/>
          <p:cNvSpPr txBox="1"/>
          <p:nvPr/>
        </p:nvSpPr>
        <p:spPr>
          <a:xfrm>
            <a:off x="1645920" y="5321808"/>
            <a:ext cx="3840480" cy="365760"/>
          </a:xfrm>
          <a:prstGeom prst="rect">
            <a:avLst/>
          </a:prstGeom>
          <a:noFill/>
        </p:spPr>
        <p:txBody>
          <a:bodyPr wrap="square" anchor="t" lIns="0" rIns="0" tIns="0" bIns="0">
            <a:spAutoFit/>
          </a:bodyPr>
          <a:lstStyle/>
          <a:p>
            <a:pPr algn="l">
              <a:lnSpc>
                <a:spcPct val="125000"/>
              </a:lnSpc>
              <a:spcAft>
                <a:spcPts val="0"/>
              </a:spcAft>
            </a:pPr>
            <a:r>
              <a:rPr sz="1900" b="0" i="0">
                <a:solidFill>
                  <a:srgbClr val="1A1A1A"/>
                </a:solidFill>
                <a:latin typeface="Georgia"/>
              </a:rPr>
              <a:t>Evaluation &amp; Limits</a:t>
            </a:r>
          </a:p>
        </p:txBody>
      </p:sp>
      <p:sp>
        <p:nvSpPr>
          <p:cNvPr id="28" name="TextBox 27"/>
          <p:cNvSpPr txBox="1"/>
          <p:nvPr/>
        </p:nvSpPr>
        <p:spPr>
          <a:xfrm>
            <a:off x="5623560" y="5394960"/>
            <a:ext cx="5486400" cy="365760"/>
          </a:xfrm>
          <a:prstGeom prst="rect">
            <a:avLst/>
          </a:prstGeom>
          <a:noFill/>
        </p:spPr>
        <p:txBody>
          <a:bodyPr wrap="square" anchor="t" lIns="0" rIns="0" tIns="0" bIns="0">
            <a:spAutoFit/>
          </a:bodyPr>
          <a:lstStyle/>
          <a:p>
            <a:pPr algn="l">
              <a:lnSpc>
                <a:spcPct val="125000"/>
              </a:lnSpc>
              <a:spcAft>
                <a:spcPts val="0"/>
              </a:spcAft>
            </a:pPr>
            <a:r>
              <a:rPr sz="1350" b="0" i="0">
                <a:solidFill>
                  <a:srgbClr val="6B6B6B"/>
                </a:solidFill>
                <a:latin typeface="Calibri"/>
              </a:rPr>
              <a:t>Honest assessment and future work</a:t>
            </a:r>
          </a:p>
        </p:txBody>
      </p:sp>
      <p:cxnSp>
        <p:nvCxnSpPr>
          <p:cNvPr id="29" name="Connector 28"/>
          <p:cNvCxnSpPr/>
          <p:nvPr/>
        </p:nvCxnSpPr>
        <p:spPr>
          <a:xfrm>
            <a:off x="777240" y="5879592"/>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777240" y="6291072"/>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777240" y="6400800"/>
            <a:ext cx="6400800" cy="228600"/>
          </a:xfrm>
          <a:prstGeom prst="rect">
            <a:avLst/>
          </a:prstGeom>
          <a:noFill/>
        </p:spPr>
        <p:txBody>
          <a:bodyPr wrap="square" anchor="t" lIns="0" rIns="0" tIns="0" bIns="0">
            <a:spAutoFit/>
          </a:bodyPr>
          <a:lstStyle/>
          <a:p>
            <a:pPr algn="l">
              <a:lnSpc>
                <a:spcPct val="125000"/>
              </a:lnSpc>
              <a:spcAft>
                <a:spcPts val="0"/>
              </a:spcAft>
            </a:pPr>
            <a:r>
              <a:rPr sz="850" b="0" i="0" spc="120">
                <a:solidFill>
                  <a:srgbClr val="6B6B6B"/>
                </a:solidFill>
                <a:latin typeface="Consolas"/>
              </a:rPr>
              <a:t>CUSTOMER SEGMENTATION FOR TARGETED E-COMMERCE MARKETING</a:t>
            </a:r>
          </a:p>
        </p:txBody>
      </p:sp>
      <p:sp>
        <p:nvSpPr>
          <p:cNvPr id="32" name="TextBox 31"/>
          <p:cNvSpPr txBox="1"/>
          <p:nvPr/>
        </p:nvSpPr>
        <p:spPr>
          <a:xfrm>
            <a:off x="9585655" y="6400800"/>
            <a:ext cx="1828800" cy="228600"/>
          </a:xfrm>
          <a:prstGeom prst="rect">
            <a:avLst/>
          </a:prstGeom>
          <a:noFill/>
        </p:spPr>
        <p:txBody>
          <a:bodyPr wrap="square" anchor="t" lIns="0" rIns="0" tIns="0" bIns="0">
            <a:spAutoFit/>
          </a:bodyPr>
          <a:lstStyle/>
          <a:p>
            <a:pPr algn="r">
              <a:lnSpc>
                <a:spcPct val="125000"/>
              </a:lnSpc>
              <a:spcAft>
                <a:spcPts val="0"/>
              </a:spcAft>
            </a:pPr>
            <a:r>
              <a:rPr sz="850" b="0" i="0" spc="120">
                <a:solidFill>
                  <a:srgbClr val="6B6B6B"/>
                </a:solidFill>
                <a:latin typeface="Consolas"/>
              </a:rPr>
              <a:t>02 / 27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77240" y="566928"/>
            <a:ext cx="10637215" cy="274320"/>
          </a:xfrm>
          <a:prstGeom prst="rect">
            <a:avLst/>
          </a:prstGeom>
          <a:noFill/>
        </p:spPr>
        <p:txBody>
          <a:bodyPr wrap="none" lIns="0" rIns="0" tIns="0" bIns="0">
            <a:spAutoFit/>
          </a:bodyPr>
          <a:lstStyle/>
          <a:p>
            <a:r>
              <a:rPr sz="1050" b="1" spc="200">
                <a:solidFill>
                  <a:srgbClr val="B45309"/>
                </a:solidFill>
                <a:latin typeface="Consolas"/>
              </a:rPr>
              <a:t>01  </a:t>
            </a:r>
            <a:r>
              <a:rPr sz="1050" spc="200">
                <a:solidFill>
                  <a:srgbClr val="6B6B6B"/>
                </a:solidFill>
                <a:latin typeface="Consolas"/>
              </a:rPr>
              <a:t>THE PROBLEM</a:t>
            </a:r>
            <a:r>
              <a:rPr sz="1050" spc="200">
                <a:solidFill>
                  <a:srgbClr val="6B6B6B"/>
                </a:solidFill>
                <a:latin typeface="Consolas"/>
              </a:rPr>
              <a:t>   ·   WHY BLANKET MARKETING FAILS</a:t>
            </a:r>
          </a:p>
        </p:txBody>
      </p:sp>
      <p:sp>
        <p:nvSpPr>
          <p:cNvPr id="4" name="TextBox 3"/>
          <p:cNvSpPr txBox="1"/>
          <p:nvPr/>
        </p:nvSpPr>
        <p:spPr>
          <a:xfrm>
            <a:off x="777240" y="932688"/>
            <a:ext cx="10637215" cy="685800"/>
          </a:xfrm>
          <a:prstGeom prst="rect">
            <a:avLst/>
          </a:prstGeom>
          <a:noFill/>
        </p:spPr>
        <p:txBody>
          <a:bodyPr wrap="square" anchor="t" lIns="0" rIns="0" tIns="0" bIns="0">
            <a:spAutoFit/>
          </a:bodyPr>
          <a:lstStyle/>
          <a:p>
            <a:pPr algn="l">
              <a:lnSpc>
                <a:spcPct val="100000"/>
              </a:lnSpc>
              <a:spcAft>
                <a:spcPts val="0"/>
              </a:spcAft>
            </a:pPr>
            <a:r>
              <a:rPr sz="3200" b="0" i="0">
                <a:solidFill>
                  <a:srgbClr val="1A1A1A"/>
                </a:solidFill>
                <a:latin typeface="Georgia"/>
              </a:rPr>
              <a:t>Everyone gets the same email</a:t>
            </a:r>
          </a:p>
        </p:txBody>
      </p:sp>
      <p:cxnSp>
        <p:nvCxnSpPr>
          <p:cNvPr id="5" name="Connector 4"/>
          <p:cNvCxnSpPr/>
          <p:nvPr/>
        </p:nvCxnSpPr>
        <p:spPr>
          <a:xfrm>
            <a:off x="777240" y="1664208"/>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77240" y="2057400"/>
            <a:ext cx="6035040" cy="365760"/>
          </a:xfrm>
          <a:prstGeom prst="rect">
            <a:avLst/>
          </a:prstGeom>
          <a:noFill/>
        </p:spPr>
        <p:txBody>
          <a:bodyPr wrap="square" lIns="0" rIns="0" tIns="0" bIns="0">
            <a:spAutoFit/>
          </a:bodyPr>
          <a:lstStyle/>
          <a:p>
            <a:pPr>
              <a:lnSpc>
                <a:spcPct val="130000"/>
              </a:lnSpc>
              <a:spcAft>
                <a:spcPts val="900"/>
              </a:spcAft>
            </a:pPr>
            <a:r>
              <a:rPr sz="1500" b="1">
                <a:solidFill>
                  <a:srgbClr val="B45309"/>
                </a:solidFill>
                <a:latin typeface="Calibri"/>
              </a:rPr>
              <a:t>— </a:t>
            </a:r>
            <a:r>
              <a:rPr sz="1500" b="1">
                <a:solidFill>
                  <a:srgbClr val="1A1A1A"/>
                </a:solidFill>
                <a:latin typeface="Calibri"/>
              </a:rPr>
              <a:t>One list, one message. </a:t>
            </a:r>
            <a:r>
              <a:rPr sz="1500">
                <a:solidFill>
                  <a:srgbClr val="1A1A1A"/>
                </a:solidFill>
                <a:latin typeface="Calibri"/>
              </a:rPr>
              <a:t>The retailer holds thousands of customer records but no behavioural structure over them, so every campaign is sent to everyone.</a:t>
            </a:r>
          </a:p>
          <a:p>
            <a:pPr>
              <a:lnSpc>
                <a:spcPct val="130000"/>
              </a:lnSpc>
              <a:spcAft>
                <a:spcPts val="900"/>
              </a:spcAft>
            </a:pPr>
            <a:r>
              <a:rPr sz="1500" b="1">
                <a:solidFill>
                  <a:srgbClr val="B45309"/>
                </a:solidFill>
                <a:latin typeface="Calibri"/>
              </a:rPr>
              <a:t>— </a:t>
            </a:r>
            <a:r>
              <a:rPr sz="1500" b="1">
                <a:solidFill>
                  <a:srgbClr val="1A1A1A"/>
                </a:solidFill>
                <a:latin typeface="Calibri"/>
              </a:rPr>
              <a:t>The customers are not alike. </a:t>
            </a:r>
            <a:r>
              <a:rPr sz="1500">
                <a:solidFill>
                  <a:srgbClr val="1A1A1A"/>
                </a:solidFill>
                <a:latin typeface="Calibri"/>
              </a:rPr>
              <a:t>In this dataset the top 10% of customers account for 61% of all revenue. A single message cannot serve both ends of that distribution.</a:t>
            </a:r>
          </a:p>
          <a:p>
            <a:pPr>
              <a:lnSpc>
                <a:spcPct val="130000"/>
              </a:lnSpc>
              <a:spcAft>
                <a:spcPts val="900"/>
              </a:spcAft>
            </a:pPr>
            <a:r>
              <a:rPr sz="1500" b="1">
                <a:solidFill>
                  <a:srgbClr val="B45309"/>
                </a:solidFill>
                <a:latin typeface="Calibri"/>
              </a:rPr>
              <a:t>— </a:t>
            </a:r>
            <a:r>
              <a:rPr sz="1500" b="1">
                <a:solidFill>
                  <a:srgbClr val="1A1A1A"/>
                </a:solidFill>
                <a:latin typeface="Calibri"/>
              </a:rPr>
              <a:t>Waste runs in both directions. </a:t>
            </a:r>
            <a:r>
              <a:rPr sz="1500">
                <a:solidFill>
                  <a:srgbClr val="1A1A1A"/>
                </a:solidFill>
                <a:latin typeface="Calibri"/>
              </a:rPr>
              <a:t>Discounts are given to loyal customers who would have bought anyway, while budget is spent contacting customers who have already left.</a:t>
            </a:r>
          </a:p>
          <a:p>
            <a:pPr>
              <a:lnSpc>
                <a:spcPct val="130000"/>
              </a:lnSpc>
              <a:spcAft>
                <a:spcPts val="900"/>
              </a:spcAft>
            </a:pPr>
            <a:r>
              <a:rPr sz="1500" b="1">
                <a:solidFill>
                  <a:srgbClr val="B45309"/>
                </a:solidFill>
                <a:latin typeface="Calibri"/>
              </a:rPr>
              <a:t>— </a:t>
            </a:r>
            <a:r>
              <a:rPr sz="1500" b="1">
                <a:solidFill>
                  <a:srgbClr val="1A1A1A"/>
                </a:solidFill>
                <a:latin typeface="Calibri"/>
              </a:rPr>
              <a:t>Churn is noticed too late. </a:t>
            </a:r>
            <a:r>
              <a:rPr sz="1500">
                <a:solidFill>
                  <a:srgbClr val="1A1A1A"/>
                </a:solidFill>
                <a:latin typeface="Calibri"/>
              </a:rPr>
              <a:t>Without a recency signal, a lapsing customer is only identified once they have stopped buying — after the point where a win-back works.</a:t>
            </a:r>
          </a:p>
        </p:txBody>
      </p:sp>
      <p:sp>
        <p:nvSpPr>
          <p:cNvPr id="7" name="Rectangle 6"/>
          <p:cNvSpPr/>
          <p:nvPr/>
        </p:nvSpPr>
        <p:spPr>
          <a:xfrm>
            <a:off x="7269480" y="2057400"/>
            <a:ext cx="4114800" cy="3246120"/>
          </a:xfrm>
          <a:prstGeom prst="rect">
            <a:avLst/>
          </a:prstGeom>
          <a:solidFill>
            <a:srgbClr val="F0EC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8" name="Connector 7"/>
          <p:cNvCxnSpPr/>
          <p:nvPr/>
        </p:nvCxnSpPr>
        <p:spPr>
          <a:xfrm>
            <a:off x="7269480" y="2057400"/>
            <a:ext cx="4114800" cy="0"/>
          </a:xfrm>
          <a:prstGeom prst="line">
            <a:avLst/>
          </a:prstGeom>
          <a:ln w="28575">
            <a:solidFill>
              <a:srgbClr val="B45309"/>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7543800" y="2377440"/>
            <a:ext cx="3566160" cy="274320"/>
          </a:xfrm>
          <a:prstGeom prst="rect">
            <a:avLst/>
          </a:prstGeom>
          <a:noFill/>
        </p:spPr>
        <p:txBody>
          <a:bodyPr wrap="square" anchor="t" lIns="0" rIns="0" tIns="0" bIns="0">
            <a:spAutoFit/>
          </a:bodyPr>
          <a:lstStyle/>
          <a:p>
            <a:pPr algn="l">
              <a:lnSpc>
                <a:spcPct val="125000"/>
              </a:lnSpc>
              <a:spcAft>
                <a:spcPts val="0"/>
              </a:spcAft>
            </a:pPr>
            <a:r>
              <a:rPr sz="950" b="0" i="0" spc="140">
                <a:solidFill>
                  <a:srgbClr val="6B6B6B"/>
                </a:solidFill>
                <a:latin typeface="Consolas"/>
              </a:rPr>
              <a:t>THE COST OF ONE BLAST</a:t>
            </a:r>
          </a:p>
        </p:txBody>
      </p:sp>
      <p:sp>
        <p:nvSpPr>
          <p:cNvPr id="10" name="TextBox 9"/>
          <p:cNvSpPr txBox="1"/>
          <p:nvPr/>
        </p:nvSpPr>
        <p:spPr>
          <a:xfrm>
            <a:off x="7543800" y="2880360"/>
            <a:ext cx="1463040" cy="411480"/>
          </a:xfrm>
          <a:prstGeom prst="rect">
            <a:avLst/>
          </a:prstGeom>
          <a:noFill/>
        </p:spPr>
        <p:txBody>
          <a:bodyPr wrap="square" anchor="t" lIns="0" rIns="0" tIns="0" bIns="0">
            <a:spAutoFit/>
          </a:bodyPr>
          <a:lstStyle/>
          <a:p>
            <a:pPr algn="l">
              <a:lnSpc>
                <a:spcPct val="125000"/>
              </a:lnSpc>
              <a:spcAft>
                <a:spcPts val="0"/>
              </a:spcAft>
            </a:pPr>
            <a:r>
              <a:rPr sz="2500" b="0" i="0">
                <a:solidFill>
                  <a:srgbClr val="1A1A1A"/>
                </a:solidFill>
                <a:latin typeface="Georgia"/>
              </a:rPr>
              <a:t>4,339</a:t>
            </a:r>
          </a:p>
        </p:txBody>
      </p:sp>
      <p:sp>
        <p:nvSpPr>
          <p:cNvPr id="11" name="TextBox 10"/>
          <p:cNvSpPr txBox="1"/>
          <p:nvPr/>
        </p:nvSpPr>
        <p:spPr>
          <a:xfrm>
            <a:off x="9052560" y="2907792"/>
            <a:ext cx="2103120" cy="548640"/>
          </a:xfrm>
          <a:prstGeom prst="rect">
            <a:avLst/>
          </a:prstGeom>
          <a:noFill/>
        </p:spPr>
        <p:txBody>
          <a:bodyPr wrap="square" anchor="t" lIns="0" rIns="0" tIns="0" bIns="0">
            <a:spAutoFit/>
          </a:bodyPr>
          <a:lstStyle/>
          <a:p>
            <a:pPr algn="l">
              <a:lnSpc>
                <a:spcPct val="120000"/>
              </a:lnSpc>
              <a:spcAft>
                <a:spcPts val="0"/>
              </a:spcAft>
            </a:pPr>
            <a:r>
              <a:rPr sz="1150" b="0" i="0">
                <a:solidFill>
                  <a:srgbClr val="6B6B6B"/>
                </a:solidFill>
                <a:latin typeface="Calibri"/>
              </a:rPr>
              <a:t>customers contacted</a:t>
            </a:r>
          </a:p>
        </p:txBody>
      </p:sp>
      <p:sp>
        <p:nvSpPr>
          <p:cNvPr id="12" name="TextBox 11"/>
          <p:cNvSpPr txBox="1"/>
          <p:nvPr/>
        </p:nvSpPr>
        <p:spPr>
          <a:xfrm>
            <a:off x="7543800" y="3666744"/>
            <a:ext cx="1463040" cy="411480"/>
          </a:xfrm>
          <a:prstGeom prst="rect">
            <a:avLst/>
          </a:prstGeom>
          <a:noFill/>
        </p:spPr>
        <p:txBody>
          <a:bodyPr wrap="square" anchor="t" lIns="0" rIns="0" tIns="0" bIns="0">
            <a:spAutoFit/>
          </a:bodyPr>
          <a:lstStyle/>
          <a:p>
            <a:pPr algn="l">
              <a:lnSpc>
                <a:spcPct val="125000"/>
              </a:lnSpc>
              <a:spcAft>
                <a:spcPts val="0"/>
              </a:spcAft>
            </a:pPr>
            <a:r>
              <a:rPr sz="2500" b="0" i="0">
                <a:solidFill>
                  <a:srgbClr val="1A1A1A"/>
                </a:solidFill>
                <a:latin typeface="Georgia"/>
              </a:rPr>
              <a:t>£8,678</a:t>
            </a:r>
          </a:p>
        </p:txBody>
      </p:sp>
      <p:sp>
        <p:nvSpPr>
          <p:cNvPr id="13" name="TextBox 12"/>
          <p:cNvSpPr txBox="1"/>
          <p:nvPr/>
        </p:nvSpPr>
        <p:spPr>
          <a:xfrm>
            <a:off x="9052560" y="3694176"/>
            <a:ext cx="2103120" cy="548640"/>
          </a:xfrm>
          <a:prstGeom prst="rect">
            <a:avLst/>
          </a:prstGeom>
          <a:noFill/>
        </p:spPr>
        <p:txBody>
          <a:bodyPr wrap="square" anchor="t" lIns="0" rIns="0" tIns="0" bIns="0">
            <a:spAutoFit/>
          </a:bodyPr>
          <a:lstStyle/>
          <a:p>
            <a:pPr algn="l">
              <a:lnSpc>
                <a:spcPct val="120000"/>
              </a:lnSpc>
              <a:spcAft>
                <a:spcPts val="0"/>
              </a:spcAft>
            </a:pPr>
            <a:r>
              <a:rPr sz="1150" b="0" i="0">
                <a:solidFill>
                  <a:srgbClr val="6B6B6B"/>
                </a:solidFill>
                <a:latin typeface="Calibri"/>
              </a:rPr>
              <a:t>campaign cost at £2 / contact</a:t>
            </a:r>
          </a:p>
        </p:txBody>
      </p:sp>
      <p:sp>
        <p:nvSpPr>
          <p:cNvPr id="14" name="TextBox 13"/>
          <p:cNvSpPr txBox="1"/>
          <p:nvPr/>
        </p:nvSpPr>
        <p:spPr>
          <a:xfrm>
            <a:off x="7543800" y="4453128"/>
            <a:ext cx="1463040" cy="411480"/>
          </a:xfrm>
          <a:prstGeom prst="rect">
            <a:avLst/>
          </a:prstGeom>
          <a:noFill/>
        </p:spPr>
        <p:txBody>
          <a:bodyPr wrap="square" anchor="t" lIns="0" rIns="0" tIns="0" bIns="0">
            <a:spAutoFit/>
          </a:bodyPr>
          <a:lstStyle/>
          <a:p>
            <a:pPr algn="l">
              <a:lnSpc>
                <a:spcPct val="125000"/>
              </a:lnSpc>
              <a:spcAft>
                <a:spcPts val="0"/>
              </a:spcAft>
            </a:pPr>
            <a:r>
              <a:rPr sz="2500" b="0" i="0">
                <a:solidFill>
                  <a:srgbClr val="1A1A1A"/>
                </a:solidFill>
                <a:latin typeface="Georgia"/>
              </a:rPr>
              <a:t>56%</a:t>
            </a:r>
          </a:p>
        </p:txBody>
      </p:sp>
      <p:sp>
        <p:nvSpPr>
          <p:cNvPr id="15" name="TextBox 14"/>
          <p:cNvSpPr txBox="1"/>
          <p:nvPr/>
        </p:nvSpPr>
        <p:spPr>
          <a:xfrm>
            <a:off x="9052560" y="4480560"/>
            <a:ext cx="2103120" cy="548640"/>
          </a:xfrm>
          <a:prstGeom prst="rect">
            <a:avLst/>
          </a:prstGeom>
          <a:noFill/>
        </p:spPr>
        <p:txBody>
          <a:bodyPr wrap="square" anchor="t" lIns="0" rIns="0" tIns="0" bIns="0">
            <a:spAutoFit/>
          </a:bodyPr>
          <a:lstStyle/>
          <a:p>
            <a:pPr algn="l">
              <a:lnSpc>
                <a:spcPct val="120000"/>
              </a:lnSpc>
              <a:spcAft>
                <a:spcPts val="0"/>
              </a:spcAft>
            </a:pPr>
            <a:r>
              <a:rPr sz="1150" b="0" i="0">
                <a:solidFill>
                  <a:srgbClr val="6B6B6B"/>
                </a:solidFill>
                <a:latin typeface="Calibri"/>
              </a:rPr>
              <a:t>of that spend reaches customers</a:t>
            </a:r>
          </a:p>
          <a:p>
            <a:pPr algn="l">
              <a:lnSpc>
                <a:spcPct val="120000"/>
              </a:lnSpc>
              <a:spcAft>
                <a:spcPts val="0"/>
              </a:spcAft>
            </a:pPr>
            <a:r>
              <a:rPr sz="1150" b="0" i="0">
                <a:solidFill>
                  <a:srgbClr val="6B6B6B"/>
                </a:solidFill>
                <a:latin typeface="Calibri"/>
              </a:rPr>
              <a:t>worth 11% of revenue</a:t>
            </a:r>
          </a:p>
        </p:txBody>
      </p:sp>
      <p:sp>
        <p:nvSpPr>
          <p:cNvPr id="16" name="TextBox 15"/>
          <p:cNvSpPr txBox="1"/>
          <p:nvPr/>
        </p:nvSpPr>
        <p:spPr>
          <a:xfrm>
            <a:off x="777240" y="5532120"/>
            <a:ext cx="10637215" cy="457200"/>
          </a:xfrm>
          <a:prstGeom prst="rect">
            <a:avLst/>
          </a:prstGeom>
          <a:noFill/>
        </p:spPr>
        <p:txBody>
          <a:bodyPr wrap="square" anchor="t" lIns="0" rIns="0" tIns="0" bIns="0">
            <a:spAutoFit/>
          </a:bodyPr>
          <a:lstStyle/>
          <a:p>
            <a:pPr algn="l">
              <a:lnSpc>
                <a:spcPct val="125000"/>
              </a:lnSpc>
              <a:spcAft>
                <a:spcPts val="0"/>
              </a:spcAft>
            </a:pPr>
            <a:r>
              <a:rPr sz="1500" b="0" i="1">
                <a:solidFill>
                  <a:srgbClr val="B45309"/>
                </a:solidFill>
                <a:latin typeface="Georgia"/>
              </a:rPr>
              <a:t>The data to fix this already exists — it is sitting unused in the transaction log.</a:t>
            </a:r>
          </a:p>
        </p:txBody>
      </p:sp>
      <p:cxnSp>
        <p:nvCxnSpPr>
          <p:cNvPr id="17" name="Connector 16"/>
          <p:cNvCxnSpPr/>
          <p:nvPr/>
        </p:nvCxnSpPr>
        <p:spPr>
          <a:xfrm>
            <a:off x="777240" y="6291072"/>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77240" y="6400800"/>
            <a:ext cx="6400800" cy="228600"/>
          </a:xfrm>
          <a:prstGeom prst="rect">
            <a:avLst/>
          </a:prstGeom>
          <a:noFill/>
        </p:spPr>
        <p:txBody>
          <a:bodyPr wrap="square" anchor="t" lIns="0" rIns="0" tIns="0" bIns="0">
            <a:spAutoFit/>
          </a:bodyPr>
          <a:lstStyle/>
          <a:p>
            <a:pPr algn="l">
              <a:lnSpc>
                <a:spcPct val="125000"/>
              </a:lnSpc>
              <a:spcAft>
                <a:spcPts val="0"/>
              </a:spcAft>
            </a:pPr>
            <a:r>
              <a:rPr sz="850" b="0" i="0" spc="120">
                <a:solidFill>
                  <a:srgbClr val="6B6B6B"/>
                </a:solidFill>
                <a:latin typeface="Consolas"/>
              </a:rPr>
              <a:t>CUSTOMER SEGMENTATION FOR TARGETED E-COMMERCE MARKETING</a:t>
            </a:r>
          </a:p>
        </p:txBody>
      </p:sp>
      <p:sp>
        <p:nvSpPr>
          <p:cNvPr id="19" name="TextBox 18"/>
          <p:cNvSpPr txBox="1"/>
          <p:nvPr/>
        </p:nvSpPr>
        <p:spPr>
          <a:xfrm>
            <a:off x="9585655" y="6400800"/>
            <a:ext cx="1828800" cy="228600"/>
          </a:xfrm>
          <a:prstGeom prst="rect">
            <a:avLst/>
          </a:prstGeom>
          <a:noFill/>
        </p:spPr>
        <p:txBody>
          <a:bodyPr wrap="square" anchor="t" lIns="0" rIns="0" tIns="0" bIns="0">
            <a:spAutoFit/>
          </a:bodyPr>
          <a:lstStyle/>
          <a:p>
            <a:pPr algn="r">
              <a:lnSpc>
                <a:spcPct val="125000"/>
              </a:lnSpc>
              <a:spcAft>
                <a:spcPts val="0"/>
              </a:spcAft>
            </a:pPr>
            <a:r>
              <a:rPr sz="850" b="0" i="0" spc="120">
                <a:solidFill>
                  <a:srgbClr val="6B6B6B"/>
                </a:solidFill>
                <a:latin typeface="Consolas"/>
              </a:rPr>
              <a:t>03 / 27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77240" y="566928"/>
            <a:ext cx="10637215" cy="274320"/>
          </a:xfrm>
          <a:prstGeom prst="rect">
            <a:avLst/>
          </a:prstGeom>
          <a:noFill/>
        </p:spPr>
        <p:txBody>
          <a:bodyPr wrap="none" lIns="0" rIns="0" tIns="0" bIns="0">
            <a:spAutoFit/>
          </a:bodyPr>
          <a:lstStyle/>
          <a:p>
            <a:r>
              <a:rPr sz="1050" b="1" spc="200">
                <a:solidFill>
                  <a:srgbClr val="B45309"/>
                </a:solidFill>
                <a:latin typeface="Consolas"/>
              </a:rPr>
              <a:t>01  </a:t>
            </a:r>
            <a:r>
              <a:rPr sz="1050" spc="200">
                <a:solidFill>
                  <a:srgbClr val="6B6B6B"/>
                </a:solidFill>
                <a:latin typeface="Consolas"/>
              </a:rPr>
              <a:t>OBJECTIVES</a:t>
            </a:r>
            <a:r>
              <a:rPr sz="1050" spc="200">
                <a:solidFill>
                  <a:srgbClr val="6B6B6B"/>
                </a:solidFill>
                <a:latin typeface="Consolas"/>
              </a:rPr>
              <a:t>   ·   SCOPE OF THE PROJECT</a:t>
            </a:r>
          </a:p>
        </p:txBody>
      </p:sp>
      <p:sp>
        <p:nvSpPr>
          <p:cNvPr id="4" name="TextBox 3"/>
          <p:cNvSpPr txBox="1"/>
          <p:nvPr/>
        </p:nvSpPr>
        <p:spPr>
          <a:xfrm>
            <a:off x="777240" y="932688"/>
            <a:ext cx="10637215" cy="685800"/>
          </a:xfrm>
          <a:prstGeom prst="rect">
            <a:avLst/>
          </a:prstGeom>
          <a:noFill/>
        </p:spPr>
        <p:txBody>
          <a:bodyPr wrap="square" anchor="t" lIns="0" rIns="0" tIns="0" bIns="0">
            <a:spAutoFit/>
          </a:bodyPr>
          <a:lstStyle/>
          <a:p>
            <a:pPr algn="l">
              <a:lnSpc>
                <a:spcPct val="100000"/>
              </a:lnSpc>
              <a:spcAft>
                <a:spcPts val="0"/>
              </a:spcAft>
            </a:pPr>
            <a:r>
              <a:rPr sz="3200" b="0" i="0">
                <a:solidFill>
                  <a:srgbClr val="1A1A1A"/>
                </a:solidFill>
                <a:latin typeface="Georgia"/>
              </a:rPr>
              <a:t>What we set out to build</a:t>
            </a:r>
          </a:p>
        </p:txBody>
      </p:sp>
      <p:cxnSp>
        <p:nvCxnSpPr>
          <p:cNvPr id="5" name="Connector 4"/>
          <p:cNvCxnSpPr/>
          <p:nvPr/>
        </p:nvCxnSpPr>
        <p:spPr>
          <a:xfrm>
            <a:off x="777240" y="1664208"/>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77240" y="2029968"/>
            <a:ext cx="457200" cy="274320"/>
          </a:xfrm>
          <a:prstGeom prst="rect">
            <a:avLst/>
          </a:prstGeom>
          <a:noFill/>
        </p:spPr>
        <p:txBody>
          <a:bodyPr wrap="square" anchor="t" lIns="0" rIns="0" tIns="0" bIns="0">
            <a:spAutoFit/>
          </a:bodyPr>
          <a:lstStyle/>
          <a:p>
            <a:pPr algn="l">
              <a:lnSpc>
                <a:spcPct val="125000"/>
              </a:lnSpc>
              <a:spcAft>
                <a:spcPts val="0"/>
              </a:spcAft>
            </a:pPr>
            <a:r>
              <a:rPr sz="1300" b="1" i="0">
                <a:solidFill>
                  <a:srgbClr val="B45309"/>
                </a:solidFill>
                <a:latin typeface="Consolas"/>
              </a:rPr>
              <a:t>01</a:t>
            </a:r>
          </a:p>
        </p:txBody>
      </p:sp>
      <p:sp>
        <p:nvSpPr>
          <p:cNvPr id="7" name="TextBox 6"/>
          <p:cNvSpPr txBox="1"/>
          <p:nvPr/>
        </p:nvSpPr>
        <p:spPr>
          <a:xfrm>
            <a:off x="1344168" y="1993392"/>
            <a:ext cx="4160520" cy="548640"/>
          </a:xfrm>
          <a:prstGeom prst="rect">
            <a:avLst/>
          </a:prstGeom>
          <a:noFill/>
        </p:spPr>
        <p:txBody>
          <a:bodyPr wrap="square" anchor="t" lIns="0" rIns="0" tIns="0" bIns="0">
            <a:spAutoFit/>
          </a:bodyPr>
          <a:lstStyle/>
          <a:p>
            <a:pPr algn="l">
              <a:lnSpc>
                <a:spcPct val="115000"/>
              </a:lnSpc>
              <a:spcAft>
                <a:spcPts val="0"/>
              </a:spcAft>
            </a:pPr>
            <a:r>
              <a:rPr sz="1550" b="0" i="0">
                <a:solidFill>
                  <a:srgbClr val="1A1A1A"/>
                </a:solidFill>
                <a:latin typeface="Georgia"/>
              </a:rPr>
              <a:t>Turn transactions into customer behaviour</a:t>
            </a:r>
          </a:p>
        </p:txBody>
      </p:sp>
      <p:sp>
        <p:nvSpPr>
          <p:cNvPr id="8" name="TextBox 7"/>
          <p:cNvSpPr txBox="1"/>
          <p:nvPr/>
        </p:nvSpPr>
        <p:spPr>
          <a:xfrm>
            <a:off x="5760720" y="2011680"/>
            <a:ext cx="5577840" cy="548640"/>
          </a:xfrm>
          <a:prstGeom prst="rect">
            <a:avLst/>
          </a:prstGeom>
          <a:noFill/>
        </p:spPr>
        <p:txBody>
          <a:bodyPr wrap="square" anchor="t" lIns="0" rIns="0" tIns="0" bIns="0">
            <a:spAutoFit/>
          </a:bodyPr>
          <a:lstStyle/>
          <a:p>
            <a:pPr algn="l">
              <a:lnSpc>
                <a:spcPct val="130000"/>
              </a:lnSpc>
              <a:spcAft>
                <a:spcPts val="0"/>
              </a:spcAft>
            </a:pPr>
            <a:r>
              <a:rPr sz="1250" b="0" i="0">
                <a:solidFill>
                  <a:srgbClr val="6B6B6B"/>
                </a:solidFill>
                <a:latin typeface="Calibri"/>
              </a:rPr>
              <a:t>Collapse ~398k transaction lines into one interpretable row per customer using the RFM (Recency, Frequency, Monetary) framework.</a:t>
            </a:r>
          </a:p>
        </p:txBody>
      </p:sp>
      <p:cxnSp>
        <p:nvCxnSpPr>
          <p:cNvPr id="9" name="Connector 8"/>
          <p:cNvCxnSpPr/>
          <p:nvPr/>
        </p:nvCxnSpPr>
        <p:spPr>
          <a:xfrm>
            <a:off x="777240" y="2670048"/>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77240" y="2834640"/>
            <a:ext cx="457200" cy="274320"/>
          </a:xfrm>
          <a:prstGeom prst="rect">
            <a:avLst/>
          </a:prstGeom>
          <a:noFill/>
        </p:spPr>
        <p:txBody>
          <a:bodyPr wrap="square" anchor="t" lIns="0" rIns="0" tIns="0" bIns="0">
            <a:spAutoFit/>
          </a:bodyPr>
          <a:lstStyle/>
          <a:p>
            <a:pPr algn="l">
              <a:lnSpc>
                <a:spcPct val="125000"/>
              </a:lnSpc>
              <a:spcAft>
                <a:spcPts val="0"/>
              </a:spcAft>
            </a:pPr>
            <a:r>
              <a:rPr sz="1300" b="1" i="0">
                <a:solidFill>
                  <a:srgbClr val="B45309"/>
                </a:solidFill>
                <a:latin typeface="Consolas"/>
              </a:rPr>
              <a:t>02</a:t>
            </a:r>
          </a:p>
        </p:txBody>
      </p:sp>
      <p:sp>
        <p:nvSpPr>
          <p:cNvPr id="11" name="TextBox 10"/>
          <p:cNvSpPr txBox="1"/>
          <p:nvPr/>
        </p:nvSpPr>
        <p:spPr>
          <a:xfrm>
            <a:off x="1344168" y="2798064"/>
            <a:ext cx="4160520" cy="548640"/>
          </a:xfrm>
          <a:prstGeom prst="rect">
            <a:avLst/>
          </a:prstGeom>
          <a:noFill/>
        </p:spPr>
        <p:txBody>
          <a:bodyPr wrap="square" anchor="t" lIns="0" rIns="0" tIns="0" bIns="0">
            <a:spAutoFit/>
          </a:bodyPr>
          <a:lstStyle/>
          <a:p>
            <a:pPr algn="l">
              <a:lnSpc>
                <a:spcPct val="115000"/>
              </a:lnSpc>
              <a:spcAft>
                <a:spcPts val="0"/>
              </a:spcAft>
            </a:pPr>
            <a:r>
              <a:rPr sz="1550" b="0" i="0">
                <a:solidFill>
                  <a:srgbClr val="1A1A1A"/>
                </a:solidFill>
                <a:latin typeface="Georgia"/>
              </a:rPr>
              <a:t>Discover segments without labels</a:t>
            </a:r>
          </a:p>
        </p:txBody>
      </p:sp>
      <p:sp>
        <p:nvSpPr>
          <p:cNvPr id="12" name="TextBox 11"/>
          <p:cNvSpPr txBox="1"/>
          <p:nvPr/>
        </p:nvSpPr>
        <p:spPr>
          <a:xfrm>
            <a:off x="5760720" y="2816352"/>
            <a:ext cx="5577840" cy="548640"/>
          </a:xfrm>
          <a:prstGeom prst="rect">
            <a:avLst/>
          </a:prstGeom>
          <a:noFill/>
        </p:spPr>
        <p:txBody>
          <a:bodyPr wrap="square" anchor="t" lIns="0" rIns="0" tIns="0" bIns="0">
            <a:spAutoFit/>
          </a:bodyPr>
          <a:lstStyle/>
          <a:p>
            <a:pPr algn="l">
              <a:lnSpc>
                <a:spcPct val="130000"/>
              </a:lnSpc>
              <a:spcAft>
                <a:spcPts val="0"/>
              </a:spcAft>
            </a:pPr>
            <a:r>
              <a:rPr sz="1250" b="0" i="0">
                <a:solidFill>
                  <a:srgbClr val="6B6B6B"/>
                </a:solidFill>
                <a:latin typeface="Calibri"/>
              </a:rPr>
              <a:t>Apply unsupervised K-Means clustering to find natural groupings, selecting K with the elbow method and silhouette analysis rather than by assumption.</a:t>
            </a:r>
          </a:p>
        </p:txBody>
      </p:sp>
      <p:cxnSp>
        <p:nvCxnSpPr>
          <p:cNvPr id="13" name="Connector 12"/>
          <p:cNvCxnSpPr/>
          <p:nvPr/>
        </p:nvCxnSpPr>
        <p:spPr>
          <a:xfrm>
            <a:off x="777240" y="3474720"/>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77240" y="3639312"/>
            <a:ext cx="457200" cy="274320"/>
          </a:xfrm>
          <a:prstGeom prst="rect">
            <a:avLst/>
          </a:prstGeom>
          <a:noFill/>
        </p:spPr>
        <p:txBody>
          <a:bodyPr wrap="square" anchor="t" lIns="0" rIns="0" tIns="0" bIns="0">
            <a:spAutoFit/>
          </a:bodyPr>
          <a:lstStyle/>
          <a:p>
            <a:pPr algn="l">
              <a:lnSpc>
                <a:spcPct val="125000"/>
              </a:lnSpc>
              <a:spcAft>
                <a:spcPts val="0"/>
              </a:spcAft>
            </a:pPr>
            <a:r>
              <a:rPr sz="1300" b="1" i="0">
                <a:solidFill>
                  <a:srgbClr val="B45309"/>
                </a:solidFill>
                <a:latin typeface="Consolas"/>
              </a:rPr>
              <a:t>03</a:t>
            </a:r>
          </a:p>
        </p:txBody>
      </p:sp>
      <p:sp>
        <p:nvSpPr>
          <p:cNvPr id="15" name="TextBox 14"/>
          <p:cNvSpPr txBox="1"/>
          <p:nvPr/>
        </p:nvSpPr>
        <p:spPr>
          <a:xfrm>
            <a:off x="1344168" y="3602736"/>
            <a:ext cx="4160520" cy="548640"/>
          </a:xfrm>
          <a:prstGeom prst="rect">
            <a:avLst/>
          </a:prstGeom>
          <a:noFill/>
        </p:spPr>
        <p:txBody>
          <a:bodyPr wrap="square" anchor="t" lIns="0" rIns="0" tIns="0" bIns="0">
            <a:spAutoFit/>
          </a:bodyPr>
          <a:lstStyle/>
          <a:p>
            <a:pPr algn="l">
              <a:lnSpc>
                <a:spcPct val="115000"/>
              </a:lnSpc>
              <a:spcAft>
                <a:spcPts val="0"/>
              </a:spcAft>
            </a:pPr>
            <a:r>
              <a:rPr sz="1550" b="0" i="0">
                <a:solidFill>
                  <a:srgbClr val="1A1A1A"/>
                </a:solidFill>
                <a:latin typeface="Georgia"/>
              </a:rPr>
              <a:t>Attach a churn signal to every customer</a:t>
            </a:r>
          </a:p>
        </p:txBody>
      </p:sp>
      <p:sp>
        <p:nvSpPr>
          <p:cNvPr id="16" name="TextBox 15"/>
          <p:cNvSpPr txBox="1"/>
          <p:nvPr/>
        </p:nvSpPr>
        <p:spPr>
          <a:xfrm>
            <a:off x="5760720" y="3621024"/>
            <a:ext cx="5577840" cy="548640"/>
          </a:xfrm>
          <a:prstGeom prst="rect">
            <a:avLst/>
          </a:prstGeom>
          <a:noFill/>
        </p:spPr>
        <p:txBody>
          <a:bodyPr wrap="square" anchor="t" lIns="0" rIns="0" tIns="0" bIns="0">
            <a:spAutoFit/>
          </a:bodyPr>
          <a:lstStyle/>
          <a:p>
            <a:pPr algn="l">
              <a:lnSpc>
                <a:spcPct val="130000"/>
              </a:lnSpc>
              <a:spcAft>
                <a:spcPts val="0"/>
              </a:spcAft>
            </a:pPr>
            <a:r>
              <a:rPr sz="1250" b="0" i="0">
                <a:solidFill>
                  <a:srgbClr val="6B6B6B"/>
                </a:solidFill>
                <a:latin typeface="Calibri"/>
              </a:rPr>
              <a:t>Fit a logistic-regression model that scores each customer's probability of lapsing, so at-risk revenue can be quantified.</a:t>
            </a:r>
          </a:p>
        </p:txBody>
      </p:sp>
      <p:cxnSp>
        <p:nvCxnSpPr>
          <p:cNvPr id="17" name="Connector 16"/>
          <p:cNvCxnSpPr/>
          <p:nvPr/>
        </p:nvCxnSpPr>
        <p:spPr>
          <a:xfrm>
            <a:off x="777240" y="4279392"/>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77240" y="4443984"/>
            <a:ext cx="457200" cy="274320"/>
          </a:xfrm>
          <a:prstGeom prst="rect">
            <a:avLst/>
          </a:prstGeom>
          <a:noFill/>
        </p:spPr>
        <p:txBody>
          <a:bodyPr wrap="square" anchor="t" lIns="0" rIns="0" tIns="0" bIns="0">
            <a:spAutoFit/>
          </a:bodyPr>
          <a:lstStyle/>
          <a:p>
            <a:pPr algn="l">
              <a:lnSpc>
                <a:spcPct val="125000"/>
              </a:lnSpc>
              <a:spcAft>
                <a:spcPts val="0"/>
              </a:spcAft>
            </a:pPr>
            <a:r>
              <a:rPr sz="1300" b="1" i="0">
                <a:solidFill>
                  <a:srgbClr val="B45309"/>
                </a:solidFill>
                <a:latin typeface="Consolas"/>
              </a:rPr>
              <a:t>04</a:t>
            </a:r>
          </a:p>
        </p:txBody>
      </p:sp>
      <p:sp>
        <p:nvSpPr>
          <p:cNvPr id="19" name="TextBox 18"/>
          <p:cNvSpPr txBox="1"/>
          <p:nvPr/>
        </p:nvSpPr>
        <p:spPr>
          <a:xfrm>
            <a:off x="1344168" y="4407408"/>
            <a:ext cx="4160520" cy="548640"/>
          </a:xfrm>
          <a:prstGeom prst="rect">
            <a:avLst/>
          </a:prstGeom>
          <a:noFill/>
        </p:spPr>
        <p:txBody>
          <a:bodyPr wrap="square" anchor="t" lIns="0" rIns="0" tIns="0" bIns="0">
            <a:spAutoFit/>
          </a:bodyPr>
          <a:lstStyle/>
          <a:p>
            <a:pPr algn="l">
              <a:lnSpc>
                <a:spcPct val="115000"/>
              </a:lnSpc>
              <a:spcAft>
                <a:spcPts val="0"/>
              </a:spcAft>
            </a:pPr>
            <a:r>
              <a:rPr sz="1550" b="0" i="0">
                <a:solidFill>
                  <a:srgbClr val="1A1A1A"/>
                </a:solidFill>
                <a:latin typeface="Georgia"/>
              </a:rPr>
              <a:t>Translate segments into marketing actions</a:t>
            </a:r>
          </a:p>
        </p:txBody>
      </p:sp>
      <p:sp>
        <p:nvSpPr>
          <p:cNvPr id="20" name="TextBox 19"/>
          <p:cNvSpPr txBox="1"/>
          <p:nvPr/>
        </p:nvSpPr>
        <p:spPr>
          <a:xfrm>
            <a:off x="5760720" y="4425696"/>
            <a:ext cx="5577840" cy="548640"/>
          </a:xfrm>
          <a:prstGeom prst="rect">
            <a:avLst/>
          </a:prstGeom>
          <a:noFill/>
        </p:spPr>
        <p:txBody>
          <a:bodyPr wrap="square" anchor="t" lIns="0" rIns="0" tIns="0" bIns="0">
            <a:spAutoFit/>
          </a:bodyPr>
          <a:lstStyle/>
          <a:p>
            <a:pPr algn="l">
              <a:lnSpc>
                <a:spcPct val="130000"/>
              </a:lnSpc>
              <a:spcAft>
                <a:spcPts val="0"/>
              </a:spcAft>
            </a:pPr>
            <a:r>
              <a:rPr sz="1250" b="0" i="0">
                <a:solidFill>
                  <a:srgbClr val="6B6B6B"/>
                </a:solidFill>
                <a:latin typeface="Calibri"/>
              </a:rPr>
              <a:t>Give each cluster a business persona and a concrete recommended treatment — the output must be usable, not just descriptive.</a:t>
            </a:r>
          </a:p>
        </p:txBody>
      </p:sp>
      <p:cxnSp>
        <p:nvCxnSpPr>
          <p:cNvPr id="21" name="Connector 20"/>
          <p:cNvCxnSpPr/>
          <p:nvPr/>
        </p:nvCxnSpPr>
        <p:spPr>
          <a:xfrm>
            <a:off x="777240" y="5084064"/>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777240" y="5248656"/>
            <a:ext cx="457200" cy="274320"/>
          </a:xfrm>
          <a:prstGeom prst="rect">
            <a:avLst/>
          </a:prstGeom>
          <a:noFill/>
        </p:spPr>
        <p:txBody>
          <a:bodyPr wrap="square" anchor="t" lIns="0" rIns="0" tIns="0" bIns="0">
            <a:spAutoFit/>
          </a:bodyPr>
          <a:lstStyle/>
          <a:p>
            <a:pPr algn="l">
              <a:lnSpc>
                <a:spcPct val="125000"/>
              </a:lnSpc>
              <a:spcAft>
                <a:spcPts val="0"/>
              </a:spcAft>
            </a:pPr>
            <a:r>
              <a:rPr sz="1300" b="1" i="0">
                <a:solidFill>
                  <a:srgbClr val="B45309"/>
                </a:solidFill>
                <a:latin typeface="Consolas"/>
              </a:rPr>
              <a:t>05</a:t>
            </a:r>
          </a:p>
        </p:txBody>
      </p:sp>
      <p:sp>
        <p:nvSpPr>
          <p:cNvPr id="23" name="TextBox 22"/>
          <p:cNvSpPr txBox="1"/>
          <p:nvPr/>
        </p:nvSpPr>
        <p:spPr>
          <a:xfrm>
            <a:off x="1344168" y="5212080"/>
            <a:ext cx="4160520" cy="548640"/>
          </a:xfrm>
          <a:prstGeom prst="rect">
            <a:avLst/>
          </a:prstGeom>
          <a:noFill/>
        </p:spPr>
        <p:txBody>
          <a:bodyPr wrap="square" anchor="t" lIns="0" rIns="0" tIns="0" bIns="0">
            <a:spAutoFit/>
          </a:bodyPr>
          <a:lstStyle/>
          <a:p>
            <a:pPr algn="l">
              <a:lnSpc>
                <a:spcPct val="115000"/>
              </a:lnSpc>
              <a:spcAft>
                <a:spcPts val="0"/>
              </a:spcAft>
            </a:pPr>
            <a:r>
              <a:rPr sz="1550" b="0" i="0">
                <a:solidFill>
                  <a:srgbClr val="1A1A1A"/>
                </a:solidFill>
                <a:latin typeface="Georgia"/>
              </a:rPr>
              <a:t>Ship it as a usable product</a:t>
            </a:r>
          </a:p>
        </p:txBody>
      </p:sp>
      <p:sp>
        <p:nvSpPr>
          <p:cNvPr id="24" name="TextBox 23"/>
          <p:cNvSpPr txBox="1"/>
          <p:nvPr/>
        </p:nvSpPr>
        <p:spPr>
          <a:xfrm>
            <a:off x="5760720" y="5230368"/>
            <a:ext cx="5577840" cy="548640"/>
          </a:xfrm>
          <a:prstGeom prst="rect">
            <a:avLst/>
          </a:prstGeom>
          <a:noFill/>
        </p:spPr>
        <p:txBody>
          <a:bodyPr wrap="square" anchor="t" lIns="0" rIns="0" tIns="0" bIns="0">
            <a:spAutoFit/>
          </a:bodyPr>
          <a:lstStyle/>
          <a:p>
            <a:pPr algn="l">
              <a:lnSpc>
                <a:spcPct val="130000"/>
              </a:lnSpc>
              <a:spcAft>
                <a:spcPts val="0"/>
              </a:spcAft>
            </a:pPr>
            <a:r>
              <a:rPr sz="1250" b="0" i="0">
                <a:solidFill>
                  <a:srgbClr val="6B6B6B"/>
                </a:solidFill>
                <a:latin typeface="Calibri"/>
              </a:rPr>
              <a:t>Serve the pipeline through a FastAPI backend and a React dashboard so a non-technical user can explore the segments without touching code.</a:t>
            </a:r>
          </a:p>
        </p:txBody>
      </p:sp>
      <p:cxnSp>
        <p:nvCxnSpPr>
          <p:cNvPr id="25" name="Connector 24"/>
          <p:cNvCxnSpPr/>
          <p:nvPr/>
        </p:nvCxnSpPr>
        <p:spPr>
          <a:xfrm>
            <a:off x="777240" y="6291072"/>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777240" y="6400800"/>
            <a:ext cx="6400800" cy="228600"/>
          </a:xfrm>
          <a:prstGeom prst="rect">
            <a:avLst/>
          </a:prstGeom>
          <a:noFill/>
        </p:spPr>
        <p:txBody>
          <a:bodyPr wrap="square" anchor="t" lIns="0" rIns="0" tIns="0" bIns="0">
            <a:spAutoFit/>
          </a:bodyPr>
          <a:lstStyle/>
          <a:p>
            <a:pPr algn="l">
              <a:lnSpc>
                <a:spcPct val="125000"/>
              </a:lnSpc>
              <a:spcAft>
                <a:spcPts val="0"/>
              </a:spcAft>
            </a:pPr>
            <a:r>
              <a:rPr sz="850" b="0" i="0" spc="120">
                <a:solidFill>
                  <a:srgbClr val="6B6B6B"/>
                </a:solidFill>
                <a:latin typeface="Consolas"/>
              </a:rPr>
              <a:t>CUSTOMER SEGMENTATION FOR TARGETED E-COMMERCE MARKETING</a:t>
            </a:r>
          </a:p>
        </p:txBody>
      </p:sp>
      <p:sp>
        <p:nvSpPr>
          <p:cNvPr id="27" name="TextBox 26"/>
          <p:cNvSpPr txBox="1"/>
          <p:nvPr/>
        </p:nvSpPr>
        <p:spPr>
          <a:xfrm>
            <a:off x="9585655" y="6400800"/>
            <a:ext cx="1828800" cy="228600"/>
          </a:xfrm>
          <a:prstGeom prst="rect">
            <a:avLst/>
          </a:prstGeom>
          <a:noFill/>
        </p:spPr>
        <p:txBody>
          <a:bodyPr wrap="square" anchor="t" lIns="0" rIns="0" tIns="0" bIns="0">
            <a:spAutoFit/>
          </a:bodyPr>
          <a:lstStyle/>
          <a:p>
            <a:pPr algn="r">
              <a:lnSpc>
                <a:spcPct val="125000"/>
              </a:lnSpc>
              <a:spcAft>
                <a:spcPts val="0"/>
              </a:spcAft>
            </a:pPr>
            <a:r>
              <a:rPr sz="850" b="0" i="0" spc="120">
                <a:solidFill>
                  <a:srgbClr val="6B6B6B"/>
                </a:solidFill>
                <a:latin typeface="Consolas"/>
              </a:rPr>
              <a:t>04 / 27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77240" y="566928"/>
            <a:ext cx="10637215" cy="274320"/>
          </a:xfrm>
          <a:prstGeom prst="rect">
            <a:avLst/>
          </a:prstGeom>
          <a:noFill/>
        </p:spPr>
        <p:txBody>
          <a:bodyPr wrap="none" lIns="0" rIns="0" tIns="0" bIns="0">
            <a:spAutoFit/>
          </a:bodyPr>
          <a:lstStyle/>
          <a:p>
            <a:r>
              <a:rPr sz="1050" b="1" spc="200">
                <a:solidFill>
                  <a:srgbClr val="B45309"/>
                </a:solidFill>
                <a:latin typeface="Consolas"/>
              </a:rPr>
              <a:t>02  </a:t>
            </a:r>
            <a:r>
              <a:rPr sz="1050" spc="200">
                <a:solidFill>
                  <a:srgbClr val="6B6B6B"/>
                </a:solidFill>
                <a:latin typeface="Consolas"/>
              </a:rPr>
              <a:t>THE DATASET</a:t>
            </a:r>
            <a:r>
              <a:rPr sz="1050" spc="200">
                <a:solidFill>
                  <a:srgbClr val="6B6B6B"/>
                </a:solidFill>
                <a:latin typeface="Consolas"/>
              </a:rPr>
              <a:t>   ·   REAL TRANSACTIONS, ONE FULL YEAR</a:t>
            </a:r>
          </a:p>
        </p:txBody>
      </p:sp>
      <p:sp>
        <p:nvSpPr>
          <p:cNvPr id="4" name="TextBox 3"/>
          <p:cNvSpPr txBox="1"/>
          <p:nvPr/>
        </p:nvSpPr>
        <p:spPr>
          <a:xfrm>
            <a:off x="777240" y="932688"/>
            <a:ext cx="10637215" cy="685800"/>
          </a:xfrm>
          <a:prstGeom prst="rect">
            <a:avLst/>
          </a:prstGeom>
          <a:noFill/>
        </p:spPr>
        <p:txBody>
          <a:bodyPr wrap="square" anchor="t" lIns="0" rIns="0" tIns="0" bIns="0">
            <a:spAutoFit/>
          </a:bodyPr>
          <a:lstStyle/>
          <a:p>
            <a:pPr algn="l">
              <a:lnSpc>
                <a:spcPct val="100000"/>
              </a:lnSpc>
              <a:spcAft>
                <a:spcPts val="0"/>
              </a:spcAft>
            </a:pPr>
            <a:r>
              <a:rPr sz="3200" b="0" i="0">
                <a:solidFill>
                  <a:srgbClr val="1A1A1A"/>
                </a:solidFill>
                <a:latin typeface="Georgia"/>
              </a:rPr>
              <a:t>UCI Online Retail</a:t>
            </a:r>
          </a:p>
        </p:txBody>
      </p:sp>
      <p:cxnSp>
        <p:nvCxnSpPr>
          <p:cNvPr id="5" name="Connector 4"/>
          <p:cNvCxnSpPr/>
          <p:nvPr/>
        </p:nvCxnSpPr>
        <p:spPr>
          <a:xfrm>
            <a:off x="777240" y="1664208"/>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965960"/>
            <a:ext cx="2549575" cy="1078992"/>
          </a:xfrm>
          <a:prstGeom prst="rect">
            <a:avLst/>
          </a:prstGeom>
          <a:solidFill>
            <a:srgbClr val="F0EC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7" name="Connector 6"/>
          <p:cNvCxnSpPr/>
          <p:nvPr/>
        </p:nvCxnSpPr>
        <p:spPr>
          <a:xfrm>
            <a:off x="777240" y="1965960"/>
            <a:ext cx="2549575" cy="0"/>
          </a:xfrm>
          <a:prstGeom prst="line">
            <a:avLst/>
          </a:prstGeom>
          <a:ln w="28575">
            <a:solidFill>
              <a:srgbClr val="1A1A1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978408" y="2203704"/>
            <a:ext cx="2147239" cy="457200"/>
          </a:xfrm>
          <a:prstGeom prst="rect">
            <a:avLst/>
          </a:prstGeom>
          <a:noFill/>
        </p:spPr>
        <p:txBody>
          <a:bodyPr wrap="square" anchor="t" lIns="0" rIns="0" tIns="0" bIns="0">
            <a:spAutoFit/>
          </a:bodyPr>
          <a:lstStyle/>
          <a:p>
            <a:pPr algn="l">
              <a:lnSpc>
                <a:spcPct val="100000"/>
              </a:lnSpc>
              <a:spcAft>
                <a:spcPts val="0"/>
              </a:spcAft>
            </a:pPr>
            <a:r>
              <a:rPr sz="2700" b="0" i="0">
                <a:solidFill>
                  <a:srgbClr val="1A1A1A"/>
                </a:solidFill>
                <a:latin typeface="Georgia"/>
              </a:rPr>
              <a:t>541,909</a:t>
            </a:r>
          </a:p>
        </p:txBody>
      </p:sp>
      <p:sp>
        <p:nvSpPr>
          <p:cNvPr id="9" name="TextBox 8"/>
          <p:cNvSpPr txBox="1"/>
          <p:nvPr/>
        </p:nvSpPr>
        <p:spPr>
          <a:xfrm>
            <a:off x="978408" y="2660904"/>
            <a:ext cx="2147239" cy="274320"/>
          </a:xfrm>
          <a:prstGeom prst="rect">
            <a:avLst/>
          </a:prstGeom>
          <a:noFill/>
        </p:spPr>
        <p:txBody>
          <a:bodyPr wrap="square" anchor="t" lIns="0" rIns="0" tIns="0" bIns="0">
            <a:spAutoFit/>
          </a:bodyPr>
          <a:lstStyle/>
          <a:p>
            <a:pPr algn="l">
              <a:lnSpc>
                <a:spcPct val="125000"/>
              </a:lnSpc>
              <a:spcAft>
                <a:spcPts val="0"/>
              </a:spcAft>
            </a:pPr>
            <a:r>
              <a:rPr sz="900" b="0" i="0" spc="110">
                <a:solidFill>
                  <a:srgbClr val="6B6B6B"/>
                </a:solidFill>
                <a:latin typeface="Consolas"/>
              </a:rPr>
              <a:t>RAW TRANSACTION ROWS</a:t>
            </a:r>
          </a:p>
        </p:txBody>
      </p:sp>
      <p:sp>
        <p:nvSpPr>
          <p:cNvPr id="10" name="Rectangle 9"/>
          <p:cNvSpPr/>
          <p:nvPr/>
        </p:nvSpPr>
        <p:spPr>
          <a:xfrm>
            <a:off x="3473119" y="1965960"/>
            <a:ext cx="2549575" cy="1078992"/>
          </a:xfrm>
          <a:prstGeom prst="rect">
            <a:avLst/>
          </a:prstGeom>
          <a:solidFill>
            <a:srgbClr val="F0EC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11" name="Connector 10"/>
          <p:cNvCxnSpPr/>
          <p:nvPr/>
        </p:nvCxnSpPr>
        <p:spPr>
          <a:xfrm>
            <a:off x="3473119" y="1965960"/>
            <a:ext cx="2549575" cy="0"/>
          </a:xfrm>
          <a:prstGeom prst="line">
            <a:avLst/>
          </a:prstGeom>
          <a:ln w="28575">
            <a:solidFill>
              <a:srgbClr val="1A1A1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674287" y="2203704"/>
            <a:ext cx="2147239" cy="457200"/>
          </a:xfrm>
          <a:prstGeom prst="rect">
            <a:avLst/>
          </a:prstGeom>
          <a:noFill/>
        </p:spPr>
        <p:txBody>
          <a:bodyPr wrap="square" anchor="t" lIns="0" rIns="0" tIns="0" bIns="0">
            <a:spAutoFit/>
          </a:bodyPr>
          <a:lstStyle/>
          <a:p>
            <a:pPr algn="l">
              <a:lnSpc>
                <a:spcPct val="100000"/>
              </a:lnSpc>
              <a:spcAft>
                <a:spcPts val="0"/>
              </a:spcAft>
            </a:pPr>
            <a:r>
              <a:rPr sz="2700" b="0" i="0">
                <a:solidFill>
                  <a:srgbClr val="1A1A1A"/>
                </a:solidFill>
                <a:latin typeface="Georgia"/>
              </a:rPr>
              <a:t>4,339</a:t>
            </a:r>
          </a:p>
        </p:txBody>
      </p:sp>
      <p:sp>
        <p:nvSpPr>
          <p:cNvPr id="13" name="TextBox 12"/>
          <p:cNvSpPr txBox="1"/>
          <p:nvPr/>
        </p:nvSpPr>
        <p:spPr>
          <a:xfrm>
            <a:off x="3674287" y="2660904"/>
            <a:ext cx="2147239" cy="274320"/>
          </a:xfrm>
          <a:prstGeom prst="rect">
            <a:avLst/>
          </a:prstGeom>
          <a:noFill/>
        </p:spPr>
        <p:txBody>
          <a:bodyPr wrap="square" anchor="t" lIns="0" rIns="0" tIns="0" bIns="0">
            <a:spAutoFit/>
          </a:bodyPr>
          <a:lstStyle/>
          <a:p>
            <a:pPr algn="l">
              <a:lnSpc>
                <a:spcPct val="125000"/>
              </a:lnSpc>
              <a:spcAft>
                <a:spcPts val="0"/>
              </a:spcAft>
            </a:pPr>
            <a:r>
              <a:rPr sz="900" b="0" i="0" spc="110">
                <a:solidFill>
                  <a:srgbClr val="6B6B6B"/>
                </a:solidFill>
                <a:latin typeface="Consolas"/>
              </a:rPr>
              <a:t>UNIQUE CUSTOMERS</a:t>
            </a:r>
          </a:p>
        </p:txBody>
      </p:sp>
      <p:sp>
        <p:nvSpPr>
          <p:cNvPr id="14" name="Rectangle 13"/>
          <p:cNvSpPr/>
          <p:nvPr/>
        </p:nvSpPr>
        <p:spPr>
          <a:xfrm>
            <a:off x="6168998" y="1965960"/>
            <a:ext cx="2549575" cy="1078992"/>
          </a:xfrm>
          <a:prstGeom prst="rect">
            <a:avLst/>
          </a:prstGeom>
          <a:solidFill>
            <a:srgbClr val="F0EC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15" name="Connector 14"/>
          <p:cNvCxnSpPr/>
          <p:nvPr/>
        </p:nvCxnSpPr>
        <p:spPr>
          <a:xfrm>
            <a:off x="6168998" y="1965960"/>
            <a:ext cx="2549575" cy="0"/>
          </a:xfrm>
          <a:prstGeom prst="line">
            <a:avLst/>
          </a:prstGeom>
          <a:ln w="28575">
            <a:solidFill>
              <a:srgbClr val="1A1A1A"/>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370166" y="2203704"/>
            <a:ext cx="2147239" cy="457200"/>
          </a:xfrm>
          <a:prstGeom prst="rect">
            <a:avLst/>
          </a:prstGeom>
          <a:noFill/>
        </p:spPr>
        <p:txBody>
          <a:bodyPr wrap="square" anchor="t" lIns="0" rIns="0" tIns="0" bIns="0">
            <a:spAutoFit/>
          </a:bodyPr>
          <a:lstStyle/>
          <a:p>
            <a:pPr algn="l">
              <a:lnSpc>
                <a:spcPct val="100000"/>
              </a:lnSpc>
              <a:spcAft>
                <a:spcPts val="0"/>
              </a:spcAft>
            </a:pPr>
            <a:r>
              <a:rPr sz="2700" b="0" i="0">
                <a:solidFill>
                  <a:srgbClr val="1A1A1A"/>
                </a:solidFill>
                <a:latin typeface="Georgia"/>
              </a:rPr>
              <a:t>3,665</a:t>
            </a:r>
          </a:p>
        </p:txBody>
      </p:sp>
      <p:sp>
        <p:nvSpPr>
          <p:cNvPr id="17" name="TextBox 16"/>
          <p:cNvSpPr txBox="1"/>
          <p:nvPr/>
        </p:nvSpPr>
        <p:spPr>
          <a:xfrm>
            <a:off x="6370166" y="2660904"/>
            <a:ext cx="2147239" cy="274320"/>
          </a:xfrm>
          <a:prstGeom prst="rect">
            <a:avLst/>
          </a:prstGeom>
          <a:noFill/>
        </p:spPr>
        <p:txBody>
          <a:bodyPr wrap="square" anchor="t" lIns="0" rIns="0" tIns="0" bIns="0">
            <a:spAutoFit/>
          </a:bodyPr>
          <a:lstStyle/>
          <a:p>
            <a:pPr algn="l">
              <a:lnSpc>
                <a:spcPct val="125000"/>
              </a:lnSpc>
              <a:spcAft>
                <a:spcPts val="0"/>
              </a:spcAft>
            </a:pPr>
            <a:r>
              <a:rPr sz="900" b="0" i="0" spc="110">
                <a:solidFill>
                  <a:srgbClr val="6B6B6B"/>
                </a:solidFill>
                <a:latin typeface="Consolas"/>
              </a:rPr>
              <a:t>DISTINCT PRODUCTS</a:t>
            </a:r>
          </a:p>
        </p:txBody>
      </p:sp>
      <p:sp>
        <p:nvSpPr>
          <p:cNvPr id="18" name="Rectangle 17"/>
          <p:cNvSpPr/>
          <p:nvPr/>
        </p:nvSpPr>
        <p:spPr>
          <a:xfrm>
            <a:off x="8864877" y="1965960"/>
            <a:ext cx="2549575" cy="1078992"/>
          </a:xfrm>
          <a:prstGeom prst="rect">
            <a:avLst/>
          </a:prstGeom>
          <a:solidFill>
            <a:srgbClr val="F0EC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19" name="Connector 18"/>
          <p:cNvCxnSpPr/>
          <p:nvPr/>
        </p:nvCxnSpPr>
        <p:spPr>
          <a:xfrm>
            <a:off x="8864877" y="1965960"/>
            <a:ext cx="2549575" cy="0"/>
          </a:xfrm>
          <a:prstGeom prst="line">
            <a:avLst/>
          </a:prstGeom>
          <a:ln w="28575">
            <a:solidFill>
              <a:srgbClr val="1A1A1A"/>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9066045" y="2203704"/>
            <a:ext cx="2147239" cy="457200"/>
          </a:xfrm>
          <a:prstGeom prst="rect">
            <a:avLst/>
          </a:prstGeom>
          <a:noFill/>
        </p:spPr>
        <p:txBody>
          <a:bodyPr wrap="square" anchor="t" lIns="0" rIns="0" tIns="0" bIns="0">
            <a:spAutoFit/>
          </a:bodyPr>
          <a:lstStyle/>
          <a:p>
            <a:pPr algn="l">
              <a:lnSpc>
                <a:spcPct val="100000"/>
              </a:lnSpc>
              <a:spcAft>
                <a:spcPts val="0"/>
              </a:spcAft>
            </a:pPr>
            <a:r>
              <a:rPr sz="2700" b="0" i="0">
                <a:solidFill>
                  <a:srgbClr val="1A1A1A"/>
                </a:solidFill>
                <a:latin typeface="Georgia"/>
              </a:rPr>
              <a:t>37</a:t>
            </a:r>
          </a:p>
        </p:txBody>
      </p:sp>
      <p:sp>
        <p:nvSpPr>
          <p:cNvPr id="21" name="TextBox 20"/>
          <p:cNvSpPr txBox="1"/>
          <p:nvPr/>
        </p:nvSpPr>
        <p:spPr>
          <a:xfrm>
            <a:off x="9066045" y="2660904"/>
            <a:ext cx="2147239" cy="274320"/>
          </a:xfrm>
          <a:prstGeom prst="rect">
            <a:avLst/>
          </a:prstGeom>
          <a:noFill/>
        </p:spPr>
        <p:txBody>
          <a:bodyPr wrap="square" anchor="t" lIns="0" rIns="0" tIns="0" bIns="0">
            <a:spAutoFit/>
          </a:bodyPr>
          <a:lstStyle/>
          <a:p>
            <a:pPr algn="l">
              <a:lnSpc>
                <a:spcPct val="125000"/>
              </a:lnSpc>
              <a:spcAft>
                <a:spcPts val="0"/>
              </a:spcAft>
            </a:pPr>
            <a:r>
              <a:rPr sz="900" b="0" i="0" spc="110">
                <a:solidFill>
                  <a:srgbClr val="6B6B6B"/>
                </a:solidFill>
                <a:latin typeface="Consolas"/>
              </a:rPr>
              <a:t>COUNTRIES</a:t>
            </a:r>
          </a:p>
        </p:txBody>
      </p:sp>
      <p:sp>
        <p:nvSpPr>
          <p:cNvPr id="22" name="TextBox 21"/>
          <p:cNvSpPr txBox="1"/>
          <p:nvPr/>
        </p:nvSpPr>
        <p:spPr>
          <a:xfrm>
            <a:off x="777240" y="3429000"/>
            <a:ext cx="5943600" cy="365760"/>
          </a:xfrm>
          <a:prstGeom prst="rect">
            <a:avLst/>
          </a:prstGeom>
          <a:noFill/>
        </p:spPr>
        <p:txBody>
          <a:bodyPr wrap="square" lIns="0" rIns="0" tIns="0" bIns="0">
            <a:spAutoFit/>
          </a:bodyPr>
          <a:lstStyle/>
          <a:p>
            <a:pPr>
              <a:lnSpc>
                <a:spcPct val="130000"/>
              </a:lnSpc>
              <a:spcAft>
                <a:spcPts val="800"/>
              </a:spcAft>
            </a:pPr>
            <a:r>
              <a:rPr sz="1350" b="1">
                <a:solidFill>
                  <a:srgbClr val="B45309"/>
                </a:solidFill>
                <a:latin typeface="Calibri"/>
              </a:rPr>
              <a:t>— </a:t>
            </a:r>
            <a:r>
              <a:rPr sz="1350" b="1">
                <a:solidFill>
                  <a:srgbClr val="1A1A1A"/>
                </a:solidFill>
                <a:latin typeface="Calibri"/>
              </a:rPr>
              <a:t>Source. </a:t>
            </a:r>
            <a:r>
              <a:rPr sz="1350">
                <a:solidFill>
                  <a:srgbClr val="1A1A1A"/>
                </a:solidFill>
                <a:latin typeface="Calibri"/>
              </a:rPr>
              <a:t>UCI Machine Learning Repository — a genuine transaction log from a UK-based online gift retailer, not synthetic data.</a:t>
            </a:r>
          </a:p>
          <a:p>
            <a:pPr>
              <a:lnSpc>
                <a:spcPct val="130000"/>
              </a:lnSpc>
              <a:spcAft>
                <a:spcPts val="800"/>
              </a:spcAft>
            </a:pPr>
            <a:r>
              <a:rPr sz="1350" b="1">
                <a:solidFill>
                  <a:srgbClr val="B45309"/>
                </a:solidFill>
                <a:latin typeface="Calibri"/>
              </a:rPr>
              <a:t>— </a:t>
            </a:r>
            <a:r>
              <a:rPr sz="1350" b="1">
                <a:solidFill>
                  <a:srgbClr val="1A1A1A"/>
                </a:solidFill>
                <a:latin typeface="Calibri"/>
              </a:rPr>
              <a:t>Grain. </a:t>
            </a:r>
            <a:r>
              <a:rPr sz="1350">
                <a:solidFill>
                  <a:srgbClr val="1A1A1A"/>
                </a:solidFill>
                <a:latin typeface="Calibri"/>
              </a:rPr>
              <a:t>One row per line-item on an invoice: invoice number, product code and description, quantity, timestamp, unit price, customer ID and country.</a:t>
            </a:r>
          </a:p>
          <a:p>
            <a:pPr>
              <a:lnSpc>
                <a:spcPct val="130000"/>
              </a:lnSpc>
              <a:spcAft>
                <a:spcPts val="800"/>
              </a:spcAft>
            </a:pPr>
            <a:r>
              <a:rPr sz="1350" b="1">
                <a:solidFill>
                  <a:srgbClr val="B45309"/>
                </a:solidFill>
                <a:latin typeface="Calibri"/>
              </a:rPr>
              <a:t>— </a:t>
            </a:r>
            <a:r>
              <a:rPr sz="1350" b="1">
                <a:solidFill>
                  <a:srgbClr val="1A1A1A"/>
                </a:solidFill>
                <a:latin typeface="Calibri"/>
              </a:rPr>
              <a:t>Window. </a:t>
            </a:r>
            <a:r>
              <a:rPr sz="1350">
                <a:solidFill>
                  <a:srgbClr val="1A1A1A"/>
                </a:solidFill>
                <a:latin typeface="Calibri"/>
              </a:rPr>
              <a:t>16 Jul 2025 – 24 Jul 2026. Roughly twelve months, which is long enough for recency and repeat-purchase behaviour to be meaningful.</a:t>
            </a:r>
          </a:p>
          <a:p>
            <a:pPr>
              <a:lnSpc>
                <a:spcPct val="130000"/>
              </a:lnSpc>
              <a:spcAft>
                <a:spcPts val="800"/>
              </a:spcAft>
            </a:pPr>
            <a:r>
              <a:rPr sz="1350" b="1">
                <a:solidFill>
                  <a:srgbClr val="B45309"/>
                </a:solidFill>
                <a:latin typeface="Calibri"/>
              </a:rPr>
              <a:t>— </a:t>
            </a:r>
            <a:r>
              <a:rPr sz="1350" b="1">
                <a:solidFill>
                  <a:srgbClr val="1A1A1A"/>
                </a:solidFill>
                <a:latin typeface="Calibri"/>
              </a:rPr>
              <a:t>Note on dates. </a:t>
            </a:r>
            <a:r>
              <a:rPr sz="1350">
                <a:solidFill>
                  <a:srgbClr val="1A1A1A"/>
                </a:solidFill>
                <a:latin typeface="Calibri"/>
              </a:rPr>
              <a:t>The original dataset covers Dec 2010 – Dec 2011. We shifted the window forward so the live demo reacts to present-day activity; intervals between purchases are untouched.</a:t>
            </a:r>
          </a:p>
        </p:txBody>
      </p:sp>
      <p:sp>
        <p:nvSpPr>
          <p:cNvPr id="23" name="Rectangle 22"/>
          <p:cNvSpPr/>
          <p:nvPr/>
        </p:nvSpPr>
        <p:spPr>
          <a:xfrm>
            <a:off x="7178040" y="3429000"/>
            <a:ext cx="4206240" cy="2606040"/>
          </a:xfrm>
          <a:prstGeom prst="rect">
            <a:avLst/>
          </a:prstGeom>
          <a:solidFill>
            <a:srgbClr val="F0EC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7434072" y="3639312"/>
            <a:ext cx="3657600" cy="274320"/>
          </a:xfrm>
          <a:prstGeom prst="rect">
            <a:avLst/>
          </a:prstGeom>
          <a:noFill/>
        </p:spPr>
        <p:txBody>
          <a:bodyPr wrap="square" anchor="t" lIns="0" rIns="0" tIns="0" bIns="0">
            <a:spAutoFit/>
          </a:bodyPr>
          <a:lstStyle/>
          <a:p>
            <a:pPr algn="l">
              <a:lnSpc>
                <a:spcPct val="125000"/>
              </a:lnSpc>
              <a:spcAft>
                <a:spcPts val="0"/>
              </a:spcAft>
            </a:pPr>
            <a:r>
              <a:rPr sz="950" b="0" i="0" spc="140">
                <a:solidFill>
                  <a:srgbClr val="6B6B6B"/>
                </a:solidFill>
                <a:latin typeface="Consolas"/>
              </a:rPr>
              <a:t>SCHEMA</a:t>
            </a:r>
          </a:p>
        </p:txBody>
      </p:sp>
      <p:sp>
        <p:nvSpPr>
          <p:cNvPr id="25" name="TextBox 24"/>
          <p:cNvSpPr txBox="1"/>
          <p:nvPr/>
        </p:nvSpPr>
        <p:spPr>
          <a:xfrm>
            <a:off x="7434072" y="3977639"/>
            <a:ext cx="3749039" cy="1737360"/>
          </a:xfrm>
          <a:prstGeom prst="rect">
            <a:avLst/>
          </a:prstGeom>
          <a:noFill/>
        </p:spPr>
        <p:txBody>
          <a:bodyPr wrap="square" anchor="t" lIns="0" rIns="0" tIns="0" bIns="0">
            <a:spAutoFit/>
          </a:bodyPr>
          <a:lstStyle/>
          <a:p>
            <a:pPr algn="l">
              <a:lnSpc>
                <a:spcPct val="150000"/>
              </a:lnSpc>
              <a:spcAft>
                <a:spcPts val="0"/>
              </a:spcAft>
            </a:pPr>
            <a:r>
              <a:rPr sz="1050" b="0" i="0">
                <a:solidFill>
                  <a:srgbClr val="1A1A1A"/>
                </a:solidFill>
                <a:latin typeface="Consolas"/>
              </a:rPr>
              <a:t>InvoiceNo      transaction id</a:t>
            </a:r>
          </a:p>
          <a:p>
            <a:pPr algn="l">
              <a:lnSpc>
                <a:spcPct val="150000"/>
              </a:lnSpc>
              <a:spcAft>
                <a:spcPts val="0"/>
              </a:spcAft>
            </a:pPr>
            <a:r>
              <a:rPr sz="1050" b="0" i="0">
                <a:solidFill>
                  <a:srgbClr val="1A1A1A"/>
                </a:solidFill>
                <a:latin typeface="Consolas"/>
              </a:rPr>
              <a:t>StockCode      product id</a:t>
            </a:r>
          </a:p>
          <a:p>
            <a:pPr algn="l">
              <a:lnSpc>
                <a:spcPct val="150000"/>
              </a:lnSpc>
              <a:spcAft>
                <a:spcPts val="0"/>
              </a:spcAft>
            </a:pPr>
            <a:r>
              <a:rPr sz="1050" b="0" i="0">
                <a:solidFill>
                  <a:srgbClr val="1A1A1A"/>
                </a:solidFill>
                <a:latin typeface="Consolas"/>
              </a:rPr>
              <a:t>Description    product name</a:t>
            </a:r>
          </a:p>
          <a:p>
            <a:pPr algn="l">
              <a:lnSpc>
                <a:spcPct val="150000"/>
              </a:lnSpc>
              <a:spcAft>
                <a:spcPts val="0"/>
              </a:spcAft>
            </a:pPr>
            <a:r>
              <a:rPr sz="1050" b="0" i="0">
                <a:solidFill>
                  <a:srgbClr val="1A1A1A"/>
                </a:solidFill>
                <a:latin typeface="Consolas"/>
              </a:rPr>
              <a:t>Quantity       units bought</a:t>
            </a:r>
          </a:p>
          <a:p>
            <a:pPr algn="l">
              <a:lnSpc>
                <a:spcPct val="150000"/>
              </a:lnSpc>
              <a:spcAft>
                <a:spcPts val="0"/>
              </a:spcAft>
            </a:pPr>
            <a:r>
              <a:rPr sz="1050" b="0" i="0">
                <a:solidFill>
                  <a:srgbClr val="1A1A1A"/>
                </a:solidFill>
                <a:latin typeface="Consolas"/>
              </a:rPr>
              <a:t>InvoiceDate    timestamp</a:t>
            </a:r>
          </a:p>
          <a:p>
            <a:pPr algn="l">
              <a:lnSpc>
                <a:spcPct val="150000"/>
              </a:lnSpc>
              <a:spcAft>
                <a:spcPts val="0"/>
              </a:spcAft>
            </a:pPr>
            <a:r>
              <a:rPr sz="1050" b="0" i="0">
                <a:solidFill>
                  <a:srgbClr val="1A1A1A"/>
                </a:solidFill>
                <a:latin typeface="Consolas"/>
              </a:rPr>
              <a:t>UnitPrice      price per unit</a:t>
            </a:r>
          </a:p>
          <a:p>
            <a:pPr algn="l">
              <a:lnSpc>
                <a:spcPct val="150000"/>
              </a:lnSpc>
              <a:spcAft>
                <a:spcPts val="0"/>
              </a:spcAft>
            </a:pPr>
            <a:r>
              <a:rPr sz="1050" b="0" i="0">
                <a:solidFill>
                  <a:srgbClr val="1A1A1A"/>
                </a:solidFill>
                <a:latin typeface="Consolas"/>
              </a:rPr>
              <a:t>CustomerID     customer id</a:t>
            </a:r>
          </a:p>
          <a:p>
            <a:pPr algn="l">
              <a:lnSpc>
                <a:spcPct val="150000"/>
              </a:lnSpc>
              <a:spcAft>
                <a:spcPts val="0"/>
              </a:spcAft>
            </a:pPr>
            <a:r>
              <a:rPr sz="1050" b="0" i="0">
                <a:solidFill>
                  <a:srgbClr val="1A1A1A"/>
                </a:solidFill>
                <a:latin typeface="Consolas"/>
              </a:rPr>
              <a:t>Country        billing country</a:t>
            </a:r>
          </a:p>
        </p:txBody>
      </p:sp>
      <p:cxnSp>
        <p:nvCxnSpPr>
          <p:cNvPr id="26" name="Connector 25"/>
          <p:cNvCxnSpPr/>
          <p:nvPr/>
        </p:nvCxnSpPr>
        <p:spPr>
          <a:xfrm>
            <a:off x="777240" y="6291072"/>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77240" y="6400800"/>
            <a:ext cx="6400800" cy="228600"/>
          </a:xfrm>
          <a:prstGeom prst="rect">
            <a:avLst/>
          </a:prstGeom>
          <a:noFill/>
        </p:spPr>
        <p:txBody>
          <a:bodyPr wrap="square" anchor="t" lIns="0" rIns="0" tIns="0" bIns="0">
            <a:spAutoFit/>
          </a:bodyPr>
          <a:lstStyle/>
          <a:p>
            <a:pPr algn="l">
              <a:lnSpc>
                <a:spcPct val="125000"/>
              </a:lnSpc>
              <a:spcAft>
                <a:spcPts val="0"/>
              </a:spcAft>
            </a:pPr>
            <a:r>
              <a:rPr sz="850" b="0" i="0" spc="120">
                <a:solidFill>
                  <a:srgbClr val="6B6B6B"/>
                </a:solidFill>
                <a:latin typeface="Consolas"/>
              </a:rPr>
              <a:t>CUSTOMER SEGMENTATION FOR TARGETED E-COMMERCE MARKETING</a:t>
            </a:r>
          </a:p>
        </p:txBody>
      </p:sp>
      <p:sp>
        <p:nvSpPr>
          <p:cNvPr id="28" name="TextBox 27"/>
          <p:cNvSpPr txBox="1"/>
          <p:nvPr/>
        </p:nvSpPr>
        <p:spPr>
          <a:xfrm>
            <a:off x="9585655" y="6400800"/>
            <a:ext cx="1828800" cy="228600"/>
          </a:xfrm>
          <a:prstGeom prst="rect">
            <a:avLst/>
          </a:prstGeom>
          <a:noFill/>
        </p:spPr>
        <p:txBody>
          <a:bodyPr wrap="square" anchor="t" lIns="0" rIns="0" tIns="0" bIns="0">
            <a:spAutoFit/>
          </a:bodyPr>
          <a:lstStyle/>
          <a:p>
            <a:pPr algn="r">
              <a:lnSpc>
                <a:spcPct val="125000"/>
              </a:lnSpc>
              <a:spcAft>
                <a:spcPts val="0"/>
              </a:spcAft>
            </a:pPr>
            <a:r>
              <a:rPr sz="850" b="0" i="0" spc="120">
                <a:solidFill>
                  <a:srgbClr val="6B6B6B"/>
                </a:solidFill>
                <a:latin typeface="Consolas"/>
              </a:rPr>
              <a:t>05 / 27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77240" y="566928"/>
            <a:ext cx="10637215" cy="274320"/>
          </a:xfrm>
          <a:prstGeom prst="rect">
            <a:avLst/>
          </a:prstGeom>
          <a:noFill/>
        </p:spPr>
        <p:txBody>
          <a:bodyPr wrap="none" lIns="0" rIns="0" tIns="0" bIns="0">
            <a:spAutoFit/>
          </a:bodyPr>
          <a:lstStyle/>
          <a:p>
            <a:r>
              <a:rPr sz="1050" b="1" spc="200">
                <a:solidFill>
                  <a:srgbClr val="B45309"/>
                </a:solidFill>
                <a:latin typeface="Consolas"/>
              </a:rPr>
              <a:t>02  </a:t>
            </a:r>
            <a:r>
              <a:rPr sz="1050" spc="200">
                <a:solidFill>
                  <a:srgbClr val="6B6B6B"/>
                </a:solidFill>
                <a:latin typeface="Consolas"/>
              </a:rPr>
              <a:t>PREPROCESSING</a:t>
            </a:r>
            <a:r>
              <a:rPr sz="1050" spc="200">
                <a:solidFill>
                  <a:srgbClr val="6B6B6B"/>
                </a:solidFill>
                <a:latin typeface="Consolas"/>
              </a:rPr>
              <a:t>   ·   541,909 → 397,924 ROWS</a:t>
            </a:r>
          </a:p>
        </p:txBody>
      </p:sp>
      <p:sp>
        <p:nvSpPr>
          <p:cNvPr id="4" name="TextBox 3"/>
          <p:cNvSpPr txBox="1"/>
          <p:nvPr/>
        </p:nvSpPr>
        <p:spPr>
          <a:xfrm>
            <a:off x="777240" y="932688"/>
            <a:ext cx="10637215" cy="685800"/>
          </a:xfrm>
          <a:prstGeom prst="rect">
            <a:avLst/>
          </a:prstGeom>
          <a:noFill/>
        </p:spPr>
        <p:txBody>
          <a:bodyPr wrap="square" anchor="t" lIns="0" rIns="0" tIns="0" bIns="0">
            <a:spAutoFit/>
          </a:bodyPr>
          <a:lstStyle/>
          <a:p>
            <a:pPr algn="l">
              <a:lnSpc>
                <a:spcPct val="100000"/>
              </a:lnSpc>
              <a:spcAft>
                <a:spcPts val="0"/>
              </a:spcAft>
            </a:pPr>
            <a:r>
              <a:rPr sz="3200" b="0" i="0">
                <a:solidFill>
                  <a:srgbClr val="1A1A1A"/>
                </a:solidFill>
                <a:latin typeface="Georgia"/>
              </a:rPr>
              <a:t>Cleaning the transaction log</a:t>
            </a:r>
          </a:p>
        </p:txBody>
      </p:sp>
      <p:cxnSp>
        <p:nvCxnSpPr>
          <p:cNvPr id="5" name="Connector 4"/>
          <p:cNvCxnSpPr/>
          <p:nvPr/>
        </p:nvCxnSpPr>
        <p:spPr>
          <a:xfrm>
            <a:off x="777240" y="1664208"/>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2011680"/>
            <a:ext cx="384048" cy="384048"/>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77240" y="2093976"/>
            <a:ext cx="384048" cy="274320"/>
          </a:xfrm>
          <a:prstGeom prst="rect">
            <a:avLst/>
          </a:prstGeom>
          <a:noFill/>
        </p:spPr>
        <p:txBody>
          <a:bodyPr wrap="square" anchor="t" lIns="0" rIns="0" tIns="0" bIns="0">
            <a:spAutoFit/>
          </a:bodyPr>
          <a:lstStyle/>
          <a:p>
            <a:pPr algn="ctr">
              <a:lnSpc>
                <a:spcPct val="125000"/>
              </a:lnSpc>
              <a:spcAft>
                <a:spcPts val="0"/>
              </a:spcAft>
            </a:pPr>
            <a:r>
              <a:rPr sz="1300" b="1" i="0">
                <a:solidFill>
                  <a:srgbClr val="FAF8F4"/>
                </a:solidFill>
                <a:latin typeface="Consolas"/>
              </a:rPr>
              <a:t>1</a:t>
            </a:r>
          </a:p>
        </p:txBody>
      </p:sp>
      <p:sp>
        <p:nvSpPr>
          <p:cNvPr id="8" name="TextBox 7"/>
          <p:cNvSpPr txBox="1"/>
          <p:nvPr/>
        </p:nvSpPr>
        <p:spPr>
          <a:xfrm>
            <a:off x="1371600" y="2002536"/>
            <a:ext cx="3474720" cy="365760"/>
          </a:xfrm>
          <a:prstGeom prst="rect">
            <a:avLst/>
          </a:prstGeom>
          <a:noFill/>
        </p:spPr>
        <p:txBody>
          <a:bodyPr wrap="square" anchor="t" lIns="0" rIns="0" tIns="0" bIns="0">
            <a:spAutoFit/>
          </a:bodyPr>
          <a:lstStyle/>
          <a:p>
            <a:pPr algn="l">
              <a:lnSpc>
                <a:spcPct val="125000"/>
              </a:lnSpc>
              <a:spcAft>
                <a:spcPts val="0"/>
              </a:spcAft>
            </a:pPr>
            <a:r>
              <a:rPr sz="1600" b="0" i="0">
                <a:solidFill>
                  <a:srgbClr val="1A1A1A"/>
                </a:solidFill>
                <a:latin typeface="Georgia"/>
              </a:rPr>
              <a:t>Drop null CustomerID</a:t>
            </a:r>
          </a:p>
        </p:txBody>
      </p:sp>
      <p:sp>
        <p:nvSpPr>
          <p:cNvPr id="9" name="TextBox 8"/>
          <p:cNvSpPr txBox="1"/>
          <p:nvPr/>
        </p:nvSpPr>
        <p:spPr>
          <a:xfrm>
            <a:off x="1371600" y="2340864"/>
            <a:ext cx="3474720" cy="274320"/>
          </a:xfrm>
          <a:prstGeom prst="rect">
            <a:avLst/>
          </a:prstGeom>
          <a:noFill/>
        </p:spPr>
        <p:txBody>
          <a:bodyPr wrap="square" anchor="t" lIns="0" rIns="0" tIns="0" bIns="0">
            <a:spAutoFit/>
          </a:bodyPr>
          <a:lstStyle/>
          <a:p>
            <a:pPr algn="l">
              <a:lnSpc>
                <a:spcPct val="125000"/>
              </a:lnSpc>
              <a:spcAft>
                <a:spcPts val="0"/>
              </a:spcAft>
            </a:pPr>
            <a:r>
              <a:rPr sz="1000" b="0" i="0" spc="110">
                <a:solidFill>
                  <a:srgbClr val="B45309"/>
                </a:solidFill>
                <a:latin typeface="Consolas"/>
              </a:rPr>
              <a:t>−135,080 ROWS</a:t>
            </a:r>
          </a:p>
        </p:txBody>
      </p:sp>
      <p:sp>
        <p:nvSpPr>
          <p:cNvPr id="10" name="TextBox 9"/>
          <p:cNvSpPr txBox="1"/>
          <p:nvPr/>
        </p:nvSpPr>
        <p:spPr>
          <a:xfrm>
            <a:off x="5120640" y="2029968"/>
            <a:ext cx="6217920" cy="640080"/>
          </a:xfrm>
          <a:prstGeom prst="rect">
            <a:avLst/>
          </a:prstGeom>
          <a:noFill/>
        </p:spPr>
        <p:txBody>
          <a:bodyPr wrap="square" anchor="t" lIns="0" rIns="0" tIns="0" bIns="0">
            <a:spAutoFit/>
          </a:bodyPr>
          <a:lstStyle/>
          <a:p>
            <a:pPr algn="l">
              <a:lnSpc>
                <a:spcPct val="130000"/>
              </a:lnSpc>
              <a:spcAft>
                <a:spcPts val="0"/>
              </a:spcAft>
            </a:pPr>
            <a:r>
              <a:rPr sz="1250" b="0" i="0">
                <a:solidFill>
                  <a:srgbClr val="6B6B6B"/>
                </a:solidFill>
                <a:latin typeface="Calibri"/>
              </a:rPr>
              <a:t>Guest checkouts with no customer identifier. Behaviour cannot be attributed to a person, so they cannot enter a per-customer model.</a:t>
            </a:r>
          </a:p>
        </p:txBody>
      </p:sp>
      <p:cxnSp>
        <p:nvCxnSpPr>
          <p:cNvPr id="11" name="Connector 10"/>
          <p:cNvCxnSpPr/>
          <p:nvPr/>
        </p:nvCxnSpPr>
        <p:spPr>
          <a:xfrm>
            <a:off x="777240" y="2761488"/>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777240" y="2944368"/>
            <a:ext cx="384048" cy="384048"/>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777240" y="3026664"/>
            <a:ext cx="384048" cy="274320"/>
          </a:xfrm>
          <a:prstGeom prst="rect">
            <a:avLst/>
          </a:prstGeom>
          <a:noFill/>
        </p:spPr>
        <p:txBody>
          <a:bodyPr wrap="square" anchor="t" lIns="0" rIns="0" tIns="0" bIns="0">
            <a:spAutoFit/>
          </a:bodyPr>
          <a:lstStyle/>
          <a:p>
            <a:pPr algn="ctr">
              <a:lnSpc>
                <a:spcPct val="125000"/>
              </a:lnSpc>
              <a:spcAft>
                <a:spcPts val="0"/>
              </a:spcAft>
            </a:pPr>
            <a:r>
              <a:rPr sz="1300" b="1" i="0">
                <a:solidFill>
                  <a:srgbClr val="FAF8F4"/>
                </a:solidFill>
                <a:latin typeface="Consolas"/>
              </a:rPr>
              <a:t>2</a:t>
            </a:r>
          </a:p>
        </p:txBody>
      </p:sp>
      <p:sp>
        <p:nvSpPr>
          <p:cNvPr id="14" name="TextBox 13"/>
          <p:cNvSpPr txBox="1"/>
          <p:nvPr/>
        </p:nvSpPr>
        <p:spPr>
          <a:xfrm>
            <a:off x="1371600" y="2935224"/>
            <a:ext cx="3474720" cy="365760"/>
          </a:xfrm>
          <a:prstGeom prst="rect">
            <a:avLst/>
          </a:prstGeom>
          <a:noFill/>
        </p:spPr>
        <p:txBody>
          <a:bodyPr wrap="square" anchor="t" lIns="0" rIns="0" tIns="0" bIns="0">
            <a:spAutoFit/>
          </a:bodyPr>
          <a:lstStyle/>
          <a:p>
            <a:pPr algn="l">
              <a:lnSpc>
                <a:spcPct val="125000"/>
              </a:lnSpc>
              <a:spcAft>
                <a:spcPts val="0"/>
              </a:spcAft>
            </a:pPr>
            <a:r>
              <a:rPr sz="1600" b="0" i="0">
                <a:solidFill>
                  <a:srgbClr val="1A1A1A"/>
                </a:solidFill>
                <a:latin typeface="Georgia"/>
              </a:rPr>
              <a:t>Remove returns &amp; cancellations</a:t>
            </a:r>
          </a:p>
        </p:txBody>
      </p:sp>
      <p:sp>
        <p:nvSpPr>
          <p:cNvPr id="15" name="TextBox 14"/>
          <p:cNvSpPr txBox="1"/>
          <p:nvPr/>
        </p:nvSpPr>
        <p:spPr>
          <a:xfrm>
            <a:off x="1371600" y="3273552"/>
            <a:ext cx="3474720" cy="274320"/>
          </a:xfrm>
          <a:prstGeom prst="rect">
            <a:avLst/>
          </a:prstGeom>
          <a:noFill/>
        </p:spPr>
        <p:txBody>
          <a:bodyPr wrap="square" anchor="t" lIns="0" rIns="0" tIns="0" bIns="0">
            <a:spAutoFit/>
          </a:bodyPr>
          <a:lstStyle/>
          <a:p>
            <a:pPr algn="l">
              <a:lnSpc>
                <a:spcPct val="125000"/>
              </a:lnSpc>
              <a:spcAft>
                <a:spcPts val="0"/>
              </a:spcAft>
            </a:pPr>
            <a:r>
              <a:rPr sz="1000" b="0" i="0" spc="110">
                <a:solidFill>
                  <a:srgbClr val="B45309"/>
                </a:solidFill>
                <a:latin typeface="Consolas"/>
              </a:rPr>
              <a:t>−10,624 ROWS</a:t>
            </a:r>
          </a:p>
        </p:txBody>
      </p:sp>
      <p:sp>
        <p:nvSpPr>
          <p:cNvPr id="16" name="TextBox 15"/>
          <p:cNvSpPr txBox="1"/>
          <p:nvPr/>
        </p:nvSpPr>
        <p:spPr>
          <a:xfrm>
            <a:off x="5120640" y="2962656"/>
            <a:ext cx="6217920" cy="640080"/>
          </a:xfrm>
          <a:prstGeom prst="rect">
            <a:avLst/>
          </a:prstGeom>
          <a:noFill/>
        </p:spPr>
        <p:txBody>
          <a:bodyPr wrap="square" anchor="t" lIns="0" rIns="0" tIns="0" bIns="0">
            <a:spAutoFit/>
          </a:bodyPr>
          <a:lstStyle/>
          <a:p>
            <a:pPr algn="l">
              <a:lnSpc>
                <a:spcPct val="130000"/>
              </a:lnSpc>
              <a:spcAft>
                <a:spcPts val="0"/>
              </a:spcAft>
            </a:pPr>
            <a:r>
              <a:rPr sz="1250" b="0" i="0">
                <a:solidFill>
                  <a:srgbClr val="6B6B6B"/>
                </a:solidFill>
                <a:latin typeface="Calibri"/>
              </a:rPr>
              <a:t>Rows with Quantity ≤ 0 are refunds. They are not purchase behaviour and would distort both frequency and monetary value.</a:t>
            </a:r>
          </a:p>
        </p:txBody>
      </p:sp>
      <p:cxnSp>
        <p:nvCxnSpPr>
          <p:cNvPr id="17" name="Connector 16"/>
          <p:cNvCxnSpPr/>
          <p:nvPr/>
        </p:nvCxnSpPr>
        <p:spPr>
          <a:xfrm>
            <a:off x="777240" y="3694176"/>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3877056"/>
            <a:ext cx="384048" cy="384048"/>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777240" y="3959352"/>
            <a:ext cx="384048" cy="274320"/>
          </a:xfrm>
          <a:prstGeom prst="rect">
            <a:avLst/>
          </a:prstGeom>
          <a:noFill/>
        </p:spPr>
        <p:txBody>
          <a:bodyPr wrap="square" anchor="t" lIns="0" rIns="0" tIns="0" bIns="0">
            <a:spAutoFit/>
          </a:bodyPr>
          <a:lstStyle/>
          <a:p>
            <a:pPr algn="ctr">
              <a:lnSpc>
                <a:spcPct val="125000"/>
              </a:lnSpc>
              <a:spcAft>
                <a:spcPts val="0"/>
              </a:spcAft>
            </a:pPr>
            <a:r>
              <a:rPr sz="1300" b="1" i="0">
                <a:solidFill>
                  <a:srgbClr val="FAF8F4"/>
                </a:solidFill>
                <a:latin typeface="Consolas"/>
              </a:rPr>
              <a:t>3</a:t>
            </a:r>
          </a:p>
        </p:txBody>
      </p:sp>
      <p:sp>
        <p:nvSpPr>
          <p:cNvPr id="20" name="TextBox 19"/>
          <p:cNvSpPr txBox="1"/>
          <p:nvPr/>
        </p:nvSpPr>
        <p:spPr>
          <a:xfrm>
            <a:off x="1371600" y="3867912"/>
            <a:ext cx="3474720" cy="365760"/>
          </a:xfrm>
          <a:prstGeom prst="rect">
            <a:avLst/>
          </a:prstGeom>
          <a:noFill/>
        </p:spPr>
        <p:txBody>
          <a:bodyPr wrap="square" anchor="t" lIns="0" rIns="0" tIns="0" bIns="0">
            <a:spAutoFit/>
          </a:bodyPr>
          <a:lstStyle/>
          <a:p>
            <a:pPr algn="l">
              <a:lnSpc>
                <a:spcPct val="125000"/>
              </a:lnSpc>
              <a:spcAft>
                <a:spcPts val="0"/>
              </a:spcAft>
            </a:pPr>
            <a:r>
              <a:rPr sz="1600" b="0" i="0">
                <a:solidFill>
                  <a:srgbClr val="1A1A1A"/>
                </a:solidFill>
                <a:latin typeface="Georgia"/>
              </a:rPr>
              <a:t>Parse InvoiceDate to datetime</a:t>
            </a:r>
          </a:p>
        </p:txBody>
      </p:sp>
      <p:sp>
        <p:nvSpPr>
          <p:cNvPr id="21" name="TextBox 20"/>
          <p:cNvSpPr txBox="1"/>
          <p:nvPr/>
        </p:nvSpPr>
        <p:spPr>
          <a:xfrm>
            <a:off x="1371600" y="4206240"/>
            <a:ext cx="3474720" cy="274320"/>
          </a:xfrm>
          <a:prstGeom prst="rect">
            <a:avLst/>
          </a:prstGeom>
          <a:noFill/>
        </p:spPr>
        <p:txBody>
          <a:bodyPr wrap="square" anchor="t" lIns="0" rIns="0" tIns="0" bIns="0">
            <a:spAutoFit/>
          </a:bodyPr>
          <a:lstStyle/>
          <a:p>
            <a:pPr algn="l">
              <a:lnSpc>
                <a:spcPct val="125000"/>
              </a:lnSpc>
              <a:spcAft>
                <a:spcPts val="0"/>
              </a:spcAft>
            </a:pPr>
            <a:r>
              <a:rPr sz="1000" b="0" i="0" spc="110">
                <a:solidFill>
                  <a:srgbClr val="B45309"/>
                </a:solidFill>
                <a:latin typeface="Consolas"/>
              </a:rPr>
              <a:t>TYPE FIX</a:t>
            </a:r>
          </a:p>
        </p:txBody>
      </p:sp>
      <p:sp>
        <p:nvSpPr>
          <p:cNvPr id="22" name="TextBox 21"/>
          <p:cNvSpPr txBox="1"/>
          <p:nvPr/>
        </p:nvSpPr>
        <p:spPr>
          <a:xfrm>
            <a:off x="5120640" y="3895344"/>
            <a:ext cx="6217920" cy="640080"/>
          </a:xfrm>
          <a:prstGeom prst="rect">
            <a:avLst/>
          </a:prstGeom>
          <a:noFill/>
        </p:spPr>
        <p:txBody>
          <a:bodyPr wrap="square" anchor="t" lIns="0" rIns="0" tIns="0" bIns="0">
            <a:spAutoFit/>
          </a:bodyPr>
          <a:lstStyle/>
          <a:p>
            <a:pPr algn="l">
              <a:lnSpc>
                <a:spcPct val="130000"/>
              </a:lnSpc>
              <a:spcAft>
                <a:spcPts val="0"/>
              </a:spcAft>
            </a:pPr>
            <a:r>
              <a:rPr sz="1250" b="0" i="0">
                <a:solidFill>
                  <a:srgbClr val="6B6B6B"/>
                </a:solidFill>
                <a:latin typeface="Calibri"/>
              </a:rPr>
              <a:t>Required before any recency arithmetic — without it, dates are strings and date differences are impossible.</a:t>
            </a:r>
          </a:p>
        </p:txBody>
      </p:sp>
      <p:cxnSp>
        <p:nvCxnSpPr>
          <p:cNvPr id="23" name="Connector 22"/>
          <p:cNvCxnSpPr/>
          <p:nvPr/>
        </p:nvCxnSpPr>
        <p:spPr>
          <a:xfrm>
            <a:off x="777240" y="4626864"/>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777240" y="4809744"/>
            <a:ext cx="384048" cy="384048"/>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777240" y="4892040"/>
            <a:ext cx="384048" cy="274320"/>
          </a:xfrm>
          <a:prstGeom prst="rect">
            <a:avLst/>
          </a:prstGeom>
          <a:noFill/>
        </p:spPr>
        <p:txBody>
          <a:bodyPr wrap="square" anchor="t" lIns="0" rIns="0" tIns="0" bIns="0">
            <a:spAutoFit/>
          </a:bodyPr>
          <a:lstStyle/>
          <a:p>
            <a:pPr algn="ctr">
              <a:lnSpc>
                <a:spcPct val="125000"/>
              </a:lnSpc>
              <a:spcAft>
                <a:spcPts val="0"/>
              </a:spcAft>
            </a:pPr>
            <a:r>
              <a:rPr sz="1300" b="1" i="0">
                <a:solidFill>
                  <a:srgbClr val="FAF8F4"/>
                </a:solidFill>
                <a:latin typeface="Consolas"/>
              </a:rPr>
              <a:t>4</a:t>
            </a:r>
          </a:p>
        </p:txBody>
      </p:sp>
      <p:sp>
        <p:nvSpPr>
          <p:cNvPr id="26" name="TextBox 25"/>
          <p:cNvSpPr txBox="1"/>
          <p:nvPr/>
        </p:nvSpPr>
        <p:spPr>
          <a:xfrm>
            <a:off x="1371600" y="4800600"/>
            <a:ext cx="3474720" cy="365760"/>
          </a:xfrm>
          <a:prstGeom prst="rect">
            <a:avLst/>
          </a:prstGeom>
          <a:noFill/>
        </p:spPr>
        <p:txBody>
          <a:bodyPr wrap="square" anchor="t" lIns="0" rIns="0" tIns="0" bIns="0">
            <a:spAutoFit/>
          </a:bodyPr>
          <a:lstStyle/>
          <a:p>
            <a:pPr algn="l">
              <a:lnSpc>
                <a:spcPct val="125000"/>
              </a:lnSpc>
              <a:spcAft>
                <a:spcPts val="0"/>
              </a:spcAft>
            </a:pPr>
            <a:r>
              <a:rPr sz="1600" b="0" i="0">
                <a:solidFill>
                  <a:srgbClr val="1A1A1A"/>
                </a:solidFill>
                <a:latin typeface="Georgia"/>
              </a:rPr>
              <a:t>Derive TotalPrice</a:t>
            </a:r>
          </a:p>
        </p:txBody>
      </p:sp>
      <p:sp>
        <p:nvSpPr>
          <p:cNvPr id="27" name="TextBox 26"/>
          <p:cNvSpPr txBox="1"/>
          <p:nvPr/>
        </p:nvSpPr>
        <p:spPr>
          <a:xfrm>
            <a:off x="1371600" y="5138928"/>
            <a:ext cx="3474720" cy="274320"/>
          </a:xfrm>
          <a:prstGeom prst="rect">
            <a:avLst/>
          </a:prstGeom>
          <a:noFill/>
        </p:spPr>
        <p:txBody>
          <a:bodyPr wrap="square" anchor="t" lIns="0" rIns="0" tIns="0" bIns="0">
            <a:spAutoFit/>
          </a:bodyPr>
          <a:lstStyle/>
          <a:p>
            <a:pPr algn="l">
              <a:lnSpc>
                <a:spcPct val="125000"/>
              </a:lnSpc>
              <a:spcAft>
                <a:spcPts val="0"/>
              </a:spcAft>
            </a:pPr>
            <a:r>
              <a:rPr sz="1000" b="0" i="0" spc="110">
                <a:solidFill>
                  <a:srgbClr val="B45309"/>
                </a:solidFill>
                <a:latin typeface="Consolas"/>
              </a:rPr>
              <a:t>NEW FEATURE</a:t>
            </a:r>
          </a:p>
        </p:txBody>
      </p:sp>
      <p:sp>
        <p:nvSpPr>
          <p:cNvPr id="28" name="TextBox 27"/>
          <p:cNvSpPr txBox="1"/>
          <p:nvPr/>
        </p:nvSpPr>
        <p:spPr>
          <a:xfrm>
            <a:off x="5120640" y="4828032"/>
            <a:ext cx="6217920" cy="640080"/>
          </a:xfrm>
          <a:prstGeom prst="rect">
            <a:avLst/>
          </a:prstGeom>
          <a:noFill/>
        </p:spPr>
        <p:txBody>
          <a:bodyPr wrap="square" anchor="t" lIns="0" rIns="0" tIns="0" bIns="0">
            <a:spAutoFit/>
          </a:bodyPr>
          <a:lstStyle/>
          <a:p>
            <a:pPr algn="l">
              <a:lnSpc>
                <a:spcPct val="130000"/>
              </a:lnSpc>
              <a:spcAft>
                <a:spcPts val="0"/>
              </a:spcAft>
            </a:pPr>
            <a:r>
              <a:rPr sz="1250" b="0" i="0">
                <a:solidFill>
                  <a:srgbClr val="6B6B6B"/>
                </a:solidFill>
                <a:latin typeface="Calibri"/>
              </a:rPr>
              <a:t>TotalPrice = Quantity × UnitPrice. The line-level revenue figure that Monetary value is later summed from.</a:t>
            </a:r>
          </a:p>
        </p:txBody>
      </p:sp>
      <p:sp>
        <p:nvSpPr>
          <p:cNvPr id="29" name="Rectangle 28"/>
          <p:cNvSpPr/>
          <p:nvPr/>
        </p:nvSpPr>
        <p:spPr>
          <a:xfrm>
            <a:off x="777240" y="5806440"/>
            <a:ext cx="10637215" cy="502920"/>
          </a:xfrm>
          <a:prstGeom prst="rect">
            <a:avLst/>
          </a:prstGeom>
          <a:solidFill>
            <a:srgbClr val="F0EC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1005840" y="5943600"/>
            <a:ext cx="10180015" cy="274320"/>
          </a:xfrm>
          <a:prstGeom prst="rect">
            <a:avLst/>
          </a:prstGeom>
          <a:noFill/>
        </p:spPr>
        <p:txBody>
          <a:bodyPr wrap="square" anchor="t" lIns="0" rIns="0" tIns="0" bIns="0">
            <a:spAutoFit/>
          </a:bodyPr>
          <a:lstStyle/>
          <a:p>
            <a:pPr algn="l">
              <a:lnSpc>
                <a:spcPct val="125000"/>
              </a:lnSpc>
              <a:spcAft>
                <a:spcPts val="0"/>
              </a:spcAft>
            </a:pPr>
            <a:r>
              <a:rPr sz="1300" b="0" i="0">
                <a:solidFill>
                  <a:srgbClr val="1A1A1A"/>
                </a:solidFill>
                <a:latin typeface="Calibri"/>
              </a:rPr>
              <a:t>Result:  397,924 clean transaction rows covering 4,339 identifiable customers — 73% of the original file retained.</a:t>
            </a:r>
          </a:p>
        </p:txBody>
      </p:sp>
      <p:cxnSp>
        <p:nvCxnSpPr>
          <p:cNvPr id="31" name="Connector 30"/>
          <p:cNvCxnSpPr/>
          <p:nvPr/>
        </p:nvCxnSpPr>
        <p:spPr>
          <a:xfrm>
            <a:off x="777240" y="6291072"/>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777240" y="6400800"/>
            <a:ext cx="6400800" cy="228600"/>
          </a:xfrm>
          <a:prstGeom prst="rect">
            <a:avLst/>
          </a:prstGeom>
          <a:noFill/>
        </p:spPr>
        <p:txBody>
          <a:bodyPr wrap="square" anchor="t" lIns="0" rIns="0" tIns="0" bIns="0">
            <a:spAutoFit/>
          </a:bodyPr>
          <a:lstStyle/>
          <a:p>
            <a:pPr algn="l">
              <a:lnSpc>
                <a:spcPct val="125000"/>
              </a:lnSpc>
              <a:spcAft>
                <a:spcPts val="0"/>
              </a:spcAft>
            </a:pPr>
            <a:r>
              <a:rPr sz="850" b="0" i="0" spc="120">
                <a:solidFill>
                  <a:srgbClr val="6B6B6B"/>
                </a:solidFill>
                <a:latin typeface="Consolas"/>
              </a:rPr>
              <a:t>CUSTOMER SEGMENTATION FOR TARGETED E-COMMERCE MARKETING</a:t>
            </a:r>
          </a:p>
        </p:txBody>
      </p:sp>
      <p:sp>
        <p:nvSpPr>
          <p:cNvPr id="33" name="TextBox 32"/>
          <p:cNvSpPr txBox="1"/>
          <p:nvPr/>
        </p:nvSpPr>
        <p:spPr>
          <a:xfrm>
            <a:off x="9585655" y="6400800"/>
            <a:ext cx="1828800" cy="228600"/>
          </a:xfrm>
          <a:prstGeom prst="rect">
            <a:avLst/>
          </a:prstGeom>
          <a:noFill/>
        </p:spPr>
        <p:txBody>
          <a:bodyPr wrap="square" anchor="t" lIns="0" rIns="0" tIns="0" bIns="0">
            <a:spAutoFit/>
          </a:bodyPr>
          <a:lstStyle/>
          <a:p>
            <a:pPr algn="r">
              <a:lnSpc>
                <a:spcPct val="125000"/>
              </a:lnSpc>
              <a:spcAft>
                <a:spcPts val="0"/>
              </a:spcAft>
            </a:pPr>
            <a:r>
              <a:rPr sz="850" b="0" i="0" spc="120">
                <a:solidFill>
                  <a:srgbClr val="6B6B6B"/>
                </a:solidFill>
                <a:latin typeface="Consolas"/>
              </a:rPr>
              <a:t>06 / 27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77240" y="566928"/>
            <a:ext cx="10637215" cy="274320"/>
          </a:xfrm>
          <a:prstGeom prst="rect">
            <a:avLst/>
          </a:prstGeom>
          <a:noFill/>
        </p:spPr>
        <p:txBody>
          <a:bodyPr wrap="none" lIns="0" rIns="0" tIns="0" bIns="0">
            <a:spAutoFit/>
          </a:bodyPr>
          <a:lstStyle/>
          <a:p>
            <a:r>
              <a:rPr sz="1050" b="1" spc="200">
                <a:solidFill>
                  <a:srgbClr val="B45309"/>
                </a:solidFill>
                <a:latin typeface="Consolas"/>
              </a:rPr>
              <a:t>02  </a:t>
            </a:r>
            <a:r>
              <a:rPr sz="1050" spc="200">
                <a:solidFill>
                  <a:srgbClr val="6B6B6B"/>
                </a:solidFill>
                <a:latin typeface="Consolas"/>
              </a:rPr>
              <a:t>FEATURE ENGINEERING</a:t>
            </a:r>
            <a:r>
              <a:rPr sz="1050" spc="200">
                <a:solidFill>
                  <a:srgbClr val="6B6B6B"/>
                </a:solidFill>
                <a:latin typeface="Consolas"/>
              </a:rPr>
              <a:t>   ·   398K TRANSACTIONS → 4,339 CUSTOMERS</a:t>
            </a:r>
          </a:p>
        </p:txBody>
      </p:sp>
      <p:sp>
        <p:nvSpPr>
          <p:cNvPr id="4" name="TextBox 3"/>
          <p:cNvSpPr txBox="1"/>
          <p:nvPr/>
        </p:nvSpPr>
        <p:spPr>
          <a:xfrm>
            <a:off x="777240" y="932688"/>
            <a:ext cx="10637215" cy="685800"/>
          </a:xfrm>
          <a:prstGeom prst="rect">
            <a:avLst/>
          </a:prstGeom>
          <a:noFill/>
        </p:spPr>
        <p:txBody>
          <a:bodyPr wrap="square" anchor="t" lIns="0" rIns="0" tIns="0" bIns="0">
            <a:spAutoFit/>
          </a:bodyPr>
          <a:lstStyle/>
          <a:p>
            <a:pPr algn="l">
              <a:lnSpc>
                <a:spcPct val="100000"/>
              </a:lnSpc>
              <a:spcAft>
                <a:spcPts val="0"/>
              </a:spcAft>
            </a:pPr>
            <a:r>
              <a:rPr sz="3200" b="0" i="0">
                <a:solidFill>
                  <a:srgbClr val="1A1A1A"/>
                </a:solidFill>
                <a:latin typeface="Georgia"/>
              </a:rPr>
              <a:t>The RFM model</a:t>
            </a:r>
          </a:p>
        </p:txBody>
      </p:sp>
      <p:cxnSp>
        <p:nvCxnSpPr>
          <p:cNvPr id="5" name="Connector 4"/>
          <p:cNvCxnSpPr/>
          <p:nvPr/>
        </p:nvCxnSpPr>
        <p:spPr>
          <a:xfrm>
            <a:off x="777240" y="1664208"/>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2011680"/>
            <a:ext cx="3454298" cy="2514600"/>
          </a:xfrm>
          <a:prstGeom prst="rect">
            <a:avLst/>
          </a:prstGeom>
          <a:solidFill>
            <a:srgbClr val="F0EC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7" name="Connector 6"/>
          <p:cNvCxnSpPr/>
          <p:nvPr/>
        </p:nvCxnSpPr>
        <p:spPr>
          <a:xfrm>
            <a:off x="777240" y="2011680"/>
            <a:ext cx="3454298" cy="0"/>
          </a:xfrm>
          <a:prstGeom prst="line">
            <a:avLst/>
          </a:prstGeom>
          <a:ln w="28575">
            <a:solidFill>
              <a:srgbClr val="B4530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051560" y="2240280"/>
            <a:ext cx="731520" cy="640080"/>
          </a:xfrm>
          <a:prstGeom prst="rect">
            <a:avLst/>
          </a:prstGeom>
          <a:noFill/>
        </p:spPr>
        <p:txBody>
          <a:bodyPr wrap="square" anchor="t" lIns="0" rIns="0" tIns="0" bIns="0">
            <a:spAutoFit/>
          </a:bodyPr>
          <a:lstStyle/>
          <a:p>
            <a:pPr algn="l">
              <a:lnSpc>
                <a:spcPct val="100000"/>
              </a:lnSpc>
              <a:spcAft>
                <a:spcPts val="0"/>
              </a:spcAft>
            </a:pPr>
            <a:r>
              <a:rPr sz="4000" b="0" i="0">
                <a:solidFill>
                  <a:srgbClr val="B45309"/>
                </a:solidFill>
                <a:latin typeface="Georgia"/>
              </a:rPr>
              <a:t>R</a:t>
            </a:r>
          </a:p>
        </p:txBody>
      </p:sp>
      <p:sp>
        <p:nvSpPr>
          <p:cNvPr id="9" name="TextBox 8"/>
          <p:cNvSpPr txBox="1"/>
          <p:nvPr/>
        </p:nvSpPr>
        <p:spPr>
          <a:xfrm>
            <a:off x="1051560" y="2907792"/>
            <a:ext cx="2905658" cy="320040"/>
          </a:xfrm>
          <a:prstGeom prst="rect">
            <a:avLst/>
          </a:prstGeom>
          <a:noFill/>
        </p:spPr>
        <p:txBody>
          <a:bodyPr wrap="square" anchor="t" lIns="0" rIns="0" tIns="0" bIns="0">
            <a:spAutoFit/>
          </a:bodyPr>
          <a:lstStyle/>
          <a:p>
            <a:pPr algn="l">
              <a:lnSpc>
                <a:spcPct val="125000"/>
              </a:lnSpc>
              <a:spcAft>
                <a:spcPts val="0"/>
              </a:spcAft>
            </a:pPr>
            <a:r>
              <a:rPr sz="1800" b="0" i="0">
                <a:solidFill>
                  <a:srgbClr val="1A1A1A"/>
                </a:solidFill>
                <a:latin typeface="Georgia"/>
              </a:rPr>
              <a:t>Recency</a:t>
            </a:r>
          </a:p>
        </p:txBody>
      </p:sp>
      <p:sp>
        <p:nvSpPr>
          <p:cNvPr id="10" name="TextBox 9"/>
          <p:cNvSpPr txBox="1"/>
          <p:nvPr/>
        </p:nvSpPr>
        <p:spPr>
          <a:xfrm>
            <a:off x="1051560" y="3273552"/>
            <a:ext cx="2905658" cy="822960"/>
          </a:xfrm>
          <a:prstGeom prst="rect">
            <a:avLst/>
          </a:prstGeom>
          <a:noFill/>
        </p:spPr>
        <p:txBody>
          <a:bodyPr wrap="square" anchor="t" lIns="0" rIns="0" tIns="0" bIns="0">
            <a:spAutoFit/>
          </a:bodyPr>
          <a:lstStyle/>
          <a:p>
            <a:pPr algn="l">
              <a:lnSpc>
                <a:spcPct val="130000"/>
              </a:lnSpc>
              <a:spcAft>
                <a:spcPts val="0"/>
              </a:spcAft>
            </a:pPr>
            <a:r>
              <a:rPr sz="1200" b="0" i="0">
                <a:solidFill>
                  <a:srgbClr val="6B6B6B"/>
                </a:solidFill>
                <a:latin typeface="Calibri"/>
              </a:rPr>
              <a:t>Days since the customer's last purchase, measured from a snapshot one day after the final transaction in the dataset.</a:t>
            </a:r>
          </a:p>
        </p:txBody>
      </p:sp>
      <p:sp>
        <p:nvSpPr>
          <p:cNvPr id="11" name="TextBox 10"/>
          <p:cNvSpPr txBox="1"/>
          <p:nvPr/>
        </p:nvSpPr>
        <p:spPr>
          <a:xfrm>
            <a:off x="1051560" y="4096512"/>
            <a:ext cx="2905658" cy="320040"/>
          </a:xfrm>
          <a:prstGeom prst="rect">
            <a:avLst/>
          </a:prstGeom>
          <a:noFill/>
        </p:spPr>
        <p:txBody>
          <a:bodyPr wrap="square" anchor="t" lIns="0" rIns="0" tIns="0" bIns="0">
            <a:spAutoFit/>
          </a:bodyPr>
          <a:lstStyle/>
          <a:p>
            <a:pPr algn="l">
              <a:lnSpc>
                <a:spcPct val="125000"/>
              </a:lnSpc>
              <a:spcAft>
                <a:spcPts val="0"/>
              </a:spcAft>
            </a:pPr>
            <a:r>
              <a:rPr sz="1100" b="0" i="1">
                <a:solidFill>
                  <a:srgbClr val="B45309"/>
                </a:solidFill>
                <a:latin typeface="Calibri"/>
              </a:rPr>
              <a:t>Lower is better — a recent buyer is an engaged buyer.</a:t>
            </a:r>
          </a:p>
        </p:txBody>
      </p:sp>
      <p:sp>
        <p:nvSpPr>
          <p:cNvPr id="12" name="Rectangle 11"/>
          <p:cNvSpPr/>
          <p:nvPr/>
        </p:nvSpPr>
        <p:spPr>
          <a:xfrm>
            <a:off x="4368698" y="2011680"/>
            <a:ext cx="3454298" cy="2514600"/>
          </a:xfrm>
          <a:prstGeom prst="rect">
            <a:avLst/>
          </a:prstGeom>
          <a:solidFill>
            <a:srgbClr val="F0EC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13" name="Connector 12"/>
          <p:cNvCxnSpPr/>
          <p:nvPr/>
        </p:nvCxnSpPr>
        <p:spPr>
          <a:xfrm>
            <a:off x="4368698" y="2011680"/>
            <a:ext cx="3454298" cy="0"/>
          </a:xfrm>
          <a:prstGeom prst="line">
            <a:avLst/>
          </a:prstGeom>
          <a:ln w="28575">
            <a:solidFill>
              <a:srgbClr val="B45309"/>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643018" y="2240280"/>
            <a:ext cx="731520" cy="640080"/>
          </a:xfrm>
          <a:prstGeom prst="rect">
            <a:avLst/>
          </a:prstGeom>
          <a:noFill/>
        </p:spPr>
        <p:txBody>
          <a:bodyPr wrap="square" anchor="t" lIns="0" rIns="0" tIns="0" bIns="0">
            <a:spAutoFit/>
          </a:bodyPr>
          <a:lstStyle/>
          <a:p>
            <a:pPr algn="l">
              <a:lnSpc>
                <a:spcPct val="100000"/>
              </a:lnSpc>
              <a:spcAft>
                <a:spcPts val="0"/>
              </a:spcAft>
            </a:pPr>
            <a:r>
              <a:rPr sz="4000" b="0" i="0">
                <a:solidFill>
                  <a:srgbClr val="B45309"/>
                </a:solidFill>
                <a:latin typeface="Georgia"/>
              </a:rPr>
              <a:t>F</a:t>
            </a:r>
          </a:p>
        </p:txBody>
      </p:sp>
      <p:sp>
        <p:nvSpPr>
          <p:cNvPr id="15" name="TextBox 14"/>
          <p:cNvSpPr txBox="1"/>
          <p:nvPr/>
        </p:nvSpPr>
        <p:spPr>
          <a:xfrm>
            <a:off x="4643018" y="2907792"/>
            <a:ext cx="2905658" cy="320040"/>
          </a:xfrm>
          <a:prstGeom prst="rect">
            <a:avLst/>
          </a:prstGeom>
          <a:noFill/>
        </p:spPr>
        <p:txBody>
          <a:bodyPr wrap="square" anchor="t" lIns="0" rIns="0" tIns="0" bIns="0">
            <a:spAutoFit/>
          </a:bodyPr>
          <a:lstStyle/>
          <a:p>
            <a:pPr algn="l">
              <a:lnSpc>
                <a:spcPct val="125000"/>
              </a:lnSpc>
              <a:spcAft>
                <a:spcPts val="0"/>
              </a:spcAft>
            </a:pPr>
            <a:r>
              <a:rPr sz="1800" b="0" i="0">
                <a:solidFill>
                  <a:srgbClr val="1A1A1A"/>
                </a:solidFill>
                <a:latin typeface="Georgia"/>
              </a:rPr>
              <a:t>Frequency</a:t>
            </a:r>
          </a:p>
        </p:txBody>
      </p:sp>
      <p:sp>
        <p:nvSpPr>
          <p:cNvPr id="16" name="TextBox 15"/>
          <p:cNvSpPr txBox="1"/>
          <p:nvPr/>
        </p:nvSpPr>
        <p:spPr>
          <a:xfrm>
            <a:off x="4643018" y="3273552"/>
            <a:ext cx="2905658" cy="822960"/>
          </a:xfrm>
          <a:prstGeom prst="rect">
            <a:avLst/>
          </a:prstGeom>
          <a:noFill/>
        </p:spPr>
        <p:txBody>
          <a:bodyPr wrap="square" anchor="t" lIns="0" rIns="0" tIns="0" bIns="0">
            <a:spAutoFit/>
          </a:bodyPr>
          <a:lstStyle/>
          <a:p>
            <a:pPr algn="l">
              <a:lnSpc>
                <a:spcPct val="130000"/>
              </a:lnSpc>
              <a:spcAft>
                <a:spcPts val="0"/>
              </a:spcAft>
            </a:pPr>
            <a:r>
              <a:rPr sz="1200" b="0" i="0">
                <a:solidFill>
                  <a:srgbClr val="6B6B6B"/>
                </a:solidFill>
                <a:latin typeface="Calibri"/>
              </a:rPr>
              <a:t>The count of distinct invoices the customer placed across the whole period.</a:t>
            </a:r>
          </a:p>
        </p:txBody>
      </p:sp>
      <p:sp>
        <p:nvSpPr>
          <p:cNvPr id="17" name="TextBox 16"/>
          <p:cNvSpPr txBox="1"/>
          <p:nvPr/>
        </p:nvSpPr>
        <p:spPr>
          <a:xfrm>
            <a:off x="4643018" y="4096512"/>
            <a:ext cx="2905658" cy="320040"/>
          </a:xfrm>
          <a:prstGeom prst="rect">
            <a:avLst/>
          </a:prstGeom>
          <a:noFill/>
        </p:spPr>
        <p:txBody>
          <a:bodyPr wrap="square" anchor="t" lIns="0" rIns="0" tIns="0" bIns="0">
            <a:spAutoFit/>
          </a:bodyPr>
          <a:lstStyle/>
          <a:p>
            <a:pPr algn="l">
              <a:lnSpc>
                <a:spcPct val="125000"/>
              </a:lnSpc>
              <a:spcAft>
                <a:spcPts val="0"/>
              </a:spcAft>
            </a:pPr>
            <a:r>
              <a:rPr sz="1100" b="0" i="1">
                <a:solidFill>
                  <a:srgbClr val="B45309"/>
                </a:solidFill>
                <a:latin typeface="Calibri"/>
              </a:rPr>
              <a:t>Higher is better — repeat purchase indicates loyalty.</a:t>
            </a:r>
          </a:p>
        </p:txBody>
      </p:sp>
      <p:sp>
        <p:nvSpPr>
          <p:cNvPr id="18" name="Rectangle 17"/>
          <p:cNvSpPr/>
          <p:nvPr/>
        </p:nvSpPr>
        <p:spPr>
          <a:xfrm>
            <a:off x="7960156" y="2011680"/>
            <a:ext cx="3454298" cy="2514600"/>
          </a:xfrm>
          <a:prstGeom prst="rect">
            <a:avLst/>
          </a:prstGeom>
          <a:solidFill>
            <a:srgbClr val="F0EC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19" name="Connector 18"/>
          <p:cNvCxnSpPr/>
          <p:nvPr/>
        </p:nvCxnSpPr>
        <p:spPr>
          <a:xfrm>
            <a:off x="7960156" y="2011680"/>
            <a:ext cx="3454298" cy="0"/>
          </a:xfrm>
          <a:prstGeom prst="line">
            <a:avLst/>
          </a:prstGeom>
          <a:ln w="28575">
            <a:solidFill>
              <a:srgbClr val="B45309"/>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8234476" y="2240280"/>
            <a:ext cx="731520" cy="640080"/>
          </a:xfrm>
          <a:prstGeom prst="rect">
            <a:avLst/>
          </a:prstGeom>
          <a:noFill/>
        </p:spPr>
        <p:txBody>
          <a:bodyPr wrap="square" anchor="t" lIns="0" rIns="0" tIns="0" bIns="0">
            <a:spAutoFit/>
          </a:bodyPr>
          <a:lstStyle/>
          <a:p>
            <a:pPr algn="l">
              <a:lnSpc>
                <a:spcPct val="100000"/>
              </a:lnSpc>
              <a:spcAft>
                <a:spcPts val="0"/>
              </a:spcAft>
            </a:pPr>
            <a:r>
              <a:rPr sz="4000" b="0" i="0">
                <a:solidFill>
                  <a:srgbClr val="B45309"/>
                </a:solidFill>
                <a:latin typeface="Georgia"/>
              </a:rPr>
              <a:t>M</a:t>
            </a:r>
          </a:p>
        </p:txBody>
      </p:sp>
      <p:sp>
        <p:nvSpPr>
          <p:cNvPr id="21" name="TextBox 20"/>
          <p:cNvSpPr txBox="1"/>
          <p:nvPr/>
        </p:nvSpPr>
        <p:spPr>
          <a:xfrm>
            <a:off x="8234476" y="2907792"/>
            <a:ext cx="2905658" cy="320040"/>
          </a:xfrm>
          <a:prstGeom prst="rect">
            <a:avLst/>
          </a:prstGeom>
          <a:noFill/>
        </p:spPr>
        <p:txBody>
          <a:bodyPr wrap="square" anchor="t" lIns="0" rIns="0" tIns="0" bIns="0">
            <a:spAutoFit/>
          </a:bodyPr>
          <a:lstStyle/>
          <a:p>
            <a:pPr algn="l">
              <a:lnSpc>
                <a:spcPct val="125000"/>
              </a:lnSpc>
              <a:spcAft>
                <a:spcPts val="0"/>
              </a:spcAft>
            </a:pPr>
            <a:r>
              <a:rPr sz="1800" b="0" i="0">
                <a:solidFill>
                  <a:srgbClr val="1A1A1A"/>
                </a:solidFill>
                <a:latin typeface="Georgia"/>
              </a:rPr>
              <a:t>Monetary</a:t>
            </a:r>
          </a:p>
        </p:txBody>
      </p:sp>
      <p:sp>
        <p:nvSpPr>
          <p:cNvPr id="22" name="TextBox 21"/>
          <p:cNvSpPr txBox="1"/>
          <p:nvPr/>
        </p:nvSpPr>
        <p:spPr>
          <a:xfrm>
            <a:off x="8234476" y="3273552"/>
            <a:ext cx="2905658" cy="822960"/>
          </a:xfrm>
          <a:prstGeom prst="rect">
            <a:avLst/>
          </a:prstGeom>
          <a:noFill/>
        </p:spPr>
        <p:txBody>
          <a:bodyPr wrap="square" anchor="t" lIns="0" rIns="0" tIns="0" bIns="0">
            <a:spAutoFit/>
          </a:bodyPr>
          <a:lstStyle/>
          <a:p>
            <a:pPr algn="l">
              <a:lnSpc>
                <a:spcPct val="130000"/>
              </a:lnSpc>
              <a:spcAft>
                <a:spcPts val="0"/>
              </a:spcAft>
            </a:pPr>
            <a:r>
              <a:rPr sz="1200" b="0" i="0">
                <a:solidFill>
                  <a:srgbClr val="6B6B6B"/>
                </a:solidFill>
                <a:latin typeface="Calibri"/>
              </a:rPr>
              <a:t>Total revenue from the customer: the sum of Quantity × UnitPrice across all their lines.</a:t>
            </a:r>
          </a:p>
        </p:txBody>
      </p:sp>
      <p:sp>
        <p:nvSpPr>
          <p:cNvPr id="23" name="TextBox 22"/>
          <p:cNvSpPr txBox="1"/>
          <p:nvPr/>
        </p:nvSpPr>
        <p:spPr>
          <a:xfrm>
            <a:off x="8234476" y="4096512"/>
            <a:ext cx="2905658" cy="320040"/>
          </a:xfrm>
          <a:prstGeom prst="rect">
            <a:avLst/>
          </a:prstGeom>
          <a:noFill/>
        </p:spPr>
        <p:txBody>
          <a:bodyPr wrap="square" anchor="t" lIns="0" rIns="0" tIns="0" bIns="0">
            <a:spAutoFit/>
          </a:bodyPr>
          <a:lstStyle/>
          <a:p>
            <a:pPr algn="l">
              <a:lnSpc>
                <a:spcPct val="125000"/>
              </a:lnSpc>
              <a:spcAft>
                <a:spcPts val="0"/>
              </a:spcAft>
            </a:pPr>
            <a:r>
              <a:rPr sz="1100" b="0" i="1">
                <a:solidFill>
                  <a:srgbClr val="B45309"/>
                </a:solidFill>
                <a:latin typeface="Calibri"/>
              </a:rPr>
              <a:t>Higher is better — this is the customer's realised value.</a:t>
            </a:r>
          </a:p>
        </p:txBody>
      </p:sp>
      <p:sp>
        <p:nvSpPr>
          <p:cNvPr id="24" name="TextBox 23"/>
          <p:cNvSpPr txBox="1"/>
          <p:nvPr/>
        </p:nvSpPr>
        <p:spPr>
          <a:xfrm>
            <a:off x="777240" y="4846320"/>
            <a:ext cx="4937760" cy="274320"/>
          </a:xfrm>
          <a:prstGeom prst="rect">
            <a:avLst/>
          </a:prstGeom>
          <a:noFill/>
        </p:spPr>
        <p:txBody>
          <a:bodyPr wrap="square" anchor="t" lIns="0" rIns="0" tIns="0" bIns="0">
            <a:spAutoFit/>
          </a:bodyPr>
          <a:lstStyle/>
          <a:p>
            <a:pPr algn="l">
              <a:lnSpc>
                <a:spcPct val="125000"/>
              </a:lnSpc>
              <a:spcAft>
                <a:spcPts val="0"/>
              </a:spcAft>
            </a:pPr>
            <a:r>
              <a:rPr sz="950" b="0" i="0" spc="140">
                <a:solidFill>
                  <a:srgbClr val="6B6B6B"/>
                </a:solidFill>
                <a:latin typeface="Consolas"/>
              </a:rPr>
              <a:t>IMPLEMENTATION</a:t>
            </a:r>
          </a:p>
        </p:txBody>
      </p:sp>
      <p:sp>
        <p:nvSpPr>
          <p:cNvPr id="25" name="Rectangle 24"/>
          <p:cNvSpPr/>
          <p:nvPr/>
        </p:nvSpPr>
        <p:spPr>
          <a:xfrm>
            <a:off x="777240" y="5138928"/>
            <a:ext cx="6035040" cy="1051560"/>
          </a:xfrm>
          <a:prstGeom prst="rect">
            <a:avLst/>
          </a:prstGeom>
          <a:solidFill>
            <a:srgbClr val="1C1B1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1005840" y="5303520"/>
            <a:ext cx="5577840" cy="822960"/>
          </a:xfrm>
          <a:prstGeom prst="rect">
            <a:avLst/>
          </a:prstGeom>
          <a:noFill/>
        </p:spPr>
        <p:txBody>
          <a:bodyPr wrap="square" anchor="t" lIns="0" rIns="0" tIns="0" bIns="0">
            <a:spAutoFit/>
          </a:bodyPr>
          <a:lstStyle/>
          <a:p>
            <a:pPr algn="l">
              <a:lnSpc>
                <a:spcPct val="145000"/>
              </a:lnSpc>
              <a:spcAft>
                <a:spcPts val="0"/>
              </a:spcAft>
            </a:pPr>
            <a:r>
              <a:rPr sz="1050" b="0" i="0">
                <a:solidFill>
                  <a:srgbClr val="E0DCD2"/>
                </a:solidFill>
                <a:latin typeface="Consolas"/>
              </a:rPr>
              <a:t>snapshot = df.InvoiceDate.max() + 1 day</a:t>
            </a:r>
          </a:p>
          <a:p>
            <a:pPr algn="l">
              <a:lnSpc>
                <a:spcPct val="145000"/>
              </a:lnSpc>
              <a:spcAft>
                <a:spcPts val="0"/>
              </a:spcAft>
            </a:pPr>
            <a:r>
              <a:rPr sz="1050" b="0" i="0">
                <a:solidFill>
                  <a:srgbClr val="E0DCD2"/>
                </a:solidFill>
                <a:latin typeface="Consolas"/>
              </a:rPr>
              <a:t>rfm = df.groupby('CustomerID').agg(</a:t>
            </a:r>
          </a:p>
          <a:p>
            <a:pPr algn="l">
              <a:lnSpc>
                <a:spcPct val="145000"/>
              </a:lnSpc>
              <a:spcAft>
                <a:spcPts val="0"/>
              </a:spcAft>
            </a:pPr>
            <a:r>
              <a:rPr sz="1050" b="0" i="0">
                <a:solidFill>
                  <a:srgbClr val="E0DCD2"/>
                </a:solidFill>
                <a:latin typeface="Consolas"/>
              </a:rPr>
              <a:t>    Recency, Frequency, Monetary )</a:t>
            </a:r>
          </a:p>
        </p:txBody>
      </p:sp>
      <p:sp>
        <p:nvSpPr>
          <p:cNvPr id="27" name="TextBox 26"/>
          <p:cNvSpPr txBox="1"/>
          <p:nvPr/>
        </p:nvSpPr>
        <p:spPr>
          <a:xfrm>
            <a:off x="7178040" y="5074920"/>
            <a:ext cx="4206240" cy="365760"/>
          </a:xfrm>
          <a:prstGeom prst="rect">
            <a:avLst/>
          </a:prstGeom>
          <a:noFill/>
        </p:spPr>
        <p:txBody>
          <a:bodyPr wrap="square" lIns="0" rIns="0" tIns="0" bIns="0">
            <a:spAutoFit/>
          </a:bodyPr>
          <a:lstStyle/>
          <a:p>
            <a:pPr>
              <a:lnSpc>
                <a:spcPct val="130000"/>
              </a:lnSpc>
              <a:spcAft>
                <a:spcPts val="600"/>
              </a:spcAft>
            </a:pPr>
            <a:r>
              <a:rPr sz="1200" b="1">
                <a:solidFill>
                  <a:srgbClr val="B45309"/>
                </a:solidFill>
                <a:latin typeface="Calibri"/>
              </a:rPr>
              <a:t>— </a:t>
            </a:r>
            <a:r>
              <a:rPr sz="1200">
                <a:solidFill>
                  <a:srgbClr val="1A1A1A"/>
                </a:solidFill>
                <a:latin typeface="Calibri"/>
              </a:rPr>
              <a:t>One customer = one row. A customer with 200 purchases still contributes a single row, described by three numbers.</a:t>
            </a:r>
          </a:p>
          <a:p>
            <a:pPr>
              <a:lnSpc>
                <a:spcPct val="130000"/>
              </a:lnSpc>
              <a:spcAft>
                <a:spcPts val="600"/>
              </a:spcAft>
            </a:pPr>
            <a:r>
              <a:rPr sz="1200" b="1">
                <a:solidFill>
                  <a:srgbClr val="B45309"/>
                </a:solidFill>
                <a:latin typeface="Calibri"/>
              </a:rPr>
              <a:t>— </a:t>
            </a:r>
            <a:r>
              <a:rPr sz="1200">
                <a:solidFill>
                  <a:srgbClr val="1A1A1A"/>
                </a:solidFill>
                <a:latin typeface="Calibri"/>
              </a:rPr>
              <a:t>These three features are the entire input to every model that follows.</a:t>
            </a:r>
          </a:p>
        </p:txBody>
      </p:sp>
      <p:cxnSp>
        <p:nvCxnSpPr>
          <p:cNvPr id="28" name="Connector 27"/>
          <p:cNvCxnSpPr/>
          <p:nvPr/>
        </p:nvCxnSpPr>
        <p:spPr>
          <a:xfrm>
            <a:off x="777240" y="6291072"/>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777240" y="6400800"/>
            <a:ext cx="6400800" cy="228600"/>
          </a:xfrm>
          <a:prstGeom prst="rect">
            <a:avLst/>
          </a:prstGeom>
          <a:noFill/>
        </p:spPr>
        <p:txBody>
          <a:bodyPr wrap="square" anchor="t" lIns="0" rIns="0" tIns="0" bIns="0">
            <a:spAutoFit/>
          </a:bodyPr>
          <a:lstStyle/>
          <a:p>
            <a:pPr algn="l">
              <a:lnSpc>
                <a:spcPct val="125000"/>
              </a:lnSpc>
              <a:spcAft>
                <a:spcPts val="0"/>
              </a:spcAft>
            </a:pPr>
            <a:r>
              <a:rPr sz="850" b="0" i="0" spc="120">
                <a:solidFill>
                  <a:srgbClr val="6B6B6B"/>
                </a:solidFill>
                <a:latin typeface="Consolas"/>
              </a:rPr>
              <a:t>CUSTOMER SEGMENTATION FOR TARGETED E-COMMERCE MARKETING</a:t>
            </a:r>
          </a:p>
        </p:txBody>
      </p:sp>
      <p:sp>
        <p:nvSpPr>
          <p:cNvPr id="30" name="TextBox 29"/>
          <p:cNvSpPr txBox="1"/>
          <p:nvPr/>
        </p:nvSpPr>
        <p:spPr>
          <a:xfrm>
            <a:off x="9585655" y="6400800"/>
            <a:ext cx="1828800" cy="228600"/>
          </a:xfrm>
          <a:prstGeom prst="rect">
            <a:avLst/>
          </a:prstGeom>
          <a:noFill/>
        </p:spPr>
        <p:txBody>
          <a:bodyPr wrap="square" anchor="t" lIns="0" rIns="0" tIns="0" bIns="0">
            <a:spAutoFit/>
          </a:bodyPr>
          <a:lstStyle/>
          <a:p>
            <a:pPr algn="r">
              <a:lnSpc>
                <a:spcPct val="125000"/>
              </a:lnSpc>
              <a:spcAft>
                <a:spcPts val="0"/>
              </a:spcAft>
            </a:pPr>
            <a:r>
              <a:rPr sz="850" b="0" i="0" spc="120">
                <a:solidFill>
                  <a:srgbClr val="6B6B6B"/>
                </a:solidFill>
                <a:latin typeface="Consolas"/>
              </a:rPr>
              <a:t>07 / 27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77240" y="566928"/>
            <a:ext cx="10637215" cy="274320"/>
          </a:xfrm>
          <a:prstGeom prst="rect">
            <a:avLst/>
          </a:prstGeom>
          <a:noFill/>
        </p:spPr>
        <p:txBody>
          <a:bodyPr wrap="none" lIns="0" rIns="0" tIns="0" bIns="0">
            <a:spAutoFit/>
          </a:bodyPr>
          <a:lstStyle/>
          <a:p>
            <a:r>
              <a:rPr sz="1050" b="1" spc="200">
                <a:solidFill>
                  <a:srgbClr val="B45309"/>
                </a:solidFill>
                <a:latin typeface="Consolas"/>
              </a:rPr>
              <a:t>02  </a:t>
            </a:r>
            <a:r>
              <a:rPr sz="1050" spc="200">
                <a:solidFill>
                  <a:srgbClr val="6B6B6B"/>
                </a:solidFill>
                <a:latin typeface="Consolas"/>
              </a:rPr>
              <a:t>SCALING</a:t>
            </a:r>
            <a:r>
              <a:rPr sz="1050" spc="200">
                <a:solidFill>
                  <a:srgbClr val="6B6B6B"/>
                </a:solidFill>
                <a:latin typeface="Consolas"/>
              </a:rPr>
              <a:t>   ·   LOG1P, THEN STANDARDSCALER</a:t>
            </a:r>
          </a:p>
        </p:txBody>
      </p:sp>
      <p:sp>
        <p:nvSpPr>
          <p:cNvPr id="4" name="TextBox 3"/>
          <p:cNvSpPr txBox="1"/>
          <p:nvPr/>
        </p:nvSpPr>
        <p:spPr>
          <a:xfrm>
            <a:off x="777240" y="932688"/>
            <a:ext cx="10637215" cy="685800"/>
          </a:xfrm>
          <a:prstGeom prst="rect">
            <a:avLst/>
          </a:prstGeom>
          <a:noFill/>
        </p:spPr>
        <p:txBody>
          <a:bodyPr wrap="square" anchor="t" lIns="0" rIns="0" tIns="0" bIns="0">
            <a:spAutoFit/>
          </a:bodyPr>
          <a:lstStyle/>
          <a:p>
            <a:pPr algn="l">
              <a:lnSpc>
                <a:spcPct val="100000"/>
              </a:lnSpc>
              <a:spcAft>
                <a:spcPts val="0"/>
              </a:spcAft>
            </a:pPr>
            <a:r>
              <a:rPr sz="3200" b="0" i="0">
                <a:solidFill>
                  <a:srgbClr val="1A1A1A"/>
                </a:solidFill>
                <a:latin typeface="Georgia"/>
              </a:rPr>
              <a:t>Taming the skew</a:t>
            </a:r>
          </a:p>
        </p:txBody>
      </p:sp>
      <p:cxnSp>
        <p:nvCxnSpPr>
          <p:cNvPr id="5" name="Connector 4"/>
          <p:cNvCxnSpPr/>
          <p:nvPr/>
        </p:nvCxnSpPr>
        <p:spPr>
          <a:xfrm>
            <a:off x="777240" y="1664208"/>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pic>
        <p:nvPicPr>
          <p:cNvPr id="6" name="Picture 5" descr="skew.png"/>
          <p:cNvPicPr>
            <a:picLocks noChangeAspect="1"/>
          </p:cNvPicPr>
          <p:nvPr/>
        </p:nvPicPr>
        <p:blipFill>
          <a:blip r:embed="rId2"/>
          <a:stretch>
            <a:fillRect/>
          </a:stretch>
        </p:blipFill>
        <p:spPr>
          <a:xfrm>
            <a:off x="777240" y="1965960"/>
            <a:ext cx="5943600" cy="2179320"/>
          </a:xfrm>
          <a:prstGeom prst="rect">
            <a:avLst/>
          </a:prstGeom>
        </p:spPr>
      </p:pic>
      <p:sp>
        <p:nvSpPr>
          <p:cNvPr id="7" name="TextBox 6"/>
          <p:cNvSpPr txBox="1"/>
          <p:nvPr/>
        </p:nvSpPr>
        <p:spPr>
          <a:xfrm>
            <a:off x="7132320" y="2011680"/>
            <a:ext cx="4251960" cy="365760"/>
          </a:xfrm>
          <a:prstGeom prst="rect">
            <a:avLst/>
          </a:prstGeom>
          <a:noFill/>
        </p:spPr>
        <p:txBody>
          <a:bodyPr wrap="square" lIns="0" rIns="0" tIns="0" bIns="0">
            <a:spAutoFit/>
          </a:bodyPr>
          <a:lstStyle/>
          <a:p>
            <a:pPr>
              <a:lnSpc>
                <a:spcPct val="130000"/>
              </a:lnSpc>
              <a:spcAft>
                <a:spcPts val="700"/>
              </a:spcAft>
            </a:pPr>
            <a:r>
              <a:rPr sz="1250" b="1">
                <a:solidFill>
                  <a:srgbClr val="B45309"/>
                </a:solidFill>
                <a:latin typeface="Calibri"/>
              </a:rPr>
              <a:t>— </a:t>
            </a:r>
            <a:r>
              <a:rPr sz="1250" b="1">
                <a:solidFill>
                  <a:srgbClr val="1A1A1A"/>
                </a:solidFill>
                <a:latin typeface="Calibri"/>
              </a:rPr>
              <a:t>The problem. </a:t>
            </a:r>
            <a:r>
              <a:rPr sz="1250">
                <a:solidFill>
                  <a:srgbClr val="1A1A1A"/>
                </a:solidFill>
                <a:latin typeface="Calibri"/>
              </a:rPr>
              <a:t>Monetary value is extremely right-skewed (skewness = 19.3); the largest customer spent £280,206 against a median of £674.</a:t>
            </a:r>
          </a:p>
          <a:p>
            <a:pPr>
              <a:lnSpc>
                <a:spcPct val="130000"/>
              </a:lnSpc>
              <a:spcAft>
                <a:spcPts val="700"/>
              </a:spcAft>
            </a:pPr>
            <a:r>
              <a:rPr sz="1250" b="1">
                <a:solidFill>
                  <a:srgbClr val="B45309"/>
                </a:solidFill>
                <a:latin typeface="Calibri"/>
              </a:rPr>
              <a:t>— </a:t>
            </a:r>
            <a:r>
              <a:rPr sz="1250" b="1">
                <a:solidFill>
                  <a:srgbClr val="1A1A1A"/>
                </a:solidFill>
                <a:latin typeface="Calibri"/>
              </a:rPr>
              <a:t>Why it breaks K-Means. </a:t>
            </a:r>
            <a:r>
              <a:rPr sz="1250">
                <a:solidFill>
                  <a:srgbClr val="1A1A1A"/>
                </a:solidFill>
                <a:latin typeface="Calibri"/>
              </a:rPr>
              <a:t>K-Means minimises Euclidean distance, so a handful of extreme spenders pull centroids toward themselves and consume clusters that should describe the majority.</a:t>
            </a:r>
          </a:p>
          <a:p>
            <a:pPr>
              <a:lnSpc>
                <a:spcPct val="130000"/>
              </a:lnSpc>
              <a:spcAft>
                <a:spcPts val="700"/>
              </a:spcAft>
            </a:pPr>
            <a:r>
              <a:rPr sz="1250" b="1">
                <a:solidFill>
                  <a:srgbClr val="B45309"/>
                </a:solidFill>
                <a:latin typeface="Calibri"/>
              </a:rPr>
              <a:t>— </a:t>
            </a:r>
            <a:r>
              <a:rPr sz="1250" b="1">
                <a:solidFill>
                  <a:srgbClr val="1A1A1A"/>
                </a:solidFill>
                <a:latin typeface="Calibri"/>
              </a:rPr>
              <a:t>The fix. </a:t>
            </a:r>
            <a:r>
              <a:rPr sz="1250">
                <a:solidFill>
                  <a:srgbClr val="1A1A1A"/>
                </a:solidFill>
                <a:latin typeface="Calibri"/>
              </a:rPr>
              <a:t>log1p compresses the tail without discarding anyone — skewness drops from 19.3 to 0.36. StandardScaler then puts all three features on a common scale.</a:t>
            </a:r>
          </a:p>
          <a:p>
            <a:pPr>
              <a:lnSpc>
                <a:spcPct val="130000"/>
              </a:lnSpc>
              <a:spcAft>
                <a:spcPts val="700"/>
              </a:spcAft>
            </a:pPr>
            <a:r>
              <a:rPr sz="1250" b="1">
                <a:solidFill>
                  <a:srgbClr val="B45309"/>
                </a:solidFill>
                <a:latin typeface="Calibri"/>
              </a:rPr>
              <a:t>— </a:t>
            </a:r>
            <a:r>
              <a:rPr sz="1250" b="1">
                <a:solidFill>
                  <a:srgbClr val="1A1A1A"/>
                </a:solidFill>
                <a:latin typeface="Calibri"/>
              </a:rPr>
              <a:t>Our convention. </a:t>
            </a:r>
            <a:r>
              <a:rPr sz="1250">
                <a:solidFill>
                  <a:srgbClr val="1A1A1A"/>
                </a:solidFill>
                <a:latin typeface="Calibri"/>
              </a:rPr>
              <a:t>Model on the scaled values; report and interpret in the original pounds and days. Scaled numbers mean nothing to a marketing manager.</a:t>
            </a:r>
          </a:p>
        </p:txBody>
      </p:sp>
      <p:sp>
        <p:nvSpPr>
          <p:cNvPr id="8" name="Rectangle 7"/>
          <p:cNvSpPr/>
          <p:nvPr/>
        </p:nvSpPr>
        <p:spPr>
          <a:xfrm>
            <a:off x="777240" y="5440680"/>
            <a:ext cx="5943600" cy="777240"/>
          </a:xfrm>
          <a:prstGeom prst="rect">
            <a:avLst/>
          </a:prstGeom>
          <a:solidFill>
            <a:srgbClr val="F0EC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5596128"/>
            <a:ext cx="5486400" cy="502920"/>
          </a:xfrm>
          <a:prstGeom prst="rect">
            <a:avLst/>
          </a:prstGeom>
          <a:noFill/>
        </p:spPr>
        <p:txBody>
          <a:bodyPr wrap="square" anchor="t" lIns="0" rIns="0" tIns="0" bIns="0">
            <a:spAutoFit/>
          </a:bodyPr>
          <a:lstStyle/>
          <a:p>
            <a:pPr algn="l">
              <a:lnSpc>
                <a:spcPct val="130000"/>
              </a:lnSpc>
              <a:spcAft>
                <a:spcPts val="0"/>
              </a:spcAft>
            </a:pPr>
            <a:r>
              <a:rPr sz="1150" b="0" i="0">
                <a:solidFill>
                  <a:srgbClr val="6B6B6B"/>
                </a:solidFill>
                <a:latin typeface="Calibri"/>
              </a:rPr>
              <a:t>Left: raw Monetary on a log-scaled count axis — nearly every customer is crushed into the first bin. Right: after log1p, the distribution is workable.</a:t>
            </a:r>
          </a:p>
        </p:txBody>
      </p:sp>
      <p:cxnSp>
        <p:nvCxnSpPr>
          <p:cNvPr id="10" name="Connector 9"/>
          <p:cNvCxnSpPr/>
          <p:nvPr/>
        </p:nvCxnSpPr>
        <p:spPr>
          <a:xfrm>
            <a:off x="777240" y="6291072"/>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77240" y="6400800"/>
            <a:ext cx="6400800" cy="228600"/>
          </a:xfrm>
          <a:prstGeom prst="rect">
            <a:avLst/>
          </a:prstGeom>
          <a:noFill/>
        </p:spPr>
        <p:txBody>
          <a:bodyPr wrap="square" anchor="t" lIns="0" rIns="0" tIns="0" bIns="0">
            <a:spAutoFit/>
          </a:bodyPr>
          <a:lstStyle/>
          <a:p>
            <a:pPr algn="l">
              <a:lnSpc>
                <a:spcPct val="125000"/>
              </a:lnSpc>
              <a:spcAft>
                <a:spcPts val="0"/>
              </a:spcAft>
            </a:pPr>
            <a:r>
              <a:rPr sz="850" b="0" i="0" spc="120">
                <a:solidFill>
                  <a:srgbClr val="6B6B6B"/>
                </a:solidFill>
                <a:latin typeface="Consolas"/>
              </a:rPr>
              <a:t>CUSTOMER SEGMENTATION FOR TARGETED E-COMMERCE MARKETING</a:t>
            </a:r>
          </a:p>
        </p:txBody>
      </p:sp>
      <p:sp>
        <p:nvSpPr>
          <p:cNvPr id="12" name="TextBox 11"/>
          <p:cNvSpPr txBox="1"/>
          <p:nvPr/>
        </p:nvSpPr>
        <p:spPr>
          <a:xfrm>
            <a:off x="9585655" y="6400800"/>
            <a:ext cx="1828800" cy="228600"/>
          </a:xfrm>
          <a:prstGeom prst="rect">
            <a:avLst/>
          </a:prstGeom>
          <a:noFill/>
        </p:spPr>
        <p:txBody>
          <a:bodyPr wrap="square" anchor="t" lIns="0" rIns="0" tIns="0" bIns="0">
            <a:spAutoFit/>
          </a:bodyPr>
          <a:lstStyle/>
          <a:p>
            <a:pPr algn="r">
              <a:lnSpc>
                <a:spcPct val="125000"/>
              </a:lnSpc>
              <a:spcAft>
                <a:spcPts val="0"/>
              </a:spcAft>
            </a:pPr>
            <a:r>
              <a:rPr sz="850" b="0" i="0" spc="120">
                <a:solidFill>
                  <a:srgbClr val="6B6B6B"/>
                </a:solidFill>
                <a:latin typeface="Consolas"/>
              </a:rPr>
              <a:t>08 / 27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77240" y="566928"/>
            <a:ext cx="10637215" cy="274320"/>
          </a:xfrm>
          <a:prstGeom prst="rect">
            <a:avLst/>
          </a:prstGeom>
          <a:noFill/>
        </p:spPr>
        <p:txBody>
          <a:bodyPr wrap="none" lIns="0" rIns="0" tIns="0" bIns="0">
            <a:spAutoFit/>
          </a:bodyPr>
          <a:lstStyle/>
          <a:p>
            <a:r>
              <a:rPr sz="1050" b="1" spc="200">
                <a:solidFill>
                  <a:srgbClr val="B45309"/>
                </a:solidFill>
                <a:latin typeface="Consolas"/>
              </a:rPr>
              <a:t>02  </a:t>
            </a:r>
            <a:r>
              <a:rPr sz="1050" spc="200">
                <a:solidFill>
                  <a:srgbClr val="6B6B6B"/>
                </a:solidFill>
                <a:latin typeface="Consolas"/>
              </a:rPr>
              <a:t>MODEL SELECTION</a:t>
            </a:r>
            <a:r>
              <a:rPr sz="1050" spc="200">
                <a:solidFill>
                  <a:srgbClr val="6B6B6B"/>
                </a:solidFill>
                <a:latin typeface="Consolas"/>
              </a:rPr>
              <a:t>   ·   ELBOW, SILHOUETTE, AND A JUDGEMENT CALL</a:t>
            </a:r>
          </a:p>
        </p:txBody>
      </p:sp>
      <p:sp>
        <p:nvSpPr>
          <p:cNvPr id="4" name="TextBox 3"/>
          <p:cNvSpPr txBox="1"/>
          <p:nvPr/>
        </p:nvSpPr>
        <p:spPr>
          <a:xfrm>
            <a:off x="777240" y="932688"/>
            <a:ext cx="10637215" cy="685800"/>
          </a:xfrm>
          <a:prstGeom prst="rect">
            <a:avLst/>
          </a:prstGeom>
          <a:noFill/>
        </p:spPr>
        <p:txBody>
          <a:bodyPr wrap="square" anchor="t" lIns="0" rIns="0" tIns="0" bIns="0">
            <a:spAutoFit/>
          </a:bodyPr>
          <a:lstStyle/>
          <a:p>
            <a:pPr algn="l">
              <a:lnSpc>
                <a:spcPct val="100000"/>
              </a:lnSpc>
              <a:spcAft>
                <a:spcPts val="0"/>
              </a:spcAft>
            </a:pPr>
            <a:r>
              <a:rPr sz="3200" b="0" i="0">
                <a:solidFill>
                  <a:srgbClr val="1A1A1A"/>
                </a:solidFill>
                <a:latin typeface="Georgia"/>
              </a:rPr>
              <a:t>Why K = 4</a:t>
            </a:r>
          </a:p>
        </p:txBody>
      </p:sp>
      <p:cxnSp>
        <p:nvCxnSpPr>
          <p:cNvPr id="5" name="Connector 4"/>
          <p:cNvCxnSpPr/>
          <p:nvPr/>
        </p:nvCxnSpPr>
        <p:spPr>
          <a:xfrm>
            <a:off x="777240" y="1664208"/>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pic>
        <p:nvPicPr>
          <p:cNvPr id="6" name="Picture 5" descr="elbow.png"/>
          <p:cNvPicPr>
            <a:picLocks noChangeAspect="1"/>
          </p:cNvPicPr>
          <p:nvPr/>
        </p:nvPicPr>
        <p:blipFill>
          <a:blip r:embed="rId2"/>
          <a:stretch>
            <a:fillRect/>
          </a:stretch>
        </p:blipFill>
        <p:spPr>
          <a:xfrm>
            <a:off x="777240" y="1847088"/>
            <a:ext cx="4937760" cy="2275999"/>
          </a:xfrm>
          <a:prstGeom prst="rect">
            <a:avLst/>
          </a:prstGeom>
        </p:spPr>
      </p:pic>
      <p:pic>
        <p:nvPicPr>
          <p:cNvPr id="7" name="Picture 6" descr="silhouette.png"/>
          <p:cNvPicPr>
            <a:picLocks noChangeAspect="1"/>
          </p:cNvPicPr>
          <p:nvPr/>
        </p:nvPicPr>
        <p:blipFill>
          <a:blip r:embed="rId3"/>
          <a:stretch>
            <a:fillRect/>
          </a:stretch>
        </p:blipFill>
        <p:spPr>
          <a:xfrm>
            <a:off x="6035040" y="1847088"/>
            <a:ext cx="4937760" cy="2275999"/>
          </a:xfrm>
          <a:prstGeom prst="rect">
            <a:avLst/>
          </a:prstGeom>
        </p:spPr>
      </p:pic>
      <p:sp>
        <p:nvSpPr>
          <p:cNvPr id="8" name="Rectangle 7"/>
          <p:cNvSpPr/>
          <p:nvPr/>
        </p:nvSpPr>
        <p:spPr>
          <a:xfrm>
            <a:off x="777240" y="4261104"/>
            <a:ext cx="10637215" cy="1920240"/>
          </a:xfrm>
          <a:prstGeom prst="rect">
            <a:avLst/>
          </a:prstGeom>
          <a:solidFill>
            <a:srgbClr val="F0EC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9" name="Connector 8"/>
          <p:cNvCxnSpPr/>
          <p:nvPr/>
        </p:nvCxnSpPr>
        <p:spPr>
          <a:xfrm>
            <a:off x="777240" y="4261104"/>
            <a:ext cx="10637215" cy="0"/>
          </a:xfrm>
          <a:prstGeom prst="line">
            <a:avLst/>
          </a:prstGeom>
          <a:ln w="28575">
            <a:solidFill>
              <a:srgbClr val="B45309"/>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051560" y="4462272"/>
            <a:ext cx="2743200" cy="274320"/>
          </a:xfrm>
          <a:prstGeom prst="rect">
            <a:avLst/>
          </a:prstGeom>
          <a:noFill/>
        </p:spPr>
        <p:txBody>
          <a:bodyPr wrap="square" anchor="t" lIns="0" rIns="0" tIns="0" bIns="0">
            <a:spAutoFit/>
          </a:bodyPr>
          <a:lstStyle/>
          <a:p>
            <a:pPr algn="l">
              <a:lnSpc>
                <a:spcPct val="125000"/>
              </a:lnSpc>
              <a:spcAft>
                <a:spcPts val="0"/>
              </a:spcAft>
            </a:pPr>
            <a:r>
              <a:rPr sz="950" b="0" i="0" spc="140">
                <a:solidFill>
                  <a:srgbClr val="B45309"/>
                </a:solidFill>
                <a:latin typeface="Consolas"/>
              </a:rPr>
              <a:t>THE HONEST ANSWER</a:t>
            </a:r>
          </a:p>
        </p:txBody>
      </p:sp>
      <p:sp>
        <p:nvSpPr>
          <p:cNvPr id="11" name="TextBox 10"/>
          <p:cNvSpPr txBox="1"/>
          <p:nvPr/>
        </p:nvSpPr>
        <p:spPr>
          <a:xfrm>
            <a:off x="1051560" y="4791456"/>
            <a:ext cx="4800600" cy="365760"/>
          </a:xfrm>
          <a:prstGeom prst="rect">
            <a:avLst/>
          </a:prstGeom>
          <a:noFill/>
        </p:spPr>
        <p:txBody>
          <a:bodyPr wrap="square" lIns="0" rIns="0" tIns="0" bIns="0">
            <a:spAutoFit/>
          </a:bodyPr>
          <a:lstStyle/>
          <a:p>
            <a:pPr>
              <a:lnSpc>
                <a:spcPct val="124000"/>
              </a:lnSpc>
              <a:spcAft>
                <a:spcPts val="500"/>
              </a:spcAft>
            </a:pPr>
            <a:r>
              <a:rPr sz="1150" b="1">
                <a:solidFill>
                  <a:srgbClr val="B45309"/>
                </a:solidFill>
                <a:latin typeface="Calibri"/>
              </a:rPr>
              <a:t>— </a:t>
            </a:r>
            <a:r>
              <a:rPr sz="1150">
                <a:solidFill>
                  <a:srgbClr val="1A1A1A"/>
                </a:solidFill>
                <a:latin typeface="Calibri"/>
              </a:rPr>
              <a:t>Silhouette actually peaks at K = 2 (0.432), not at K = 4 (0.337).</a:t>
            </a:r>
          </a:p>
          <a:p>
            <a:pPr>
              <a:lnSpc>
                <a:spcPct val="124000"/>
              </a:lnSpc>
              <a:spcAft>
                <a:spcPts val="500"/>
              </a:spcAft>
            </a:pPr>
            <a:r>
              <a:rPr sz="1150" b="1">
                <a:solidFill>
                  <a:srgbClr val="B45309"/>
                </a:solidFill>
                <a:latin typeface="Calibri"/>
              </a:rPr>
              <a:t>— </a:t>
            </a:r>
            <a:r>
              <a:rPr sz="1150">
                <a:solidFill>
                  <a:srgbClr val="1A1A1A"/>
                </a:solidFill>
                <a:latin typeface="Calibri"/>
              </a:rPr>
              <a:t>It rewards few, well-separated blobs — but RFM behaviour is a continuum, so it will nearly always favour the smallest K.</a:t>
            </a:r>
          </a:p>
        </p:txBody>
      </p:sp>
      <p:sp>
        <p:nvSpPr>
          <p:cNvPr id="12" name="TextBox 11"/>
          <p:cNvSpPr txBox="1"/>
          <p:nvPr/>
        </p:nvSpPr>
        <p:spPr>
          <a:xfrm>
            <a:off x="6355080" y="4791456"/>
            <a:ext cx="4800600" cy="365760"/>
          </a:xfrm>
          <a:prstGeom prst="rect">
            <a:avLst/>
          </a:prstGeom>
          <a:noFill/>
        </p:spPr>
        <p:txBody>
          <a:bodyPr wrap="square" lIns="0" rIns="0" tIns="0" bIns="0">
            <a:spAutoFit/>
          </a:bodyPr>
          <a:lstStyle/>
          <a:p>
            <a:pPr>
              <a:lnSpc>
                <a:spcPct val="124000"/>
              </a:lnSpc>
              <a:spcAft>
                <a:spcPts val="500"/>
              </a:spcAft>
            </a:pPr>
            <a:r>
              <a:rPr sz="1150" b="1">
                <a:solidFill>
                  <a:srgbClr val="B45309"/>
                </a:solidFill>
                <a:latin typeface="Calibri"/>
              </a:rPr>
              <a:t>— </a:t>
            </a:r>
            <a:r>
              <a:rPr sz="1150">
                <a:solidFill>
                  <a:srgbClr val="1A1A1A"/>
                </a:solidFill>
                <a:latin typeface="Calibri"/>
              </a:rPr>
              <a:t>K = 2 only separates 'active' from 'inactive' — not something marketing can act on differently.</a:t>
            </a:r>
          </a:p>
          <a:p>
            <a:pPr>
              <a:lnSpc>
                <a:spcPct val="124000"/>
              </a:lnSpc>
              <a:spcAft>
                <a:spcPts val="500"/>
              </a:spcAft>
            </a:pPr>
            <a:r>
              <a:rPr sz="1150" b="1">
                <a:solidFill>
                  <a:srgbClr val="B45309"/>
                </a:solidFill>
                <a:latin typeface="Calibri"/>
              </a:rPr>
              <a:t>— </a:t>
            </a:r>
            <a:r>
              <a:rPr sz="1150">
                <a:solidFill>
                  <a:srgbClr val="1A1A1A"/>
                </a:solidFill>
                <a:latin typeface="Calibri"/>
              </a:rPr>
              <a:t>K = 4 keeps a reasonable score and recovers the four standard RFM segments. Chosen for actionability, sanity-checked statistically.</a:t>
            </a:r>
          </a:p>
        </p:txBody>
      </p:sp>
      <p:cxnSp>
        <p:nvCxnSpPr>
          <p:cNvPr id="13" name="Connector 12"/>
          <p:cNvCxnSpPr/>
          <p:nvPr/>
        </p:nvCxnSpPr>
        <p:spPr>
          <a:xfrm>
            <a:off x="777240" y="6291072"/>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77240" y="6400800"/>
            <a:ext cx="6400800" cy="228600"/>
          </a:xfrm>
          <a:prstGeom prst="rect">
            <a:avLst/>
          </a:prstGeom>
          <a:noFill/>
        </p:spPr>
        <p:txBody>
          <a:bodyPr wrap="square" anchor="t" lIns="0" rIns="0" tIns="0" bIns="0">
            <a:spAutoFit/>
          </a:bodyPr>
          <a:lstStyle/>
          <a:p>
            <a:pPr algn="l">
              <a:lnSpc>
                <a:spcPct val="125000"/>
              </a:lnSpc>
              <a:spcAft>
                <a:spcPts val="0"/>
              </a:spcAft>
            </a:pPr>
            <a:r>
              <a:rPr sz="850" b="0" i="0" spc="120">
                <a:solidFill>
                  <a:srgbClr val="6B6B6B"/>
                </a:solidFill>
                <a:latin typeface="Consolas"/>
              </a:rPr>
              <a:t>CUSTOMER SEGMENTATION FOR TARGETED E-COMMERCE MARKETING</a:t>
            </a:r>
          </a:p>
        </p:txBody>
      </p:sp>
      <p:sp>
        <p:nvSpPr>
          <p:cNvPr id="15" name="TextBox 14"/>
          <p:cNvSpPr txBox="1"/>
          <p:nvPr/>
        </p:nvSpPr>
        <p:spPr>
          <a:xfrm>
            <a:off x="9585655" y="6400800"/>
            <a:ext cx="1828800" cy="228600"/>
          </a:xfrm>
          <a:prstGeom prst="rect">
            <a:avLst/>
          </a:prstGeom>
          <a:noFill/>
        </p:spPr>
        <p:txBody>
          <a:bodyPr wrap="square" anchor="t" lIns="0" rIns="0" tIns="0" bIns="0">
            <a:spAutoFit/>
          </a:bodyPr>
          <a:lstStyle/>
          <a:p>
            <a:pPr algn="r">
              <a:lnSpc>
                <a:spcPct val="125000"/>
              </a:lnSpc>
              <a:spcAft>
                <a:spcPts val="0"/>
              </a:spcAft>
            </a:pPr>
            <a:r>
              <a:rPr sz="850" b="0" i="0" spc="120">
                <a:solidFill>
                  <a:srgbClr val="6B6B6B"/>
                </a:solidFill>
                <a:latin typeface="Consolas"/>
              </a:rPr>
              <a:t>09 / 27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1B1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00584" cy="685800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2651760"/>
            <a:ext cx="1828800" cy="365760"/>
          </a:xfrm>
          <a:prstGeom prst="rect">
            <a:avLst/>
          </a:prstGeom>
          <a:noFill/>
        </p:spPr>
        <p:txBody>
          <a:bodyPr wrap="square" anchor="t" lIns="0" rIns="0" tIns="0" bIns="0">
            <a:spAutoFit/>
          </a:bodyPr>
          <a:lstStyle/>
          <a:p>
            <a:pPr algn="l">
              <a:lnSpc>
                <a:spcPct val="125000"/>
              </a:lnSpc>
              <a:spcAft>
                <a:spcPts val="0"/>
              </a:spcAft>
            </a:pPr>
            <a:r>
              <a:rPr sz="1300" b="1" i="0" spc="220">
                <a:solidFill>
                  <a:srgbClr val="B45309"/>
                </a:solidFill>
                <a:latin typeface="Consolas"/>
              </a:rPr>
              <a:t>03</a:t>
            </a:r>
          </a:p>
        </p:txBody>
      </p:sp>
      <p:sp>
        <p:nvSpPr>
          <p:cNvPr id="5" name="TextBox 4"/>
          <p:cNvSpPr txBox="1"/>
          <p:nvPr/>
        </p:nvSpPr>
        <p:spPr>
          <a:xfrm>
            <a:off x="777240" y="3063240"/>
            <a:ext cx="8686800" cy="1280160"/>
          </a:xfrm>
          <a:prstGeom prst="rect">
            <a:avLst/>
          </a:prstGeom>
          <a:noFill/>
        </p:spPr>
        <p:txBody>
          <a:bodyPr wrap="square" anchor="t" lIns="0" rIns="0" tIns="0" bIns="0">
            <a:spAutoFit/>
          </a:bodyPr>
          <a:lstStyle/>
          <a:p>
            <a:pPr algn="l">
              <a:lnSpc>
                <a:spcPct val="106000"/>
              </a:lnSpc>
              <a:spcAft>
                <a:spcPts val="0"/>
              </a:spcAft>
            </a:pPr>
            <a:r>
              <a:rPr sz="4200" b="0" i="0">
                <a:solidFill>
                  <a:srgbClr val="FAF8F4"/>
                </a:solidFill>
                <a:latin typeface="Georgia"/>
              </a:rPr>
              <a:t>Four clusters, and what each one is worth</a:t>
            </a:r>
          </a:p>
        </p:txBody>
      </p:sp>
      <p:cxnSp>
        <p:nvCxnSpPr>
          <p:cNvPr id="6" name="Connector 5"/>
          <p:cNvCxnSpPr/>
          <p:nvPr/>
        </p:nvCxnSpPr>
        <p:spPr>
          <a:xfrm>
            <a:off x="777240" y="4617720"/>
            <a:ext cx="2194560" cy="0"/>
          </a:xfrm>
          <a:prstGeom prst="line">
            <a:avLst/>
          </a:prstGeom>
          <a:ln w="28575">
            <a:solidFill>
              <a:srgbClr val="B4530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77240" y="4892040"/>
            <a:ext cx="7315200" cy="457200"/>
          </a:xfrm>
          <a:prstGeom prst="rect">
            <a:avLst/>
          </a:prstGeom>
          <a:noFill/>
        </p:spPr>
        <p:txBody>
          <a:bodyPr wrap="square" anchor="t" lIns="0" rIns="0" tIns="0" bIns="0">
            <a:spAutoFit/>
          </a:bodyPr>
          <a:lstStyle/>
          <a:p>
            <a:pPr algn="l">
              <a:lnSpc>
                <a:spcPct val="150000"/>
              </a:lnSpc>
              <a:spcAft>
                <a:spcPts val="0"/>
              </a:spcAft>
            </a:pPr>
            <a:r>
              <a:rPr sz="1300" b="0" i="0">
                <a:solidFill>
                  <a:srgbClr val="9A9488"/>
                </a:solidFill>
                <a:latin typeface="Consolas"/>
              </a:rPr>
              <a:t>K-Means on scaled RFM · 4,339 customers assigned · interpreted in original units</a:t>
            </a:r>
          </a:p>
        </p:txBody>
      </p:sp>
      <p:cxnSp>
        <p:nvCxnSpPr>
          <p:cNvPr id="8" name="Connector 7"/>
          <p:cNvCxnSpPr/>
          <p:nvPr/>
        </p:nvCxnSpPr>
        <p:spPr>
          <a:xfrm>
            <a:off x="777240" y="6291072"/>
            <a:ext cx="10637215" cy="0"/>
          </a:xfrm>
          <a:prstGeom prst="line">
            <a:avLst/>
          </a:prstGeom>
          <a:ln w="9525">
            <a:solidFill>
              <a:srgbClr val="3A3834"/>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777240" y="6400800"/>
            <a:ext cx="6400800" cy="228600"/>
          </a:xfrm>
          <a:prstGeom prst="rect">
            <a:avLst/>
          </a:prstGeom>
          <a:noFill/>
        </p:spPr>
        <p:txBody>
          <a:bodyPr wrap="square" anchor="t" lIns="0" rIns="0" tIns="0" bIns="0">
            <a:spAutoFit/>
          </a:bodyPr>
          <a:lstStyle/>
          <a:p>
            <a:pPr algn="l">
              <a:lnSpc>
                <a:spcPct val="125000"/>
              </a:lnSpc>
              <a:spcAft>
                <a:spcPts val="0"/>
              </a:spcAft>
            </a:pPr>
            <a:r>
              <a:rPr sz="850" b="0" i="0" spc="120">
                <a:solidFill>
                  <a:srgbClr val="8A847A"/>
                </a:solidFill>
                <a:latin typeface="Consolas"/>
              </a:rPr>
              <a:t>CUSTOMER SEGMENTATION FOR TARGETED E-COMMERCE MARKETING</a:t>
            </a:r>
          </a:p>
        </p:txBody>
      </p:sp>
      <p:sp>
        <p:nvSpPr>
          <p:cNvPr id="10" name="TextBox 9"/>
          <p:cNvSpPr txBox="1"/>
          <p:nvPr/>
        </p:nvSpPr>
        <p:spPr>
          <a:xfrm>
            <a:off x="9585655" y="6400800"/>
            <a:ext cx="1828800" cy="228600"/>
          </a:xfrm>
          <a:prstGeom prst="rect">
            <a:avLst/>
          </a:prstGeom>
          <a:noFill/>
        </p:spPr>
        <p:txBody>
          <a:bodyPr wrap="square" anchor="t" lIns="0" rIns="0" tIns="0" bIns="0">
            <a:spAutoFit/>
          </a:bodyPr>
          <a:lstStyle/>
          <a:p>
            <a:pPr algn="r">
              <a:lnSpc>
                <a:spcPct val="125000"/>
              </a:lnSpc>
              <a:spcAft>
                <a:spcPts val="0"/>
              </a:spcAft>
            </a:pPr>
            <a:r>
              <a:rPr sz="850" b="0" i="0" spc="120">
                <a:solidFill>
                  <a:srgbClr val="8A847A"/>
                </a:solidFill>
                <a:latin typeface="Consolas"/>
              </a:rPr>
              <a:t>10 / 27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77240" y="566928"/>
            <a:ext cx="10637215" cy="274320"/>
          </a:xfrm>
          <a:prstGeom prst="rect">
            <a:avLst/>
          </a:prstGeom>
          <a:noFill/>
        </p:spPr>
        <p:txBody>
          <a:bodyPr wrap="none" lIns="0" rIns="0" tIns="0" bIns="0">
            <a:spAutoFit/>
          </a:bodyPr>
          <a:lstStyle/>
          <a:p>
            <a:r>
              <a:rPr sz="1050" b="1" spc="200">
                <a:solidFill>
                  <a:srgbClr val="B45309"/>
                </a:solidFill>
                <a:latin typeface="Consolas"/>
              </a:rPr>
              <a:t>03  </a:t>
            </a:r>
            <a:r>
              <a:rPr sz="1050" spc="200">
                <a:solidFill>
                  <a:srgbClr val="6B6B6B"/>
                </a:solidFill>
                <a:latin typeface="Consolas"/>
              </a:rPr>
              <a:t>SEGMENTATION RESULTS</a:t>
            </a:r>
            <a:r>
              <a:rPr sz="1050" spc="200">
                <a:solidFill>
                  <a:srgbClr val="6B6B6B"/>
                </a:solidFill>
                <a:latin typeface="Consolas"/>
              </a:rPr>
              <a:t>   ·   MEAN VALUES IN ORIGINAL UNITS</a:t>
            </a:r>
          </a:p>
        </p:txBody>
      </p:sp>
      <p:sp>
        <p:nvSpPr>
          <p:cNvPr id="4" name="TextBox 3"/>
          <p:cNvSpPr txBox="1"/>
          <p:nvPr/>
        </p:nvSpPr>
        <p:spPr>
          <a:xfrm>
            <a:off x="777240" y="932688"/>
            <a:ext cx="10637215" cy="685800"/>
          </a:xfrm>
          <a:prstGeom prst="rect">
            <a:avLst/>
          </a:prstGeom>
          <a:noFill/>
        </p:spPr>
        <p:txBody>
          <a:bodyPr wrap="square" anchor="t" lIns="0" rIns="0" tIns="0" bIns="0">
            <a:spAutoFit/>
          </a:bodyPr>
          <a:lstStyle/>
          <a:p>
            <a:pPr algn="l">
              <a:lnSpc>
                <a:spcPct val="100000"/>
              </a:lnSpc>
              <a:spcAft>
                <a:spcPts val="0"/>
              </a:spcAft>
            </a:pPr>
            <a:r>
              <a:rPr sz="3200" b="0" i="0">
                <a:solidFill>
                  <a:srgbClr val="1A1A1A"/>
                </a:solidFill>
                <a:latin typeface="Georgia"/>
              </a:rPr>
              <a:t>The four segments</a:t>
            </a:r>
          </a:p>
        </p:txBody>
      </p:sp>
      <p:cxnSp>
        <p:nvCxnSpPr>
          <p:cNvPr id="5" name="Connector 4"/>
          <p:cNvCxnSpPr/>
          <p:nvPr/>
        </p:nvCxnSpPr>
        <p:spPr>
          <a:xfrm>
            <a:off x="777240" y="1664208"/>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68680" y="2103120"/>
            <a:ext cx="2104121" cy="274320"/>
          </a:xfrm>
          <a:prstGeom prst="rect">
            <a:avLst/>
          </a:prstGeom>
          <a:noFill/>
        </p:spPr>
        <p:txBody>
          <a:bodyPr wrap="square" anchor="t" lIns="0" rIns="0" tIns="0" bIns="0">
            <a:spAutoFit/>
          </a:bodyPr>
          <a:lstStyle/>
          <a:p>
            <a:pPr algn="l">
              <a:lnSpc>
                <a:spcPct val="125000"/>
              </a:lnSpc>
              <a:spcAft>
                <a:spcPts val="0"/>
              </a:spcAft>
            </a:pPr>
            <a:r>
              <a:rPr sz="900" b="0" i="0" spc="110">
                <a:solidFill>
                  <a:srgbClr val="6B6B6B"/>
                </a:solidFill>
                <a:latin typeface="Consolas"/>
              </a:rPr>
              <a:t>SEGMENT</a:t>
            </a:r>
          </a:p>
        </p:txBody>
      </p:sp>
      <p:sp>
        <p:nvSpPr>
          <p:cNvPr id="7" name="TextBox 6"/>
          <p:cNvSpPr txBox="1"/>
          <p:nvPr/>
        </p:nvSpPr>
        <p:spPr>
          <a:xfrm>
            <a:off x="3155681" y="2103120"/>
            <a:ext cx="721283" cy="274320"/>
          </a:xfrm>
          <a:prstGeom prst="rect">
            <a:avLst/>
          </a:prstGeom>
          <a:noFill/>
        </p:spPr>
        <p:txBody>
          <a:bodyPr wrap="square" anchor="t" lIns="0" rIns="0" tIns="0" bIns="0">
            <a:spAutoFit/>
          </a:bodyPr>
          <a:lstStyle/>
          <a:p>
            <a:pPr algn="r">
              <a:lnSpc>
                <a:spcPct val="125000"/>
              </a:lnSpc>
              <a:spcAft>
                <a:spcPts val="0"/>
              </a:spcAft>
            </a:pPr>
            <a:r>
              <a:rPr sz="900" b="0" i="0" spc="110">
                <a:solidFill>
                  <a:srgbClr val="6B6B6B"/>
                </a:solidFill>
                <a:latin typeface="Consolas"/>
              </a:rPr>
              <a:t>SIZE</a:t>
            </a:r>
          </a:p>
        </p:txBody>
      </p:sp>
      <p:sp>
        <p:nvSpPr>
          <p:cNvPr id="8" name="TextBox 7"/>
          <p:cNvSpPr txBox="1"/>
          <p:nvPr/>
        </p:nvSpPr>
        <p:spPr>
          <a:xfrm>
            <a:off x="4059844" y="2103120"/>
            <a:ext cx="934027" cy="274320"/>
          </a:xfrm>
          <a:prstGeom prst="rect">
            <a:avLst/>
          </a:prstGeom>
          <a:noFill/>
        </p:spPr>
        <p:txBody>
          <a:bodyPr wrap="square" anchor="t" lIns="0" rIns="0" tIns="0" bIns="0">
            <a:spAutoFit/>
          </a:bodyPr>
          <a:lstStyle/>
          <a:p>
            <a:pPr algn="r">
              <a:lnSpc>
                <a:spcPct val="125000"/>
              </a:lnSpc>
              <a:spcAft>
                <a:spcPts val="0"/>
              </a:spcAft>
            </a:pPr>
            <a:r>
              <a:rPr sz="900" b="0" i="0" spc="110">
                <a:solidFill>
                  <a:srgbClr val="6B6B6B"/>
                </a:solidFill>
                <a:latin typeface="Consolas"/>
              </a:rPr>
              <a:t>% OF BASE</a:t>
            </a:r>
          </a:p>
        </p:txBody>
      </p:sp>
      <p:sp>
        <p:nvSpPr>
          <p:cNvPr id="9" name="TextBox 8"/>
          <p:cNvSpPr txBox="1"/>
          <p:nvPr/>
        </p:nvSpPr>
        <p:spPr>
          <a:xfrm>
            <a:off x="5176751" y="2103120"/>
            <a:ext cx="1040399" cy="274320"/>
          </a:xfrm>
          <a:prstGeom prst="rect">
            <a:avLst/>
          </a:prstGeom>
          <a:noFill/>
        </p:spPr>
        <p:txBody>
          <a:bodyPr wrap="square" anchor="t" lIns="0" rIns="0" tIns="0" bIns="0">
            <a:spAutoFit/>
          </a:bodyPr>
          <a:lstStyle/>
          <a:p>
            <a:pPr algn="r">
              <a:lnSpc>
                <a:spcPct val="125000"/>
              </a:lnSpc>
              <a:spcAft>
                <a:spcPts val="0"/>
              </a:spcAft>
            </a:pPr>
            <a:r>
              <a:rPr sz="900" b="0" i="0" spc="110">
                <a:solidFill>
                  <a:srgbClr val="6B6B6B"/>
                </a:solidFill>
                <a:latin typeface="Consolas"/>
              </a:rPr>
              <a:t>RECENCY</a:t>
            </a:r>
          </a:p>
        </p:txBody>
      </p:sp>
      <p:sp>
        <p:nvSpPr>
          <p:cNvPr id="10" name="TextBox 9"/>
          <p:cNvSpPr txBox="1"/>
          <p:nvPr/>
        </p:nvSpPr>
        <p:spPr>
          <a:xfrm>
            <a:off x="6400030" y="2103120"/>
            <a:ext cx="1146771" cy="274320"/>
          </a:xfrm>
          <a:prstGeom prst="rect">
            <a:avLst/>
          </a:prstGeom>
          <a:noFill/>
        </p:spPr>
        <p:txBody>
          <a:bodyPr wrap="square" anchor="t" lIns="0" rIns="0" tIns="0" bIns="0">
            <a:spAutoFit/>
          </a:bodyPr>
          <a:lstStyle/>
          <a:p>
            <a:pPr algn="r">
              <a:lnSpc>
                <a:spcPct val="125000"/>
              </a:lnSpc>
              <a:spcAft>
                <a:spcPts val="0"/>
              </a:spcAft>
            </a:pPr>
            <a:r>
              <a:rPr sz="900" b="0" i="0" spc="110">
                <a:solidFill>
                  <a:srgbClr val="6B6B6B"/>
                </a:solidFill>
                <a:latin typeface="Consolas"/>
              </a:rPr>
              <a:t>FREQUENCY</a:t>
            </a:r>
          </a:p>
        </p:txBody>
      </p:sp>
      <p:sp>
        <p:nvSpPr>
          <p:cNvPr id="11" name="TextBox 10"/>
          <p:cNvSpPr txBox="1"/>
          <p:nvPr/>
        </p:nvSpPr>
        <p:spPr>
          <a:xfrm>
            <a:off x="7729681" y="2103120"/>
            <a:ext cx="1093585" cy="274320"/>
          </a:xfrm>
          <a:prstGeom prst="rect">
            <a:avLst/>
          </a:prstGeom>
          <a:noFill/>
        </p:spPr>
        <p:txBody>
          <a:bodyPr wrap="square" anchor="t" lIns="0" rIns="0" tIns="0" bIns="0">
            <a:spAutoFit/>
          </a:bodyPr>
          <a:lstStyle/>
          <a:p>
            <a:pPr algn="r">
              <a:lnSpc>
                <a:spcPct val="125000"/>
              </a:lnSpc>
              <a:spcAft>
                <a:spcPts val="0"/>
              </a:spcAft>
            </a:pPr>
            <a:r>
              <a:rPr sz="900" b="0" i="0" spc="110">
                <a:solidFill>
                  <a:srgbClr val="6B6B6B"/>
                </a:solidFill>
                <a:latin typeface="Consolas"/>
              </a:rPr>
              <a:t>MEAN SPEND</a:t>
            </a:r>
          </a:p>
        </p:txBody>
      </p:sp>
      <p:sp>
        <p:nvSpPr>
          <p:cNvPr id="12" name="TextBox 11"/>
          <p:cNvSpPr txBox="1"/>
          <p:nvPr/>
        </p:nvSpPr>
        <p:spPr>
          <a:xfrm>
            <a:off x="9006146" y="2103120"/>
            <a:ext cx="1146771" cy="274320"/>
          </a:xfrm>
          <a:prstGeom prst="rect">
            <a:avLst/>
          </a:prstGeom>
          <a:noFill/>
        </p:spPr>
        <p:txBody>
          <a:bodyPr wrap="square" anchor="t" lIns="0" rIns="0" tIns="0" bIns="0">
            <a:spAutoFit/>
          </a:bodyPr>
          <a:lstStyle/>
          <a:p>
            <a:pPr algn="r">
              <a:lnSpc>
                <a:spcPct val="125000"/>
              </a:lnSpc>
              <a:spcAft>
                <a:spcPts val="0"/>
              </a:spcAft>
            </a:pPr>
            <a:r>
              <a:rPr sz="900" b="0" i="0" spc="110">
                <a:solidFill>
                  <a:srgbClr val="6B6B6B"/>
                </a:solidFill>
                <a:latin typeface="Consolas"/>
              </a:rPr>
              <a:t>MEDIAN SPEND</a:t>
            </a:r>
          </a:p>
        </p:txBody>
      </p:sp>
      <p:sp>
        <p:nvSpPr>
          <p:cNvPr id="13" name="TextBox 12"/>
          <p:cNvSpPr txBox="1"/>
          <p:nvPr/>
        </p:nvSpPr>
        <p:spPr>
          <a:xfrm>
            <a:off x="10335797" y="2103120"/>
            <a:ext cx="987213" cy="274320"/>
          </a:xfrm>
          <a:prstGeom prst="rect">
            <a:avLst/>
          </a:prstGeom>
          <a:noFill/>
        </p:spPr>
        <p:txBody>
          <a:bodyPr wrap="square" anchor="t" lIns="0" rIns="0" tIns="0" bIns="0">
            <a:spAutoFit/>
          </a:bodyPr>
          <a:lstStyle/>
          <a:p>
            <a:pPr algn="r">
              <a:lnSpc>
                <a:spcPct val="125000"/>
              </a:lnSpc>
              <a:spcAft>
                <a:spcPts val="0"/>
              </a:spcAft>
            </a:pPr>
            <a:r>
              <a:rPr sz="900" b="0" i="0" spc="110">
                <a:solidFill>
                  <a:srgbClr val="6B6B6B"/>
                </a:solidFill>
                <a:latin typeface="Consolas"/>
              </a:rPr>
              <a:t>% OF REVENUE</a:t>
            </a:r>
          </a:p>
        </p:txBody>
      </p:sp>
      <p:cxnSp>
        <p:nvCxnSpPr>
          <p:cNvPr id="14" name="Connector 13"/>
          <p:cNvCxnSpPr/>
          <p:nvPr/>
        </p:nvCxnSpPr>
        <p:spPr>
          <a:xfrm>
            <a:off x="777240" y="2350008"/>
            <a:ext cx="10637215" cy="0"/>
          </a:xfrm>
          <a:prstGeom prst="line">
            <a:avLst/>
          </a:prstGeom>
          <a:ln w="12700">
            <a:solidFill>
              <a:srgbClr val="1A1A1A"/>
            </a:solidFill>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777240" y="2395728"/>
            <a:ext cx="10637215" cy="457200"/>
          </a:xfrm>
          <a:prstGeom prst="rect">
            <a:avLst/>
          </a:prstGeom>
          <a:solidFill>
            <a:srgbClr val="F0EC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777240" y="2395728"/>
            <a:ext cx="50292"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905256" y="2500884"/>
            <a:ext cx="2030969" cy="457200"/>
          </a:xfrm>
          <a:prstGeom prst="rect">
            <a:avLst/>
          </a:prstGeom>
          <a:noFill/>
        </p:spPr>
        <p:txBody>
          <a:bodyPr wrap="square" anchor="t" lIns="0" rIns="0" tIns="0" bIns="0">
            <a:spAutoFit/>
          </a:bodyPr>
          <a:lstStyle/>
          <a:p>
            <a:pPr algn="l">
              <a:lnSpc>
                <a:spcPct val="125000"/>
              </a:lnSpc>
              <a:spcAft>
                <a:spcPts val="0"/>
              </a:spcAft>
            </a:pPr>
            <a:r>
              <a:rPr sz="1150" b="1" i="0">
                <a:solidFill>
                  <a:srgbClr val="1A1A1A"/>
                </a:solidFill>
                <a:latin typeface="Calibri"/>
              </a:rPr>
              <a:t>Champions</a:t>
            </a:r>
          </a:p>
        </p:txBody>
      </p:sp>
      <p:sp>
        <p:nvSpPr>
          <p:cNvPr id="18" name="TextBox 17"/>
          <p:cNvSpPr txBox="1"/>
          <p:nvPr/>
        </p:nvSpPr>
        <p:spPr>
          <a:xfrm>
            <a:off x="3192257" y="2500884"/>
            <a:ext cx="648131" cy="457200"/>
          </a:xfrm>
          <a:prstGeom prst="rect">
            <a:avLst/>
          </a:prstGeom>
          <a:noFill/>
        </p:spPr>
        <p:txBody>
          <a:bodyPr wrap="square" anchor="t" lIns="0" rIns="0" tIns="0" bIns="0">
            <a:spAutoFit/>
          </a:bodyPr>
          <a:lstStyle/>
          <a:p>
            <a:pPr algn="r">
              <a:lnSpc>
                <a:spcPct val="125000"/>
              </a:lnSpc>
              <a:spcAft>
                <a:spcPts val="0"/>
              </a:spcAft>
            </a:pPr>
            <a:r>
              <a:rPr sz="1150" b="0" i="0">
                <a:solidFill>
                  <a:srgbClr val="6B6B6B"/>
                </a:solidFill>
                <a:latin typeface="Calibri"/>
              </a:rPr>
              <a:t>715</a:t>
            </a:r>
          </a:p>
        </p:txBody>
      </p:sp>
      <p:sp>
        <p:nvSpPr>
          <p:cNvPr id="19" name="TextBox 18"/>
          <p:cNvSpPr txBox="1"/>
          <p:nvPr/>
        </p:nvSpPr>
        <p:spPr>
          <a:xfrm>
            <a:off x="4096420" y="2500884"/>
            <a:ext cx="860875" cy="457200"/>
          </a:xfrm>
          <a:prstGeom prst="rect">
            <a:avLst/>
          </a:prstGeom>
          <a:noFill/>
        </p:spPr>
        <p:txBody>
          <a:bodyPr wrap="square" anchor="t" lIns="0" rIns="0" tIns="0" bIns="0">
            <a:spAutoFit/>
          </a:bodyPr>
          <a:lstStyle/>
          <a:p>
            <a:pPr algn="r">
              <a:lnSpc>
                <a:spcPct val="125000"/>
              </a:lnSpc>
              <a:spcAft>
                <a:spcPts val="0"/>
              </a:spcAft>
            </a:pPr>
            <a:r>
              <a:rPr sz="1150" b="0" i="0">
                <a:solidFill>
                  <a:srgbClr val="6B6B6B"/>
                </a:solidFill>
                <a:latin typeface="Calibri"/>
              </a:rPr>
              <a:t>16.5%</a:t>
            </a:r>
          </a:p>
        </p:txBody>
      </p:sp>
      <p:sp>
        <p:nvSpPr>
          <p:cNvPr id="20" name="TextBox 19"/>
          <p:cNvSpPr txBox="1"/>
          <p:nvPr/>
        </p:nvSpPr>
        <p:spPr>
          <a:xfrm>
            <a:off x="5213327" y="2500884"/>
            <a:ext cx="967247" cy="457200"/>
          </a:xfrm>
          <a:prstGeom prst="rect">
            <a:avLst/>
          </a:prstGeom>
          <a:noFill/>
        </p:spPr>
        <p:txBody>
          <a:bodyPr wrap="square" anchor="t" lIns="0" rIns="0" tIns="0" bIns="0">
            <a:spAutoFit/>
          </a:bodyPr>
          <a:lstStyle/>
          <a:p>
            <a:pPr algn="r">
              <a:lnSpc>
                <a:spcPct val="125000"/>
              </a:lnSpc>
              <a:spcAft>
                <a:spcPts val="0"/>
              </a:spcAft>
            </a:pPr>
            <a:r>
              <a:rPr sz="1150" b="0" i="0">
                <a:solidFill>
                  <a:srgbClr val="6B6B6B"/>
                </a:solidFill>
                <a:latin typeface="Calibri"/>
              </a:rPr>
              <a:t>12 days</a:t>
            </a:r>
          </a:p>
        </p:txBody>
      </p:sp>
      <p:sp>
        <p:nvSpPr>
          <p:cNvPr id="21" name="TextBox 20"/>
          <p:cNvSpPr txBox="1"/>
          <p:nvPr/>
        </p:nvSpPr>
        <p:spPr>
          <a:xfrm>
            <a:off x="6436606" y="2500884"/>
            <a:ext cx="1073619" cy="457200"/>
          </a:xfrm>
          <a:prstGeom prst="rect">
            <a:avLst/>
          </a:prstGeom>
          <a:noFill/>
        </p:spPr>
        <p:txBody>
          <a:bodyPr wrap="square" anchor="t" lIns="0" rIns="0" tIns="0" bIns="0">
            <a:spAutoFit/>
          </a:bodyPr>
          <a:lstStyle/>
          <a:p>
            <a:pPr algn="r">
              <a:lnSpc>
                <a:spcPct val="125000"/>
              </a:lnSpc>
              <a:spcAft>
                <a:spcPts val="0"/>
              </a:spcAft>
            </a:pPr>
            <a:r>
              <a:rPr sz="1150" b="0" i="0">
                <a:solidFill>
                  <a:srgbClr val="6B6B6B"/>
                </a:solidFill>
                <a:latin typeface="Calibri"/>
              </a:rPr>
              <a:t>13.7 orders</a:t>
            </a:r>
          </a:p>
        </p:txBody>
      </p:sp>
      <p:sp>
        <p:nvSpPr>
          <p:cNvPr id="22" name="TextBox 21"/>
          <p:cNvSpPr txBox="1"/>
          <p:nvPr/>
        </p:nvSpPr>
        <p:spPr>
          <a:xfrm>
            <a:off x="7766257" y="2500884"/>
            <a:ext cx="1020433" cy="457200"/>
          </a:xfrm>
          <a:prstGeom prst="rect">
            <a:avLst/>
          </a:prstGeom>
          <a:noFill/>
        </p:spPr>
        <p:txBody>
          <a:bodyPr wrap="square" anchor="t" lIns="0" rIns="0" tIns="0" bIns="0">
            <a:spAutoFit/>
          </a:bodyPr>
          <a:lstStyle/>
          <a:p>
            <a:pPr algn="r">
              <a:lnSpc>
                <a:spcPct val="125000"/>
              </a:lnSpc>
              <a:spcAft>
                <a:spcPts val="0"/>
              </a:spcAft>
            </a:pPr>
            <a:r>
              <a:rPr sz="1150" b="0" i="0">
                <a:solidFill>
                  <a:srgbClr val="6B6B6B"/>
                </a:solidFill>
                <a:latin typeface="Calibri"/>
              </a:rPr>
              <a:t>£8,083</a:t>
            </a:r>
          </a:p>
        </p:txBody>
      </p:sp>
      <p:sp>
        <p:nvSpPr>
          <p:cNvPr id="23" name="TextBox 22"/>
          <p:cNvSpPr txBox="1"/>
          <p:nvPr/>
        </p:nvSpPr>
        <p:spPr>
          <a:xfrm>
            <a:off x="9042722" y="2500884"/>
            <a:ext cx="1073619" cy="457200"/>
          </a:xfrm>
          <a:prstGeom prst="rect">
            <a:avLst/>
          </a:prstGeom>
          <a:noFill/>
        </p:spPr>
        <p:txBody>
          <a:bodyPr wrap="square" anchor="t" lIns="0" rIns="0" tIns="0" bIns="0">
            <a:spAutoFit/>
          </a:bodyPr>
          <a:lstStyle/>
          <a:p>
            <a:pPr algn="r">
              <a:lnSpc>
                <a:spcPct val="125000"/>
              </a:lnSpc>
              <a:spcAft>
                <a:spcPts val="0"/>
              </a:spcAft>
            </a:pPr>
            <a:r>
              <a:rPr sz="1150" b="0" i="0">
                <a:solidFill>
                  <a:srgbClr val="6B6B6B"/>
                </a:solidFill>
                <a:latin typeface="Calibri"/>
              </a:rPr>
              <a:t>£3,738</a:t>
            </a:r>
          </a:p>
        </p:txBody>
      </p:sp>
      <p:sp>
        <p:nvSpPr>
          <p:cNvPr id="24" name="TextBox 23"/>
          <p:cNvSpPr txBox="1"/>
          <p:nvPr/>
        </p:nvSpPr>
        <p:spPr>
          <a:xfrm>
            <a:off x="10372373" y="2500884"/>
            <a:ext cx="914061" cy="457200"/>
          </a:xfrm>
          <a:prstGeom prst="rect">
            <a:avLst/>
          </a:prstGeom>
          <a:noFill/>
        </p:spPr>
        <p:txBody>
          <a:bodyPr wrap="square" anchor="t" lIns="0" rIns="0" tIns="0" bIns="0">
            <a:spAutoFit/>
          </a:bodyPr>
          <a:lstStyle/>
          <a:p>
            <a:pPr algn="r">
              <a:lnSpc>
                <a:spcPct val="125000"/>
              </a:lnSpc>
              <a:spcAft>
                <a:spcPts val="0"/>
              </a:spcAft>
            </a:pPr>
            <a:r>
              <a:rPr sz="1150" b="0" i="0">
                <a:solidFill>
                  <a:srgbClr val="6B6B6B"/>
                </a:solidFill>
                <a:latin typeface="Calibri"/>
              </a:rPr>
              <a:t>64.9%</a:t>
            </a:r>
          </a:p>
        </p:txBody>
      </p:sp>
      <p:cxnSp>
        <p:nvCxnSpPr>
          <p:cNvPr id="25" name="Connector 24"/>
          <p:cNvCxnSpPr/>
          <p:nvPr/>
        </p:nvCxnSpPr>
        <p:spPr>
          <a:xfrm>
            <a:off x="777240" y="2852928"/>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777240" y="2852928"/>
            <a:ext cx="50292" cy="4572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905256" y="2958084"/>
            <a:ext cx="2030969" cy="457200"/>
          </a:xfrm>
          <a:prstGeom prst="rect">
            <a:avLst/>
          </a:prstGeom>
          <a:noFill/>
        </p:spPr>
        <p:txBody>
          <a:bodyPr wrap="square" anchor="t" lIns="0" rIns="0" tIns="0" bIns="0">
            <a:spAutoFit/>
          </a:bodyPr>
          <a:lstStyle/>
          <a:p>
            <a:pPr algn="l">
              <a:lnSpc>
                <a:spcPct val="125000"/>
              </a:lnSpc>
              <a:spcAft>
                <a:spcPts val="0"/>
              </a:spcAft>
            </a:pPr>
            <a:r>
              <a:rPr sz="1150" b="1" i="0">
                <a:solidFill>
                  <a:srgbClr val="1A1A1A"/>
                </a:solidFill>
                <a:latin typeface="Calibri"/>
              </a:rPr>
              <a:t>At-Risk Mid-Value</a:t>
            </a:r>
          </a:p>
        </p:txBody>
      </p:sp>
      <p:sp>
        <p:nvSpPr>
          <p:cNvPr id="28" name="TextBox 27"/>
          <p:cNvSpPr txBox="1"/>
          <p:nvPr/>
        </p:nvSpPr>
        <p:spPr>
          <a:xfrm>
            <a:off x="3192257" y="2958084"/>
            <a:ext cx="648131" cy="457200"/>
          </a:xfrm>
          <a:prstGeom prst="rect">
            <a:avLst/>
          </a:prstGeom>
          <a:noFill/>
        </p:spPr>
        <p:txBody>
          <a:bodyPr wrap="square" anchor="t" lIns="0" rIns="0" tIns="0" bIns="0">
            <a:spAutoFit/>
          </a:bodyPr>
          <a:lstStyle/>
          <a:p>
            <a:pPr algn="r">
              <a:lnSpc>
                <a:spcPct val="125000"/>
              </a:lnSpc>
              <a:spcAft>
                <a:spcPts val="0"/>
              </a:spcAft>
            </a:pPr>
            <a:r>
              <a:rPr sz="1150" b="0" i="0">
                <a:solidFill>
                  <a:srgbClr val="6B6B6B"/>
                </a:solidFill>
                <a:latin typeface="Calibri"/>
              </a:rPr>
              <a:t>1,175</a:t>
            </a:r>
          </a:p>
        </p:txBody>
      </p:sp>
      <p:sp>
        <p:nvSpPr>
          <p:cNvPr id="29" name="TextBox 28"/>
          <p:cNvSpPr txBox="1"/>
          <p:nvPr/>
        </p:nvSpPr>
        <p:spPr>
          <a:xfrm>
            <a:off x="4096420" y="2958084"/>
            <a:ext cx="860875" cy="457200"/>
          </a:xfrm>
          <a:prstGeom prst="rect">
            <a:avLst/>
          </a:prstGeom>
          <a:noFill/>
        </p:spPr>
        <p:txBody>
          <a:bodyPr wrap="square" anchor="t" lIns="0" rIns="0" tIns="0" bIns="0">
            <a:spAutoFit/>
          </a:bodyPr>
          <a:lstStyle/>
          <a:p>
            <a:pPr algn="r">
              <a:lnSpc>
                <a:spcPct val="125000"/>
              </a:lnSpc>
              <a:spcAft>
                <a:spcPts val="0"/>
              </a:spcAft>
            </a:pPr>
            <a:r>
              <a:rPr sz="1150" b="0" i="0">
                <a:solidFill>
                  <a:srgbClr val="6B6B6B"/>
                </a:solidFill>
                <a:latin typeface="Calibri"/>
              </a:rPr>
              <a:t>27.1%</a:t>
            </a:r>
          </a:p>
        </p:txBody>
      </p:sp>
      <p:sp>
        <p:nvSpPr>
          <p:cNvPr id="30" name="TextBox 29"/>
          <p:cNvSpPr txBox="1"/>
          <p:nvPr/>
        </p:nvSpPr>
        <p:spPr>
          <a:xfrm>
            <a:off x="5213327" y="2958084"/>
            <a:ext cx="967247" cy="457200"/>
          </a:xfrm>
          <a:prstGeom prst="rect">
            <a:avLst/>
          </a:prstGeom>
          <a:noFill/>
        </p:spPr>
        <p:txBody>
          <a:bodyPr wrap="square" anchor="t" lIns="0" rIns="0" tIns="0" bIns="0">
            <a:spAutoFit/>
          </a:bodyPr>
          <a:lstStyle/>
          <a:p>
            <a:pPr algn="r">
              <a:lnSpc>
                <a:spcPct val="125000"/>
              </a:lnSpc>
              <a:spcAft>
                <a:spcPts val="0"/>
              </a:spcAft>
            </a:pPr>
            <a:r>
              <a:rPr sz="1150" b="0" i="0">
                <a:solidFill>
                  <a:srgbClr val="6B6B6B"/>
                </a:solidFill>
                <a:latin typeface="Calibri"/>
              </a:rPr>
              <a:t>71 days</a:t>
            </a:r>
          </a:p>
        </p:txBody>
      </p:sp>
      <p:sp>
        <p:nvSpPr>
          <p:cNvPr id="31" name="TextBox 30"/>
          <p:cNvSpPr txBox="1"/>
          <p:nvPr/>
        </p:nvSpPr>
        <p:spPr>
          <a:xfrm>
            <a:off x="6436606" y="2958084"/>
            <a:ext cx="1073619" cy="457200"/>
          </a:xfrm>
          <a:prstGeom prst="rect">
            <a:avLst/>
          </a:prstGeom>
          <a:noFill/>
        </p:spPr>
        <p:txBody>
          <a:bodyPr wrap="square" anchor="t" lIns="0" rIns="0" tIns="0" bIns="0">
            <a:spAutoFit/>
          </a:bodyPr>
          <a:lstStyle/>
          <a:p>
            <a:pPr algn="r">
              <a:lnSpc>
                <a:spcPct val="125000"/>
              </a:lnSpc>
              <a:spcAft>
                <a:spcPts val="0"/>
              </a:spcAft>
            </a:pPr>
            <a:r>
              <a:rPr sz="1150" b="0" i="0">
                <a:solidFill>
                  <a:srgbClr val="6B6B6B"/>
                </a:solidFill>
                <a:latin typeface="Calibri"/>
              </a:rPr>
              <a:t>4.1 orders</a:t>
            </a:r>
          </a:p>
        </p:txBody>
      </p:sp>
      <p:sp>
        <p:nvSpPr>
          <p:cNvPr id="32" name="TextBox 31"/>
          <p:cNvSpPr txBox="1"/>
          <p:nvPr/>
        </p:nvSpPr>
        <p:spPr>
          <a:xfrm>
            <a:off x="7766257" y="2958084"/>
            <a:ext cx="1020433" cy="457200"/>
          </a:xfrm>
          <a:prstGeom prst="rect">
            <a:avLst/>
          </a:prstGeom>
          <a:noFill/>
        </p:spPr>
        <p:txBody>
          <a:bodyPr wrap="square" anchor="t" lIns="0" rIns="0" tIns="0" bIns="0">
            <a:spAutoFit/>
          </a:bodyPr>
          <a:lstStyle/>
          <a:p>
            <a:pPr algn="r">
              <a:lnSpc>
                <a:spcPct val="125000"/>
              </a:lnSpc>
              <a:spcAft>
                <a:spcPts val="0"/>
              </a:spcAft>
            </a:pPr>
            <a:r>
              <a:rPr sz="1150" b="0" i="0">
                <a:solidFill>
                  <a:srgbClr val="6B6B6B"/>
                </a:solidFill>
                <a:latin typeface="Calibri"/>
              </a:rPr>
              <a:t>£1,801</a:t>
            </a:r>
          </a:p>
        </p:txBody>
      </p:sp>
      <p:sp>
        <p:nvSpPr>
          <p:cNvPr id="33" name="TextBox 32"/>
          <p:cNvSpPr txBox="1"/>
          <p:nvPr/>
        </p:nvSpPr>
        <p:spPr>
          <a:xfrm>
            <a:off x="9042722" y="2958084"/>
            <a:ext cx="1073619" cy="457200"/>
          </a:xfrm>
          <a:prstGeom prst="rect">
            <a:avLst/>
          </a:prstGeom>
          <a:noFill/>
        </p:spPr>
        <p:txBody>
          <a:bodyPr wrap="square" anchor="t" lIns="0" rIns="0" tIns="0" bIns="0">
            <a:spAutoFit/>
          </a:bodyPr>
          <a:lstStyle/>
          <a:p>
            <a:pPr algn="r">
              <a:lnSpc>
                <a:spcPct val="125000"/>
              </a:lnSpc>
              <a:spcAft>
                <a:spcPts val="0"/>
              </a:spcAft>
            </a:pPr>
            <a:r>
              <a:rPr sz="1150" b="0" i="0">
                <a:solidFill>
                  <a:srgbClr val="6B6B6B"/>
                </a:solidFill>
                <a:latin typeface="Calibri"/>
              </a:rPr>
              <a:t>£1,346</a:t>
            </a:r>
          </a:p>
        </p:txBody>
      </p:sp>
      <p:sp>
        <p:nvSpPr>
          <p:cNvPr id="34" name="TextBox 33"/>
          <p:cNvSpPr txBox="1"/>
          <p:nvPr/>
        </p:nvSpPr>
        <p:spPr>
          <a:xfrm>
            <a:off x="10372373" y="2958084"/>
            <a:ext cx="914061" cy="457200"/>
          </a:xfrm>
          <a:prstGeom prst="rect">
            <a:avLst/>
          </a:prstGeom>
          <a:noFill/>
        </p:spPr>
        <p:txBody>
          <a:bodyPr wrap="square" anchor="t" lIns="0" rIns="0" tIns="0" bIns="0">
            <a:spAutoFit/>
          </a:bodyPr>
          <a:lstStyle/>
          <a:p>
            <a:pPr algn="r">
              <a:lnSpc>
                <a:spcPct val="125000"/>
              </a:lnSpc>
              <a:spcAft>
                <a:spcPts val="0"/>
              </a:spcAft>
            </a:pPr>
            <a:r>
              <a:rPr sz="1150" b="0" i="0">
                <a:solidFill>
                  <a:srgbClr val="6B6B6B"/>
                </a:solidFill>
                <a:latin typeface="Calibri"/>
              </a:rPr>
              <a:t>23.8%</a:t>
            </a:r>
          </a:p>
        </p:txBody>
      </p:sp>
      <p:cxnSp>
        <p:nvCxnSpPr>
          <p:cNvPr id="35" name="Connector 34"/>
          <p:cNvCxnSpPr/>
          <p:nvPr/>
        </p:nvCxnSpPr>
        <p:spPr>
          <a:xfrm>
            <a:off x="777240" y="3310128"/>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777240" y="3310128"/>
            <a:ext cx="10637215" cy="457200"/>
          </a:xfrm>
          <a:prstGeom prst="rect">
            <a:avLst/>
          </a:prstGeom>
          <a:solidFill>
            <a:srgbClr val="F0EC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777240" y="3310128"/>
            <a:ext cx="50292" cy="45720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905256" y="3415284"/>
            <a:ext cx="2030969" cy="457200"/>
          </a:xfrm>
          <a:prstGeom prst="rect">
            <a:avLst/>
          </a:prstGeom>
          <a:noFill/>
        </p:spPr>
        <p:txBody>
          <a:bodyPr wrap="square" anchor="t" lIns="0" rIns="0" tIns="0" bIns="0">
            <a:spAutoFit/>
          </a:bodyPr>
          <a:lstStyle/>
          <a:p>
            <a:pPr algn="l">
              <a:lnSpc>
                <a:spcPct val="125000"/>
              </a:lnSpc>
              <a:spcAft>
                <a:spcPts val="0"/>
              </a:spcAft>
            </a:pPr>
            <a:r>
              <a:rPr sz="1150" b="1" i="0">
                <a:solidFill>
                  <a:srgbClr val="1A1A1A"/>
                </a:solidFill>
                <a:latin typeface="Calibri"/>
              </a:rPr>
              <a:t>New / Occasional</a:t>
            </a:r>
          </a:p>
        </p:txBody>
      </p:sp>
      <p:sp>
        <p:nvSpPr>
          <p:cNvPr id="39" name="TextBox 38"/>
          <p:cNvSpPr txBox="1"/>
          <p:nvPr/>
        </p:nvSpPr>
        <p:spPr>
          <a:xfrm>
            <a:off x="3192257" y="3415284"/>
            <a:ext cx="648131" cy="457200"/>
          </a:xfrm>
          <a:prstGeom prst="rect">
            <a:avLst/>
          </a:prstGeom>
          <a:noFill/>
        </p:spPr>
        <p:txBody>
          <a:bodyPr wrap="square" anchor="t" lIns="0" rIns="0" tIns="0" bIns="0">
            <a:spAutoFit/>
          </a:bodyPr>
          <a:lstStyle/>
          <a:p>
            <a:pPr algn="r">
              <a:lnSpc>
                <a:spcPct val="125000"/>
              </a:lnSpc>
              <a:spcAft>
                <a:spcPts val="0"/>
              </a:spcAft>
            </a:pPr>
            <a:r>
              <a:rPr sz="1150" b="0" i="0">
                <a:solidFill>
                  <a:srgbClr val="6B6B6B"/>
                </a:solidFill>
                <a:latin typeface="Calibri"/>
              </a:rPr>
              <a:t>825</a:t>
            </a:r>
          </a:p>
        </p:txBody>
      </p:sp>
      <p:sp>
        <p:nvSpPr>
          <p:cNvPr id="40" name="TextBox 39"/>
          <p:cNvSpPr txBox="1"/>
          <p:nvPr/>
        </p:nvSpPr>
        <p:spPr>
          <a:xfrm>
            <a:off x="4096420" y="3415284"/>
            <a:ext cx="860875" cy="457200"/>
          </a:xfrm>
          <a:prstGeom prst="rect">
            <a:avLst/>
          </a:prstGeom>
          <a:noFill/>
        </p:spPr>
        <p:txBody>
          <a:bodyPr wrap="square" anchor="t" lIns="0" rIns="0" tIns="0" bIns="0">
            <a:spAutoFit/>
          </a:bodyPr>
          <a:lstStyle/>
          <a:p>
            <a:pPr algn="r">
              <a:lnSpc>
                <a:spcPct val="125000"/>
              </a:lnSpc>
              <a:spcAft>
                <a:spcPts val="0"/>
              </a:spcAft>
            </a:pPr>
            <a:r>
              <a:rPr sz="1150" b="0" i="0">
                <a:solidFill>
                  <a:srgbClr val="6B6B6B"/>
                </a:solidFill>
                <a:latin typeface="Calibri"/>
              </a:rPr>
              <a:t>19.0%</a:t>
            </a:r>
          </a:p>
        </p:txBody>
      </p:sp>
      <p:sp>
        <p:nvSpPr>
          <p:cNvPr id="41" name="TextBox 40"/>
          <p:cNvSpPr txBox="1"/>
          <p:nvPr/>
        </p:nvSpPr>
        <p:spPr>
          <a:xfrm>
            <a:off x="5213327" y="3415284"/>
            <a:ext cx="967247" cy="457200"/>
          </a:xfrm>
          <a:prstGeom prst="rect">
            <a:avLst/>
          </a:prstGeom>
          <a:noFill/>
        </p:spPr>
        <p:txBody>
          <a:bodyPr wrap="square" anchor="t" lIns="0" rIns="0" tIns="0" bIns="0">
            <a:spAutoFit/>
          </a:bodyPr>
          <a:lstStyle/>
          <a:p>
            <a:pPr algn="r">
              <a:lnSpc>
                <a:spcPct val="125000"/>
              </a:lnSpc>
              <a:spcAft>
                <a:spcPts val="0"/>
              </a:spcAft>
            </a:pPr>
            <a:r>
              <a:rPr sz="1150" b="0" i="0">
                <a:solidFill>
                  <a:srgbClr val="6B6B6B"/>
                </a:solidFill>
                <a:latin typeface="Calibri"/>
              </a:rPr>
              <a:t>18 days</a:t>
            </a:r>
          </a:p>
        </p:txBody>
      </p:sp>
      <p:sp>
        <p:nvSpPr>
          <p:cNvPr id="42" name="TextBox 41"/>
          <p:cNvSpPr txBox="1"/>
          <p:nvPr/>
        </p:nvSpPr>
        <p:spPr>
          <a:xfrm>
            <a:off x="6436606" y="3415284"/>
            <a:ext cx="1073619" cy="457200"/>
          </a:xfrm>
          <a:prstGeom prst="rect">
            <a:avLst/>
          </a:prstGeom>
          <a:noFill/>
        </p:spPr>
        <p:txBody>
          <a:bodyPr wrap="square" anchor="t" lIns="0" rIns="0" tIns="0" bIns="0">
            <a:spAutoFit/>
          </a:bodyPr>
          <a:lstStyle/>
          <a:p>
            <a:pPr algn="r">
              <a:lnSpc>
                <a:spcPct val="125000"/>
              </a:lnSpc>
              <a:spcAft>
                <a:spcPts val="0"/>
              </a:spcAft>
            </a:pPr>
            <a:r>
              <a:rPr sz="1150" b="0" i="0">
                <a:solidFill>
                  <a:srgbClr val="6B6B6B"/>
                </a:solidFill>
                <a:latin typeface="Calibri"/>
              </a:rPr>
              <a:t>2.2 orders</a:t>
            </a:r>
          </a:p>
        </p:txBody>
      </p:sp>
      <p:sp>
        <p:nvSpPr>
          <p:cNvPr id="43" name="TextBox 42"/>
          <p:cNvSpPr txBox="1"/>
          <p:nvPr/>
        </p:nvSpPr>
        <p:spPr>
          <a:xfrm>
            <a:off x="7766257" y="3415284"/>
            <a:ext cx="1020433" cy="457200"/>
          </a:xfrm>
          <a:prstGeom prst="rect">
            <a:avLst/>
          </a:prstGeom>
          <a:noFill/>
        </p:spPr>
        <p:txBody>
          <a:bodyPr wrap="square" anchor="t" lIns="0" rIns="0" tIns="0" bIns="0">
            <a:spAutoFit/>
          </a:bodyPr>
          <a:lstStyle/>
          <a:p>
            <a:pPr algn="r">
              <a:lnSpc>
                <a:spcPct val="125000"/>
              </a:lnSpc>
              <a:spcAft>
                <a:spcPts val="0"/>
              </a:spcAft>
            </a:pPr>
            <a:r>
              <a:rPr sz="1150" b="0" i="0">
                <a:solidFill>
                  <a:srgbClr val="6B6B6B"/>
                </a:solidFill>
                <a:latin typeface="Calibri"/>
              </a:rPr>
              <a:t>£558</a:t>
            </a:r>
          </a:p>
        </p:txBody>
      </p:sp>
      <p:sp>
        <p:nvSpPr>
          <p:cNvPr id="44" name="TextBox 43"/>
          <p:cNvSpPr txBox="1"/>
          <p:nvPr/>
        </p:nvSpPr>
        <p:spPr>
          <a:xfrm>
            <a:off x="9042722" y="3415284"/>
            <a:ext cx="1073619" cy="457200"/>
          </a:xfrm>
          <a:prstGeom prst="rect">
            <a:avLst/>
          </a:prstGeom>
          <a:noFill/>
        </p:spPr>
        <p:txBody>
          <a:bodyPr wrap="square" anchor="t" lIns="0" rIns="0" tIns="0" bIns="0">
            <a:spAutoFit/>
          </a:bodyPr>
          <a:lstStyle/>
          <a:p>
            <a:pPr algn="r">
              <a:lnSpc>
                <a:spcPct val="125000"/>
              </a:lnSpc>
              <a:spcAft>
                <a:spcPts val="0"/>
              </a:spcAft>
            </a:pPr>
            <a:r>
              <a:rPr sz="1150" b="0" i="0">
                <a:solidFill>
                  <a:srgbClr val="6B6B6B"/>
                </a:solidFill>
                <a:latin typeface="Calibri"/>
              </a:rPr>
              <a:t>£479</a:t>
            </a:r>
          </a:p>
        </p:txBody>
      </p:sp>
      <p:sp>
        <p:nvSpPr>
          <p:cNvPr id="45" name="TextBox 44"/>
          <p:cNvSpPr txBox="1"/>
          <p:nvPr/>
        </p:nvSpPr>
        <p:spPr>
          <a:xfrm>
            <a:off x="10372373" y="3415284"/>
            <a:ext cx="914061" cy="457200"/>
          </a:xfrm>
          <a:prstGeom prst="rect">
            <a:avLst/>
          </a:prstGeom>
          <a:noFill/>
        </p:spPr>
        <p:txBody>
          <a:bodyPr wrap="square" anchor="t" lIns="0" rIns="0" tIns="0" bIns="0">
            <a:spAutoFit/>
          </a:bodyPr>
          <a:lstStyle/>
          <a:p>
            <a:pPr algn="r">
              <a:lnSpc>
                <a:spcPct val="125000"/>
              </a:lnSpc>
              <a:spcAft>
                <a:spcPts val="0"/>
              </a:spcAft>
            </a:pPr>
            <a:r>
              <a:rPr sz="1150" b="0" i="0">
                <a:solidFill>
                  <a:srgbClr val="6B6B6B"/>
                </a:solidFill>
                <a:latin typeface="Calibri"/>
              </a:rPr>
              <a:t>5.2%</a:t>
            </a:r>
          </a:p>
        </p:txBody>
      </p:sp>
      <p:cxnSp>
        <p:nvCxnSpPr>
          <p:cNvPr id="46" name="Connector 45"/>
          <p:cNvCxnSpPr/>
          <p:nvPr/>
        </p:nvCxnSpPr>
        <p:spPr>
          <a:xfrm>
            <a:off x="777240" y="3767328"/>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777240" y="3767328"/>
            <a:ext cx="50292" cy="45720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905256" y="3872484"/>
            <a:ext cx="2030969" cy="457200"/>
          </a:xfrm>
          <a:prstGeom prst="rect">
            <a:avLst/>
          </a:prstGeom>
          <a:noFill/>
        </p:spPr>
        <p:txBody>
          <a:bodyPr wrap="square" anchor="t" lIns="0" rIns="0" tIns="0" bIns="0">
            <a:spAutoFit/>
          </a:bodyPr>
          <a:lstStyle/>
          <a:p>
            <a:pPr algn="l">
              <a:lnSpc>
                <a:spcPct val="125000"/>
              </a:lnSpc>
              <a:spcAft>
                <a:spcPts val="0"/>
              </a:spcAft>
            </a:pPr>
            <a:r>
              <a:rPr sz="1150" b="1" i="0">
                <a:solidFill>
                  <a:srgbClr val="1A1A1A"/>
                </a:solidFill>
                <a:latin typeface="Calibri"/>
              </a:rPr>
              <a:t>Hibernating</a:t>
            </a:r>
          </a:p>
        </p:txBody>
      </p:sp>
      <p:sp>
        <p:nvSpPr>
          <p:cNvPr id="49" name="TextBox 48"/>
          <p:cNvSpPr txBox="1"/>
          <p:nvPr/>
        </p:nvSpPr>
        <p:spPr>
          <a:xfrm>
            <a:off x="3192257" y="3872484"/>
            <a:ext cx="648131" cy="457200"/>
          </a:xfrm>
          <a:prstGeom prst="rect">
            <a:avLst/>
          </a:prstGeom>
          <a:noFill/>
        </p:spPr>
        <p:txBody>
          <a:bodyPr wrap="square" anchor="t" lIns="0" rIns="0" tIns="0" bIns="0">
            <a:spAutoFit/>
          </a:bodyPr>
          <a:lstStyle/>
          <a:p>
            <a:pPr algn="r">
              <a:lnSpc>
                <a:spcPct val="125000"/>
              </a:lnSpc>
              <a:spcAft>
                <a:spcPts val="0"/>
              </a:spcAft>
            </a:pPr>
            <a:r>
              <a:rPr sz="1150" b="0" i="0">
                <a:solidFill>
                  <a:srgbClr val="6B6B6B"/>
                </a:solidFill>
                <a:latin typeface="Calibri"/>
              </a:rPr>
              <a:t>1,624</a:t>
            </a:r>
          </a:p>
        </p:txBody>
      </p:sp>
      <p:sp>
        <p:nvSpPr>
          <p:cNvPr id="50" name="TextBox 49"/>
          <p:cNvSpPr txBox="1"/>
          <p:nvPr/>
        </p:nvSpPr>
        <p:spPr>
          <a:xfrm>
            <a:off x="4096420" y="3872484"/>
            <a:ext cx="860875" cy="457200"/>
          </a:xfrm>
          <a:prstGeom prst="rect">
            <a:avLst/>
          </a:prstGeom>
          <a:noFill/>
        </p:spPr>
        <p:txBody>
          <a:bodyPr wrap="square" anchor="t" lIns="0" rIns="0" tIns="0" bIns="0">
            <a:spAutoFit/>
          </a:bodyPr>
          <a:lstStyle/>
          <a:p>
            <a:pPr algn="r">
              <a:lnSpc>
                <a:spcPct val="125000"/>
              </a:lnSpc>
              <a:spcAft>
                <a:spcPts val="0"/>
              </a:spcAft>
            </a:pPr>
            <a:r>
              <a:rPr sz="1150" b="0" i="0">
                <a:solidFill>
                  <a:srgbClr val="6B6B6B"/>
                </a:solidFill>
                <a:latin typeface="Calibri"/>
              </a:rPr>
              <a:t>37.4%</a:t>
            </a:r>
          </a:p>
        </p:txBody>
      </p:sp>
      <p:sp>
        <p:nvSpPr>
          <p:cNvPr id="51" name="TextBox 50"/>
          <p:cNvSpPr txBox="1"/>
          <p:nvPr/>
        </p:nvSpPr>
        <p:spPr>
          <a:xfrm>
            <a:off x="5213327" y="3872484"/>
            <a:ext cx="967247" cy="457200"/>
          </a:xfrm>
          <a:prstGeom prst="rect">
            <a:avLst/>
          </a:prstGeom>
          <a:noFill/>
        </p:spPr>
        <p:txBody>
          <a:bodyPr wrap="square" anchor="t" lIns="0" rIns="0" tIns="0" bIns="0">
            <a:spAutoFit/>
          </a:bodyPr>
          <a:lstStyle/>
          <a:p>
            <a:pPr algn="r">
              <a:lnSpc>
                <a:spcPct val="125000"/>
              </a:lnSpc>
              <a:spcAft>
                <a:spcPts val="0"/>
              </a:spcAft>
            </a:pPr>
            <a:r>
              <a:rPr sz="1150" b="0" i="0">
                <a:solidFill>
                  <a:srgbClr val="6B6B6B"/>
                </a:solidFill>
                <a:latin typeface="Calibri"/>
              </a:rPr>
              <a:t>180 days</a:t>
            </a:r>
          </a:p>
        </p:txBody>
      </p:sp>
      <p:sp>
        <p:nvSpPr>
          <p:cNvPr id="52" name="TextBox 51"/>
          <p:cNvSpPr txBox="1"/>
          <p:nvPr/>
        </p:nvSpPr>
        <p:spPr>
          <a:xfrm>
            <a:off x="6436606" y="3872484"/>
            <a:ext cx="1073619" cy="457200"/>
          </a:xfrm>
          <a:prstGeom prst="rect">
            <a:avLst/>
          </a:prstGeom>
          <a:noFill/>
        </p:spPr>
        <p:txBody>
          <a:bodyPr wrap="square" anchor="t" lIns="0" rIns="0" tIns="0" bIns="0">
            <a:spAutoFit/>
          </a:bodyPr>
          <a:lstStyle/>
          <a:p>
            <a:pPr algn="r">
              <a:lnSpc>
                <a:spcPct val="125000"/>
              </a:lnSpc>
              <a:spcAft>
                <a:spcPts val="0"/>
              </a:spcAft>
            </a:pPr>
            <a:r>
              <a:rPr sz="1150" b="0" i="0">
                <a:solidFill>
                  <a:srgbClr val="6B6B6B"/>
                </a:solidFill>
                <a:latin typeface="Calibri"/>
              </a:rPr>
              <a:t>1.3 orders</a:t>
            </a:r>
          </a:p>
        </p:txBody>
      </p:sp>
      <p:sp>
        <p:nvSpPr>
          <p:cNvPr id="53" name="TextBox 52"/>
          <p:cNvSpPr txBox="1"/>
          <p:nvPr/>
        </p:nvSpPr>
        <p:spPr>
          <a:xfrm>
            <a:off x="7766257" y="3872484"/>
            <a:ext cx="1020433" cy="457200"/>
          </a:xfrm>
          <a:prstGeom prst="rect">
            <a:avLst/>
          </a:prstGeom>
          <a:noFill/>
        </p:spPr>
        <p:txBody>
          <a:bodyPr wrap="square" anchor="t" lIns="0" rIns="0" tIns="0" bIns="0">
            <a:spAutoFit/>
          </a:bodyPr>
          <a:lstStyle/>
          <a:p>
            <a:pPr algn="r">
              <a:lnSpc>
                <a:spcPct val="125000"/>
              </a:lnSpc>
              <a:spcAft>
                <a:spcPts val="0"/>
              </a:spcAft>
            </a:pPr>
            <a:r>
              <a:rPr sz="1150" b="0" i="0">
                <a:solidFill>
                  <a:srgbClr val="6B6B6B"/>
                </a:solidFill>
                <a:latin typeface="Calibri"/>
              </a:rPr>
              <a:t>£342</a:t>
            </a:r>
          </a:p>
        </p:txBody>
      </p:sp>
      <p:sp>
        <p:nvSpPr>
          <p:cNvPr id="54" name="TextBox 53"/>
          <p:cNvSpPr txBox="1"/>
          <p:nvPr/>
        </p:nvSpPr>
        <p:spPr>
          <a:xfrm>
            <a:off x="9042722" y="3872484"/>
            <a:ext cx="1073619" cy="457200"/>
          </a:xfrm>
          <a:prstGeom prst="rect">
            <a:avLst/>
          </a:prstGeom>
          <a:noFill/>
        </p:spPr>
        <p:txBody>
          <a:bodyPr wrap="square" anchor="t" lIns="0" rIns="0" tIns="0" bIns="0">
            <a:spAutoFit/>
          </a:bodyPr>
          <a:lstStyle/>
          <a:p>
            <a:pPr algn="r">
              <a:lnSpc>
                <a:spcPct val="125000"/>
              </a:lnSpc>
              <a:spcAft>
                <a:spcPts val="0"/>
              </a:spcAft>
            </a:pPr>
            <a:r>
              <a:rPr sz="1150" b="0" i="0">
                <a:solidFill>
                  <a:srgbClr val="6B6B6B"/>
                </a:solidFill>
                <a:latin typeface="Calibri"/>
              </a:rPr>
              <a:t>£297</a:t>
            </a:r>
          </a:p>
        </p:txBody>
      </p:sp>
      <p:sp>
        <p:nvSpPr>
          <p:cNvPr id="55" name="TextBox 54"/>
          <p:cNvSpPr txBox="1"/>
          <p:nvPr/>
        </p:nvSpPr>
        <p:spPr>
          <a:xfrm>
            <a:off x="10372373" y="3872484"/>
            <a:ext cx="914061" cy="457200"/>
          </a:xfrm>
          <a:prstGeom prst="rect">
            <a:avLst/>
          </a:prstGeom>
          <a:noFill/>
        </p:spPr>
        <p:txBody>
          <a:bodyPr wrap="square" anchor="t" lIns="0" rIns="0" tIns="0" bIns="0">
            <a:spAutoFit/>
          </a:bodyPr>
          <a:lstStyle/>
          <a:p>
            <a:pPr algn="r">
              <a:lnSpc>
                <a:spcPct val="125000"/>
              </a:lnSpc>
              <a:spcAft>
                <a:spcPts val="0"/>
              </a:spcAft>
            </a:pPr>
            <a:r>
              <a:rPr sz="1150" b="0" i="0">
                <a:solidFill>
                  <a:srgbClr val="6B6B6B"/>
                </a:solidFill>
                <a:latin typeface="Calibri"/>
              </a:rPr>
              <a:t>6.2%</a:t>
            </a:r>
          </a:p>
        </p:txBody>
      </p:sp>
      <p:cxnSp>
        <p:nvCxnSpPr>
          <p:cNvPr id="56" name="Connector 55"/>
          <p:cNvCxnSpPr/>
          <p:nvPr/>
        </p:nvCxnSpPr>
        <p:spPr>
          <a:xfrm>
            <a:off x="777240" y="4224528"/>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777240" y="4224528"/>
            <a:ext cx="10637215" cy="274320"/>
          </a:xfrm>
          <a:prstGeom prst="rect">
            <a:avLst/>
          </a:prstGeom>
          <a:noFill/>
        </p:spPr>
        <p:txBody>
          <a:bodyPr wrap="square" anchor="t" lIns="0" rIns="0" tIns="0" bIns="0">
            <a:spAutoFit/>
          </a:bodyPr>
          <a:lstStyle/>
          <a:p>
            <a:pPr algn="l">
              <a:lnSpc>
                <a:spcPct val="125000"/>
              </a:lnSpc>
              <a:spcAft>
                <a:spcPts val="0"/>
              </a:spcAft>
            </a:pPr>
            <a:r>
              <a:rPr sz="1150" b="0" i="1">
                <a:solidFill>
                  <a:srgbClr val="6B6B6B"/>
                </a:solidFill>
                <a:latin typeface="Calibri"/>
              </a:rPr>
              <a:t>Mean and median are both shown because spend is skewed inside every cluster — the Champions mean (£8,083) is pulled up by a few very large accounts; the median (£3,738) is the typical member.</a:t>
            </a:r>
          </a:p>
        </p:txBody>
      </p:sp>
      <p:cxnSp>
        <p:nvCxnSpPr>
          <p:cNvPr id="58" name="Connector 57"/>
          <p:cNvCxnSpPr/>
          <p:nvPr/>
        </p:nvCxnSpPr>
        <p:spPr>
          <a:xfrm>
            <a:off x="777240" y="4590288"/>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777240" y="4718304"/>
            <a:ext cx="3291840" cy="274320"/>
          </a:xfrm>
          <a:prstGeom prst="rect">
            <a:avLst/>
          </a:prstGeom>
          <a:noFill/>
        </p:spPr>
        <p:txBody>
          <a:bodyPr wrap="square" anchor="t" lIns="0" rIns="0" tIns="0" bIns="0">
            <a:spAutoFit/>
          </a:bodyPr>
          <a:lstStyle/>
          <a:p>
            <a:pPr algn="l">
              <a:lnSpc>
                <a:spcPct val="125000"/>
              </a:lnSpc>
              <a:spcAft>
                <a:spcPts val="0"/>
              </a:spcAft>
            </a:pPr>
            <a:r>
              <a:rPr sz="950" b="0" i="0" spc="140">
                <a:solidFill>
                  <a:srgbClr val="6B6B6B"/>
                </a:solidFill>
                <a:latin typeface="Consolas"/>
              </a:rPr>
              <a:t>READ THE EXTREMES FIRST</a:t>
            </a:r>
          </a:p>
        </p:txBody>
      </p:sp>
      <p:sp>
        <p:nvSpPr>
          <p:cNvPr id="60" name="TextBox 59"/>
          <p:cNvSpPr txBox="1"/>
          <p:nvPr/>
        </p:nvSpPr>
        <p:spPr>
          <a:xfrm>
            <a:off x="777240" y="5029200"/>
            <a:ext cx="5029200" cy="365760"/>
          </a:xfrm>
          <a:prstGeom prst="rect">
            <a:avLst/>
          </a:prstGeom>
          <a:noFill/>
        </p:spPr>
        <p:txBody>
          <a:bodyPr wrap="square" lIns="0" rIns="0" tIns="0" bIns="0">
            <a:spAutoFit/>
          </a:bodyPr>
          <a:lstStyle/>
          <a:p>
            <a:pPr>
              <a:lnSpc>
                <a:spcPct val="124000"/>
              </a:lnSpc>
              <a:spcAft>
                <a:spcPts val="600"/>
              </a:spcAft>
            </a:pPr>
            <a:r>
              <a:rPr sz="1200" b="1">
                <a:solidFill>
                  <a:srgbClr val="B45309"/>
                </a:solidFill>
                <a:latin typeface="Calibri"/>
              </a:rPr>
              <a:t>— </a:t>
            </a:r>
            <a:r>
              <a:rPr sz="1200" b="1">
                <a:solidFill>
                  <a:srgbClr val="1A1A1A"/>
                </a:solidFill>
                <a:latin typeface="Calibri"/>
              </a:rPr>
              <a:t>Champions (Cluster 2). </a:t>
            </a:r>
            <a:r>
              <a:rPr sz="1200">
                <a:solidFill>
                  <a:srgbClr val="1A1A1A"/>
                </a:solidFill>
                <a:latin typeface="Calibri"/>
              </a:rPr>
              <a:t>16% of customers, 65% of revenue. Bought 12 days ago, 14 orders each.</a:t>
            </a:r>
          </a:p>
          <a:p>
            <a:pPr>
              <a:lnSpc>
                <a:spcPct val="124000"/>
              </a:lnSpc>
              <a:spcAft>
                <a:spcPts val="600"/>
              </a:spcAft>
            </a:pPr>
            <a:r>
              <a:rPr sz="1200" b="1">
                <a:solidFill>
                  <a:srgbClr val="B45309"/>
                </a:solidFill>
                <a:latin typeface="Calibri"/>
              </a:rPr>
              <a:t>— </a:t>
            </a:r>
            <a:r>
              <a:rPr sz="1200" b="1">
                <a:solidFill>
                  <a:srgbClr val="1A1A1A"/>
                </a:solidFill>
                <a:latin typeface="Calibri"/>
              </a:rPr>
              <a:t>Hibernating (Cluster 3). </a:t>
            </a:r>
            <a:r>
              <a:rPr sz="1200">
                <a:solidFill>
                  <a:srgbClr val="1A1A1A"/>
                </a:solidFill>
                <a:latin typeface="Calibri"/>
              </a:rPr>
              <a:t>The largest group at 37% of the base, but only 6% of revenue and unseen for 180 days.</a:t>
            </a:r>
          </a:p>
        </p:txBody>
      </p:sp>
      <p:sp>
        <p:nvSpPr>
          <p:cNvPr id="61" name="TextBox 60"/>
          <p:cNvSpPr txBox="1"/>
          <p:nvPr/>
        </p:nvSpPr>
        <p:spPr>
          <a:xfrm>
            <a:off x="6263640" y="5029200"/>
            <a:ext cx="5120640" cy="365760"/>
          </a:xfrm>
          <a:prstGeom prst="rect">
            <a:avLst/>
          </a:prstGeom>
          <a:noFill/>
        </p:spPr>
        <p:txBody>
          <a:bodyPr wrap="square" lIns="0" rIns="0" tIns="0" bIns="0">
            <a:spAutoFit/>
          </a:bodyPr>
          <a:lstStyle/>
          <a:p>
            <a:pPr>
              <a:lnSpc>
                <a:spcPct val="124000"/>
              </a:lnSpc>
              <a:spcAft>
                <a:spcPts val="600"/>
              </a:spcAft>
            </a:pPr>
            <a:r>
              <a:rPr sz="1200" b="1">
                <a:solidFill>
                  <a:srgbClr val="B45309"/>
                </a:solidFill>
                <a:latin typeface="Calibri"/>
              </a:rPr>
              <a:t>— </a:t>
            </a:r>
            <a:r>
              <a:rPr sz="1200" b="1">
                <a:solidFill>
                  <a:srgbClr val="1A1A1A"/>
                </a:solidFill>
                <a:latin typeface="Calibri"/>
              </a:rPr>
              <a:t>At-Risk (Cluster 1). </a:t>
            </a:r>
            <a:r>
              <a:rPr sz="1200">
                <a:solidFill>
                  <a:srgbClr val="1A1A1A"/>
                </a:solidFill>
                <a:latin typeface="Calibri"/>
              </a:rPr>
              <a:t>The segment that matters most: £1,801 average spend but 71 days since the last order — real value, actively cooling.</a:t>
            </a:r>
          </a:p>
          <a:p>
            <a:pPr>
              <a:lnSpc>
                <a:spcPct val="124000"/>
              </a:lnSpc>
              <a:spcAft>
                <a:spcPts val="600"/>
              </a:spcAft>
            </a:pPr>
            <a:r>
              <a:rPr sz="1200" b="1">
                <a:solidFill>
                  <a:srgbClr val="B45309"/>
                </a:solidFill>
                <a:latin typeface="Calibri"/>
              </a:rPr>
              <a:t>— </a:t>
            </a:r>
            <a:r>
              <a:rPr sz="1200" b="1">
                <a:solidFill>
                  <a:srgbClr val="1A1A1A"/>
                </a:solidFill>
                <a:latin typeface="Calibri"/>
              </a:rPr>
              <a:t>New / Occasional (Cluster 0). </a:t>
            </a:r>
            <a:r>
              <a:rPr sz="1200">
                <a:solidFill>
                  <a:srgbClr val="1A1A1A"/>
                </a:solidFill>
                <a:latin typeface="Calibri"/>
              </a:rPr>
              <a:t>Recent (18 days) but shallow — 2.2 orders. The growth opportunity.</a:t>
            </a:r>
          </a:p>
        </p:txBody>
      </p:sp>
      <p:cxnSp>
        <p:nvCxnSpPr>
          <p:cNvPr id="62" name="Connector 61"/>
          <p:cNvCxnSpPr/>
          <p:nvPr/>
        </p:nvCxnSpPr>
        <p:spPr>
          <a:xfrm>
            <a:off x="777240" y="6291072"/>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777240" y="6400800"/>
            <a:ext cx="6400800" cy="228600"/>
          </a:xfrm>
          <a:prstGeom prst="rect">
            <a:avLst/>
          </a:prstGeom>
          <a:noFill/>
        </p:spPr>
        <p:txBody>
          <a:bodyPr wrap="square" anchor="t" lIns="0" rIns="0" tIns="0" bIns="0">
            <a:spAutoFit/>
          </a:bodyPr>
          <a:lstStyle/>
          <a:p>
            <a:pPr algn="l">
              <a:lnSpc>
                <a:spcPct val="125000"/>
              </a:lnSpc>
              <a:spcAft>
                <a:spcPts val="0"/>
              </a:spcAft>
            </a:pPr>
            <a:r>
              <a:rPr sz="850" b="0" i="0" spc="120">
                <a:solidFill>
                  <a:srgbClr val="6B6B6B"/>
                </a:solidFill>
                <a:latin typeface="Consolas"/>
              </a:rPr>
              <a:t>CUSTOMER SEGMENTATION FOR TARGETED E-COMMERCE MARKETING</a:t>
            </a:r>
          </a:p>
        </p:txBody>
      </p:sp>
      <p:sp>
        <p:nvSpPr>
          <p:cNvPr id="64" name="TextBox 63"/>
          <p:cNvSpPr txBox="1"/>
          <p:nvPr/>
        </p:nvSpPr>
        <p:spPr>
          <a:xfrm>
            <a:off x="9585655" y="6400800"/>
            <a:ext cx="1828800" cy="228600"/>
          </a:xfrm>
          <a:prstGeom prst="rect">
            <a:avLst/>
          </a:prstGeom>
          <a:noFill/>
        </p:spPr>
        <p:txBody>
          <a:bodyPr wrap="square" anchor="t" lIns="0" rIns="0" tIns="0" bIns="0">
            <a:spAutoFit/>
          </a:bodyPr>
          <a:lstStyle/>
          <a:p>
            <a:pPr algn="r">
              <a:lnSpc>
                <a:spcPct val="125000"/>
              </a:lnSpc>
              <a:spcAft>
                <a:spcPts val="0"/>
              </a:spcAft>
            </a:pPr>
            <a:r>
              <a:rPr sz="850" b="0" i="0" spc="120">
                <a:solidFill>
                  <a:srgbClr val="6B6B6B"/>
                </a:solidFill>
                <a:latin typeface="Consolas"/>
              </a:rPr>
              <a:t>11 / 27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77240" y="566928"/>
            <a:ext cx="10637215" cy="274320"/>
          </a:xfrm>
          <a:prstGeom prst="rect">
            <a:avLst/>
          </a:prstGeom>
          <a:noFill/>
        </p:spPr>
        <p:txBody>
          <a:bodyPr wrap="none" lIns="0" rIns="0" tIns="0" bIns="0">
            <a:spAutoFit/>
          </a:bodyPr>
          <a:lstStyle/>
          <a:p>
            <a:r>
              <a:rPr sz="1050" b="1" spc="200">
                <a:solidFill>
                  <a:srgbClr val="B45309"/>
                </a:solidFill>
                <a:latin typeface="Consolas"/>
              </a:rPr>
              <a:t>03  </a:t>
            </a:r>
            <a:r>
              <a:rPr sz="1050" spc="200">
                <a:solidFill>
                  <a:srgbClr val="6B6B6B"/>
                </a:solidFill>
                <a:latin typeface="Consolas"/>
              </a:rPr>
              <a:t>VISUALISATION</a:t>
            </a:r>
            <a:r>
              <a:rPr sz="1050" spc="200">
                <a:solidFill>
                  <a:srgbClr val="6B6B6B"/>
                </a:solidFill>
                <a:latin typeface="Consolas"/>
              </a:rPr>
              <a:t>   ·   PCA PROJECTION, FOR VIEWING ONLY</a:t>
            </a:r>
          </a:p>
        </p:txBody>
      </p:sp>
      <p:sp>
        <p:nvSpPr>
          <p:cNvPr id="4" name="TextBox 3"/>
          <p:cNvSpPr txBox="1"/>
          <p:nvPr/>
        </p:nvSpPr>
        <p:spPr>
          <a:xfrm>
            <a:off x="777240" y="932688"/>
            <a:ext cx="10637215" cy="685800"/>
          </a:xfrm>
          <a:prstGeom prst="rect">
            <a:avLst/>
          </a:prstGeom>
          <a:noFill/>
        </p:spPr>
        <p:txBody>
          <a:bodyPr wrap="square" anchor="t" lIns="0" rIns="0" tIns="0" bIns="0">
            <a:spAutoFit/>
          </a:bodyPr>
          <a:lstStyle/>
          <a:p>
            <a:pPr algn="l">
              <a:lnSpc>
                <a:spcPct val="100000"/>
              </a:lnSpc>
              <a:spcAft>
                <a:spcPts val="0"/>
              </a:spcAft>
            </a:pPr>
            <a:r>
              <a:rPr sz="3200" b="0" i="0">
                <a:solidFill>
                  <a:srgbClr val="1A1A1A"/>
                </a:solidFill>
                <a:latin typeface="Georgia"/>
              </a:rPr>
              <a:t>The segments in two dimensions</a:t>
            </a:r>
          </a:p>
        </p:txBody>
      </p:sp>
      <p:cxnSp>
        <p:nvCxnSpPr>
          <p:cNvPr id="5" name="Connector 4"/>
          <p:cNvCxnSpPr/>
          <p:nvPr/>
        </p:nvCxnSpPr>
        <p:spPr>
          <a:xfrm>
            <a:off x="777240" y="1664208"/>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pic>
        <p:nvPicPr>
          <p:cNvPr id="6" name="Picture 5" descr="pca.png"/>
          <p:cNvPicPr>
            <a:picLocks noChangeAspect="1"/>
          </p:cNvPicPr>
          <p:nvPr/>
        </p:nvPicPr>
        <p:blipFill>
          <a:blip r:embed="rId2"/>
          <a:stretch>
            <a:fillRect/>
          </a:stretch>
        </p:blipFill>
        <p:spPr>
          <a:xfrm>
            <a:off x="777240" y="1938528"/>
            <a:ext cx="6355080" cy="4171656"/>
          </a:xfrm>
          <a:prstGeom prst="rect">
            <a:avLst/>
          </a:prstGeom>
        </p:spPr>
      </p:pic>
      <p:sp>
        <p:nvSpPr>
          <p:cNvPr id="7" name="TextBox 6"/>
          <p:cNvSpPr txBox="1"/>
          <p:nvPr/>
        </p:nvSpPr>
        <p:spPr>
          <a:xfrm>
            <a:off x="7406640" y="2011680"/>
            <a:ext cx="3977639" cy="365760"/>
          </a:xfrm>
          <a:prstGeom prst="rect">
            <a:avLst/>
          </a:prstGeom>
          <a:noFill/>
        </p:spPr>
        <p:txBody>
          <a:bodyPr wrap="square" lIns="0" rIns="0" tIns="0" bIns="0">
            <a:spAutoFit/>
          </a:bodyPr>
          <a:lstStyle/>
          <a:p>
            <a:pPr>
              <a:lnSpc>
                <a:spcPct val="130000"/>
              </a:lnSpc>
              <a:spcAft>
                <a:spcPts val="700"/>
              </a:spcAft>
            </a:pPr>
            <a:r>
              <a:rPr sz="1200" b="1">
                <a:solidFill>
                  <a:srgbClr val="B45309"/>
                </a:solidFill>
                <a:latin typeface="Calibri"/>
              </a:rPr>
              <a:t>— </a:t>
            </a:r>
            <a:r>
              <a:rPr sz="1200" b="1">
                <a:solidFill>
                  <a:srgbClr val="1A1A1A"/>
                </a:solidFill>
                <a:latin typeface="Calibri"/>
              </a:rPr>
              <a:t>Why PCA. </a:t>
            </a:r>
            <a:r>
              <a:rPr sz="1200">
                <a:solidFill>
                  <a:srgbClr val="1A1A1A"/>
                </a:solidFill>
                <a:latin typeface="Calibri"/>
              </a:rPr>
              <a:t>Scaled RFM is three-dimensional. PCA compresses it to two so the segmentation can be inspected visually.</a:t>
            </a:r>
          </a:p>
          <a:p>
            <a:pPr>
              <a:lnSpc>
                <a:spcPct val="130000"/>
              </a:lnSpc>
              <a:spcAft>
                <a:spcPts val="700"/>
              </a:spcAft>
            </a:pPr>
            <a:r>
              <a:rPr sz="1200" b="1">
                <a:solidFill>
                  <a:srgbClr val="B45309"/>
                </a:solidFill>
                <a:latin typeface="Calibri"/>
              </a:rPr>
              <a:t>— </a:t>
            </a:r>
            <a:r>
              <a:rPr sz="1200" b="1">
                <a:solidFill>
                  <a:srgbClr val="1A1A1A"/>
                </a:solidFill>
                <a:latin typeface="Calibri"/>
              </a:rPr>
              <a:t>Faithful projection. </a:t>
            </a:r>
            <a:r>
              <a:rPr sz="1200">
                <a:solidFill>
                  <a:srgbClr val="1A1A1A"/>
                </a:solidFill>
                <a:latin typeface="Calibri"/>
              </a:rPr>
              <a:t>PC1 retains 75% of the variance and PC2 a further 19% — 94% in total, so little structure is lost in the picture.</a:t>
            </a:r>
          </a:p>
          <a:p>
            <a:pPr>
              <a:lnSpc>
                <a:spcPct val="130000"/>
              </a:lnSpc>
              <a:spcAft>
                <a:spcPts val="700"/>
              </a:spcAft>
            </a:pPr>
            <a:r>
              <a:rPr sz="1200" b="1">
                <a:solidFill>
                  <a:srgbClr val="B45309"/>
                </a:solidFill>
                <a:latin typeface="Calibri"/>
              </a:rPr>
              <a:t>— </a:t>
            </a:r>
            <a:r>
              <a:rPr sz="1200" b="1">
                <a:solidFill>
                  <a:srgbClr val="1A1A1A"/>
                </a:solidFill>
                <a:latin typeface="Calibri"/>
              </a:rPr>
              <a:t>Visualisation only. </a:t>
            </a:r>
            <a:r>
              <a:rPr sz="1200">
                <a:solidFill>
                  <a:srgbClr val="1A1A1A"/>
                </a:solidFill>
                <a:latin typeface="Calibri"/>
              </a:rPr>
              <a:t>Clustering is performed in the full scaled RFM space. PCA is never fed back into the model.</a:t>
            </a:r>
          </a:p>
          <a:p>
            <a:pPr>
              <a:lnSpc>
                <a:spcPct val="130000"/>
              </a:lnSpc>
              <a:spcAft>
                <a:spcPts val="700"/>
              </a:spcAft>
            </a:pPr>
            <a:r>
              <a:rPr sz="1200" b="1">
                <a:solidFill>
                  <a:srgbClr val="B45309"/>
                </a:solidFill>
                <a:latin typeface="Calibri"/>
              </a:rPr>
              <a:t>— </a:t>
            </a:r>
            <a:r>
              <a:rPr sz="1200" b="1">
                <a:solidFill>
                  <a:srgbClr val="1A1A1A"/>
                </a:solidFill>
                <a:latin typeface="Calibri"/>
              </a:rPr>
              <a:t>Overlap is expected. </a:t>
            </a:r>
            <a:r>
              <a:rPr sz="1200">
                <a:solidFill>
                  <a:srgbClr val="1A1A1A"/>
                </a:solidFill>
                <a:latin typeface="Calibri"/>
              </a:rPr>
              <a:t>Customer behaviour is a continuum, not four islands. Perfectly separated circles would suggest artificial data — the centroids, marked X, are clearly distinct.</a:t>
            </a:r>
          </a:p>
        </p:txBody>
      </p:sp>
      <p:cxnSp>
        <p:nvCxnSpPr>
          <p:cNvPr id="8" name="Connector 7"/>
          <p:cNvCxnSpPr/>
          <p:nvPr/>
        </p:nvCxnSpPr>
        <p:spPr>
          <a:xfrm>
            <a:off x="777240" y="6291072"/>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777240" y="6400800"/>
            <a:ext cx="6400800" cy="228600"/>
          </a:xfrm>
          <a:prstGeom prst="rect">
            <a:avLst/>
          </a:prstGeom>
          <a:noFill/>
        </p:spPr>
        <p:txBody>
          <a:bodyPr wrap="square" anchor="t" lIns="0" rIns="0" tIns="0" bIns="0">
            <a:spAutoFit/>
          </a:bodyPr>
          <a:lstStyle/>
          <a:p>
            <a:pPr algn="l">
              <a:lnSpc>
                <a:spcPct val="125000"/>
              </a:lnSpc>
              <a:spcAft>
                <a:spcPts val="0"/>
              </a:spcAft>
            </a:pPr>
            <a:r>
              <a:rPr sz="850" b="0" i="0" spc="120">
                <a:solidFill>
                  <a:srgbClr val="6B6B6B"/>
                </a:solidFill>
                <a:latin typeface="Consolas"/>
              </a:rPr>
              <a:t>CUSTOMER SEGMENTATION FOR TARGETED E-COMMERCE MARKETING</a:t>
            </a:r>
          </a:p>
        </p:txBody>
      </p:sp>
      <p:sp>
        <p:nvSpPr>
          <p:cNvPr id="10" name="TextBox 9"/>
          <p:cNvSpPr txBox="1"/>
          <p:nvPr/>
        </p:nvSpPr>
        <p:spPr>
          <a:xfrm>
            <a:off x="9585655" y="6400800"/>
            <a:ext cx="1828800" cy="228600"/>
          </a:xfrm>
          <a:prstGeom prst="rect">
            <a:avLst/>
          </a:prstGeom>
          <a:noFill/>
        </p:spPr>
        <p:txBody>
          <a:bodyPr wrap="square" anchor="t" lIns="0" rIns="0" tIns="0" bIns="0">
            <a:spAutoFit/>
          </a:bodyPr>
          <a:lstStyle/>
          <a:p>
            <a:pPr algn="r">
              <a:lnSpc>
                <a:spcPct val="125000"/>
              </a:lnSpc>
              <a:spcAft>
                <a:spcPts val="0"/>
              </a:spcAft>
            </a:pPr>
            <a:r>
              <a:rPr sz="850" b="0" i="0" spc="120">
                <a:solidFill>
                  <a:srgbClr val="6B6B6B"/>
                </a:solidFill>
                <a:latin typeface="Consolas"/>
              </a:rPr>
              <a:t>12 / 27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77240" y="566928"/>
            <a:ext cx="10637215" cy="274320"/>
          </a:xfrm>
          <a:prstGeom prst="rect">
            <a:avLst/>
          </a:prstGeom>
          <a:noFill/>
        </p:spPr>
        <p:txBody>
          <a:bodyPr wrap="none" lIns="0" rIns="0" tIns="0" bIns="0">
            <a:spAutoFit/>
          </a:bodyPr>
          <a:lstStyle/>
          <a:p>
            <a:r>
              <a:rPr sz="1050" b="1" spc="200">
                <a:solidFill>
                  <a:srgbClr val="B45309"/>
                </a:solidFill>
                <a:latin typeface="Consolas"/>
              </a:rPr>
              <a:t>03  </a:t>
            </a:r>
            <a:r>
              <a:rPr sz="1050" spc="200">
                <a:solidFill>
                  <a:srgbClr val="6B6B6B"/>
                </a:solidFill>
                <a:latin typeface="Consolas"/>
              </a:rPr>
              <a:t>VALUE CONCENTRATION</a:t>
            </a:r>
            <a:r>
              <a:rPr sz="1050" spc="200">
                <a:solidFill>
                  <a:srgbClr val="6B6B6B"/>
                </a:solidFill>
                <a:latin typeface="Consolas"/>
              </a:rPr>
              <a:t>   ·   WHERE THE REVENUE ACTUALLY SITS</a:t>
            </a:r>
          </a:p>
        </p:txBody>
      </p:sp>
      <p:sp>
        <p:nvSpPr>
          <p:cNvPr id="4" name="TextBox 3"/>
          <p:cNvSpPr txBox="1"/>
          <p:nvPr/>
        </p:nvSpPr>
        <p:spPr>
          <a:xfrm>
            <a:off x="777240" y="932688"/>
            <a:ext cx="10637215" cy="685800"/>
          </a:xfrm>
          <a:prstGeom prst="rect">
            <a:avLst/>
          </a:prstGeom>
          <a:noFill/>
        </p:spPr>
        <p:txBody>
          <a:bodyPr wrap="square" anchor="t" lIns="0" rIns="0" tIns="0" bIns="0">
            <a:spAutoFit/>
          </a:bodyPr>
          <a:lstStyle/>
          <a:p>
            <a:pPr algn="l">
              <a:lnSpc>
                <a:spcPct val="100000"/>
              </a:lnSpc>
              <a:spcAft>
                <a:spcPts val="0"/>
              </a:spcAft>
            </a:pPr>
            <a:r>
              <a:rPr sz="3200" b="0" i="0">
                <a:solidFill>
                  <a:srgbClr val="1A1A1A"/>
                </a:solidFill>
                <a:latin typeface="Georgia"/>
              </a:rPr>
              <a:t>Headcount is not value</a:t>
            </a:r>
          </a:p>
        </p:txBody>
      </p:sp>
      <p:cxnSp>
        <p:nvCxnSpPr>
          <p:cNvPr id="5" name="Connector 4"/>
          <p:cNvCxnSpPr/>
          <p:nvPr/>
        </p:nvCxnSpPr>
        <p:spPr>
          <a:xfrm>
            <a:off x="777240" y="1664208"/>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pic>
        <p:nvPicPr>
          <p:cNvPr id="6" name="Picture 5" descr="value.png"/>
          <p:cNvPicPr>
            <a:picLocks noChangeAspect="1"/>
          </p:cNvPicPr>
          <p:nvPr/>
        </p:nvPicPr>
        <p:blipFill>
          <a:blip r:embed="rId2"/>
          <a:stretch>
            <a:fillRect/>
          </a:stretch>
        </p:blipFill>
        <p:spPr>
          <a:xfrm>
            <a:off x="777240" y="1965960"/>
            <a:ext cx="5852160" cy="3192087"/>
          </a:xfrm>
          <a:prstGeom prst="rect">
            <a:avLst/>
          </a:prstGeom>
        </p:spPr>
      </p:pic>
      <p:sp>
        <p:nvSpPr>
          <p:cNvPr id="7" name="TextBox 6"/>
          <p:cNvSpPr txBox="1"/>
          <p:nvPr/>
        </p:nvSpPr>
        <p:spPr>
          <a:xfrm>
            <a:off x="7086600" y="2011680"/>
            <a:ext cx="4297680" cy="274320"/>
          </a:xfrm>
          <a:prstGeom prst="rect">
            <a:avLst/>
          </a:prstGeom>
          <a:noFill/>
        </p:spPr>
        <p:txBody>
          <a:bodyPr wrap="square" anchor="t" lIns="0" rIns="0" tIns="0" bIns="0">
            <a:spAutoFit/>
          </a:bodyPr>
          <a:lstStyle/>
          <a:p>
            <a:pPr algn="l">
              <a:lnSpc>
                <a:spcPct val="125000"/>
              </a:lnSpc>
              <a:spcAft>
                <a:spcPts val="0"/>
              </a:spcAft>
            </a:pPr>
            <a:r>
              <a:rPr sz="950" b="0" i="0" spc="140">
                <a:solidFill>
                  <a:srgbClr val="6B6B6B"/>
                </a:solidFill>
                <a:latin typeface="Consolas"/>
              </a:rPr>
              <a:t>THE MISMATCH</a:t>
            </a:r>
          </a:p>
        </p:txBody>
      </p:sp>
      <p:sp>
        <p:nvSpPr>
          <p:cNvPr id="8" name="Rectangle 7"/>
          <p:cNvSpPr/>
          <p:nvPr/>
        </p:nvSpPr>
        <p:spPr>
          <a:xfrm>
            <a:off x="7086600" y="2377440"/>
            <a:ext cx="4297680" cy="1051560"/>
          </a:xfrm>
          <a:prstGeom prst="rect">
            <a:avLst/>
          </a:prstGeom>
          <a:solidFill>
            <a:srgbClr val="F0EC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7086600" y="2377440"/>
            <a:ext cx="50292" cy="10515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315200" y="2523744"/>
            <a:ext cx="1371600" cy="457200"/>
          </a:xfrm>
          <a:prstGeom prst="rect">
            <a:avLst/>
          </a:prstGeom>
          <a:noFill/>
        </p:spPr>
        <p:txBody>
          <a:bodyPr wrap="square" anchor="t" lIns="0" rIns="0" tIns="0" bIns="0">
            <a:spAutoFit/>
          </a:bodyPr>
          <a:lstStyle/>
          <a:p>
            <a:pPr algn="l">
              <a:lnSpc>
                <a:spcPct val="100000"/>
              </a:lnSpc>
              <a:spcAft>
                <a:spcPts val="0"/>
              </a:spcAft>
            </a:pPr>
            <a:r>
              <a:rPr sz="3000" b="0" i="0">
                <a:solidFill>
                  <a:srgbClr val="7C3AED"/>
                </a:solidFill>
                <a:latin typeface="Georgia"/>
              </a:rPr>
              <a:t>16%</a:t>
            </a:r>
          </a:p>
        </p:txBody>
      </p:sp>
      <p:sp>
        <p:nvSpPr>
          <p:cNvPr id="11" name="TextBox 10"/>
          <p:cNvSpPr txBox="1"/>
          <p:nvPr/>
        </p:nvSpPr>
        <p:spPr>
          <a:xfrm>
            <a:off x="8732519" y="2615184"/>
            <a:ext cx="2468880" cy="457200"/>
          </a:xfrm>
          <a:prstGeom prst="rect">
            <a:avLst/>
          </a:prstGeom>
          <a:noFill/>
        </p:spPr>
        <p:txBody>
          <a:bodyPr wrap="square" anchor="t" lIns="0" rIns="0" tIns="0" bIns="0">
            <a:spAutoFit/>
          </a:bodyPr>
          <a:lstStyle/>
          <a:p>
            <a:pPr algn="l">
              <a:lnSpc>
                <a:spcPct val="125000"/>
              </a:lnSpc>
              <a:spcAft>
                <a:spcPts val="0"/>
              </a:spcAft>
            </a:pPr>
            <a:r>
              <a:rPr sz="1300" b="0" i="0">
                <a:solidFill>
                  <a:srgbClr val="1A1A1A"/>
                </a:solidFill>
                <a:latin typeface="Calibri"/>
              </a:rPr>
              <a:t>of customers → 65% of revenue</a:t>
            </a:r>
          </a:p>
        </p:txBody>
      </p:sp>
      <p:sp>
        <p:nvSpPr>
          <p:cNvPr id="12" name="TextBox 11"/>
          <p:cNvSpPr txBox="1"/>
          <p:nvPr/>
        </p:nvSpPr>
        <p:spPr>
          <a:xfrm>
            <a:off x="7315200" y="3090672"/>
            <a:ext cx="3840480" cy="228600"/>
          </a:xfrm>
          <a:prstGeom prst="rect">
            <a:avLst/>
          </a:prstGeom>
          <a:noFill/>
        </p:spPr>
        <p:txBody>
          <a:bodyPr wrap="square" anchor="t" lIns="0" rIns="0" tIns="0" bIns="0">
            <a:spAutoFit/>
          </a:bodyPr>
          <a:lstStyle/>
          <a:p>
            <a:pPr algn="l">
              <a:lnSpc>
                <a:spcPct val="125000"/>
              </a:lnSpc>
              <a:spcAft>
                <a:spcPts val="0"/>
              </a:spcAft>
            </a:pPr>
            <a:r>
              <a:rPr sz="900" b="0" i="0" spc="110">
                <a:solidFill>
                  <a:srgbClr val="6B6B6B"/>
                </a:solidFill>
                <a:latin typeface="Consolas"/>
              </a:rPr>
              <a:t>CLUSTER 2 · CHAMPIONS</a:t>
            </a:r>
          </a:p>
        </p:txBody>
      </p:sp>
      <p:sp>
        <p:nvSpPr>
          <p:cNvPr id="13" name="Rectangle 12"/>
          <p:cNvSpPr/>
          <p:nvPr/>
        </p:nvSpPr>
        <p:spPr>
          <a:xfrm>
            <a:off x="7086600" y="3611880"/>
            <a:ext cx="4297680" cy="1051560"/>
          </a:xfrm>
          <a:prstGeom prst="rect">
            <a:avLst/>
          </a:prstGeom>
          <a:solidFill>
            <a:srgbClr val="F0EC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086600" y="3611880"/>
            <a:ext cx="50292" cy="105156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315200" y="3758184"/>
            <a:ext cx="1371600" cy="457200"/>
          </a:xfrm>
          <a:prstGeom prst="rect">
            <a:avLst/>
          </a:prstGeom>
          <a:noFill/>
        </p:spPr>
        <p:txBody>
          <a:bodyPr wrap="square" anchor="t" lIns="0" rIns="0" tIns="0" bIns="0">
            <a:spAutoFit/>
          </a:bodyPr>
          <a:lstStyle/>
          <a:p>
            <a:pPr algn="l">
              <a:lnSpc>
                <a:spcPct val="100000"/>
              </a:lnSpc>
              <a:spcAft>
                <a:spcPts val="0"/>
              </a:spcAft>
            </a:pPr>
            <a:r>
              <a:rPr sz="3000" b="0" i="0">
                <a:solidFill>
                  <a:srgbClr val="B91C1C"/>
                </a:solidFill>
                <a:latin typeface="Georgia"/>
              </a:rPr>
              <a:t>37%</a:t>
            </a:r>
          </a:p>
        </p:txBody>
      </p:sp>
      <p:sp>
        <p:nvSpPr>
          <p:cNvPr id="16" name="TextBox 15"/>
          <p:cNvSpPr txBox="1"/>
          <p:nvPr/>
        </p:nvSpPr>
        <p:spPr>
          <a:xfrm>
            <a:off x="8732519" y="3849624"/>
            <a:ext cx="2468880" cy="457200"/>
          </a:xfrm>
          <a:prstGeom prst="rect">
            <a:avLst/>
          </a:prstGeom>
          <a:noFill/>
        </p:spPr>
        <p:txBody>
          <a:bodyPr wrap="square" anchor="t" lIns="0" rIns="0" tIns="0" bIns="0">
            <a:spAutoFit/>
          </a:bodyPr>
          <a:lstStyle/>
          <a:p>
            <a:pPr algn="l">
              <a:lnSpc>
                <a:spcPct val="125000"/>
              </a:lnSpc>
              <a:spcAft>
                <a:spcPts val="0"/>
              </a:spcAft>
            </a:pPr>
            <a:r>
              <a:rPr sz="1300" b="0" i="0">
                <a:solidFill>
                  <a:srgbClr val="1A1A1A"/>
                </a:solidFill>
                <a:latin typeface="Calibri"/>
              </a:rPr>
              <a:t>of customers → 6% of revenue</a:t>
            </a:r>
          </a:p>
        </p:txBody>
      </p:sp>
      <p:sp>
        <p:nvSpPr>
          <p:cNvPr id="17" name="TextBox 16"/>
          <p:cNvSpPr txBox="1"/>
          <p:nvPr/>
        </p:nvSpPr>
        <p:spPr>
          <a:xfrm>
            <a:off x="7315200" y="4325112"/>
            <a:ext cx="3840480" cy="228600"/>
          </a:xfrm>
          <a:prstGeom prst="rect">
            <a:avLst/>
          </a:prstGeom>
          <a:noFill/>
        </p:spPr>
        <p:txBody>
          <a:bodyPr wrap="square" anchor="t" lIns="0" rIns="0" tIns="0" bIns="0">
            <a:spAutoFit/>
          </a:bodyPr>
          <a:lstStyle/>
          <a:p>
            <a:pPr algn="l">
              <a:lnSpc>
                <a:spcPct val="125000"/>
              </a:lnSpc>
              <a:spcAft>
                <a:spcPts val="0"/>
              </a:spcAft>
            </a:pPr>
            <a:r>
              <a:rPr sz="900" b="0" i="0" spc="110">
                <a:solidFill>
                  <a:srgbClr val="6B6B6B"/>
                </a:solidFill>
                <a:latin typeface="Consolas"/>
              </a:rPr>
              <a:t>CLUSTER 3 · HIBERNATING</a:t>
            </a:r>
          </a:p>
        </p:txBody>
      </p:sp>
      <p:sp>
        <p:nvSpPr>
          <p:cNvPr id="18" name="Rectangle 17"/>
          <p:cNvSpPr/>
          <p:nvPr/>
        </p:nvSpPr>
        <p:spPr>
          <a:xfrm>
            <a:off x="7086600" y="4892040"/>
            <a:ext cx="4297680" cy="1234440"/>
          </a:xfrm>
          <a:prstGeom prst="rect">
            <a:avLst/>
          </a:prstGeom>
          <a:solidFill>
            <a:srgbClr val="1C1B1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7315200" y="5120640"/>
            <a:ext cx="3840480" cy="822960"/>
          </a:xfrm>
          <a:prstGeom prst="rect">
            <a:avLst/>
          </a:prstGeom>
          <a:noFill/>
        </p:spPr>
        <p:txBody>
          <a:bodyPr wrap="square" anchor="t" lIns="0" rIns="0" tIns="0" bIns="0">
            <a:spAutoFit/>
          </a:bodyPr>
          <a:lstStyle/>
          <a:p>
            <a:pPr algn="l">
              <a:lnSpc>
                <a:spcPct val="135000"/>
              </a:lnSpc>
              <a:spcAft>
                <a:spcPts val="0"/>
              </a:spcAft>
            </a:pPr>
            <a:r>
              <a:rPr sz="1300" b="0" i="1">
                <a:solidFill>
                  <a:srgbClr val="FAF8F4"/>
                </a:solidFill>
                <a:latin typeface="Georgia"/>
              </a:rPr>
              <a:t>Under blanket marketing these two groups get the same message and the same budget. That is the waste, stated in one number.</a:t>
            </a:r>
          </a:p>
        </p:txBody>
      </p:sp>
      <p:cxnSp>
        <p:nvCxnSpPr>
          <p:cNvPr id="20" name="Connector 19"/>
          <p:cNvCxnSpPr/>
          <p:nvPr/>
        </p:nvCxnSpPr>
        <p:spPr>
          <a:xfrm>
            <a:off x="777240" y="6291072"/>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777240" y="6400800"/>
            <a:ext cx="6400800" cy="228600"/>
          </a:xfrm>
          <a:prstGeom prst="rect">
            <a:avLst/>
          </a:prstGeom>
          <a:noFill/>
        </p:spPr>
        <p:txBody>
          <a:bodyPr wrap="square" anchor="t" lIns="0" rIns="0" tIns="0" bIns="0">
            <a:spAutoFit/>
          </a:bodyPr>
          <a:lstStyle/>
          <a:p>
            <a:pPr algn="l">
              <a:lnSpc>
                <a:spcPct val="125000"/>
              </a:lnSpc>
              <a:spcAft>
                <a:spcPts val="0"/>
              </a:spcAft>
            </a:pPr>
            <a:r>
              <a:rPr sz="850" b="0" i="0" spc="120">
                <a:solidFill>
                  <a:srgbClr val="6B6B6B"/>
                </a:solidFill>
                <a:latin typeface="Consolas"/>
              </a:rPr>
              <a:t>CUSTOMER SEGMENTATION FOR TARGETED E-COMMERCE MARKETING</a:t>
            </a:r>
          </a:p>
        </p:txBody>
      </p:sp>
      <p:sp>
        <p:nvSpPr>
          <p:cNvPr id="22" name="TextBox 21"/>
          <p:cNvSpPr txBox="1"/>
          <p:nvPr/>
        </p:nvSpPr>
        <p:spPr>
          <a:xfrm>
            <a:off x="9585655" y="6400800"/>
            <a:ext cx="1828800" cy="228600"/>
          </a:xfrm>
          <a:prstGeom prst="rect">
            <a:avLst/>
          </a:prstGeom>
          <a:noFill/>
        </p:spPr>
        <p:txBody>
          <a:bodyPr wrap="square" anchor="t" lIns="0" rIns="0" tIns="0" bIns="0">
            <a:spAutoFit/>
          </a:bodyPr>
          <a:lstStyle/>
          <a:p>
            <a:pPr algn="r">
              <a:lnSpc>
                <a:spcPct val="125000"/>
              </a:lnSpc>
              <a:spcAft>
                <a:spcPts val="0"/>
              </a:spcAft>
            </a:pPr>
            <a:r>
              <a:rPr sz="850" b="0" i="0" spc="120">
                <a:solidFill>
                  <a:srgbClr val="6B6B6B"/>
                </a:solidFill>
                <a:latin typeface="Consolas"/>
              </a:rPr>
              <a:t>13 / 27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77240" y="566928"/>
            <a:ext cx="10637215" cy="274320"/>
          </a:xfrm>
          <a:prstGeom prst="rect">
            <a:avLst/>
          </a:prstGeom>
          <a:noFill/>
        </p:spPr>
        <p:txBody>
          <a:bodyPr wrap="none" lIns="0" rIns="0" tIns="0" bIns="0">
            <a:spAutoFit/>
          </a:bodyPr>
          <a:lstStyle/>
          <a:p>
            <a:r>
              <a:rPr sz="1050" b="1" spc="200">
                <a:solidFill>
                  <a:srgbClr val="B45309"/>
                </a:solidFill>
                <a:latin typeface="Consolas"/>
              </a:rPr>
              <a:t>03  </a:t>
            </a:r>
            <a:r>
              <a:rPr sz="1050" spc="200">
                <a:solidFill>
                  <a:srgbClr val="6B6B6B"/>
                </a:solidFill>
                <a:latin typeface="Consolas"/>
              </a:rPr>
              <a:t>ACTIVATION</a:t>
            </a:r>
            <a:r>
              <a:rPr sz="1050" spc="200">
                <a:solidFill>
                  <a:srgbClr val="6B6B6B"/>
                </a:solidFill>
                <a:latin typeface="Consolas"/>
              </a:rPr>
              <a:t>   ·   WHAT MARKETING SHOULD ACTUALLY DO</a:t>
            </a:r>
          </a:p>
        </p:txBody>
      </p:sp>
      <p:sp>
        <p:nvSpPr>
          <p:cNvPr id="4" name="TextBox 3"/>
          <p:cNvSpPr txBox="1"/>
          <p:nvPr/>
        </p:nvSpPr>
        <p:spPr>
          <a:xfrm>
            <a:off x="777240" y="932688"/>
            <a:ext cx="10637215" cy="685800"/>
          </a:xfrm>
          <a:prstGeom prst="rect">
            <a:avLst/>
          </a:prstGeom>
          <a:noFill/>
        </p:spPr>
        <p:txBody>
          <a:bodyPr wrap="square" anchor="t" lIns="0" rIns="0" tIns="0" bIns="0">
            <a:spAutoFit/>
          </a:bodyPr>
          <a:lstStyle/>
          <a:p>
            <a:pPr algn="l">
              <a:lnSpc>
                <a:spcPct val="100000"/>
              </a:lnSpc>
              <a:spcAft>
                <a:spcPts val="0"/>
              </a:spcAft>
            </a:pPr>
            <a:r>
              <a:rPr sz="3200" b="0" i="0">
                <a:solidFill>
                  <a:srgbClr val="1A1A1A"/>
                </a:solidFill>
                <a:latin typeface="Georgia"/>
              </a:rPr>
              <a:t>From cluster to campaign</a:t>
            </a:r>
          </a:p>
        </p:txBody>
      </p:sp>
      <p:cxnSp>
        <p:nvCxnSpPr>
          <p:cNvPr id="5" name="Connector 4"/>
          <p:cNvCxnSpPr/>
          <p:nvPr/>
        </p:nvCxnSpPr>
        <p:spPr>
          <a:xfrm>
            <a:off x="777240" y="1664208"/>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965960"/>
            <a:ext cx="50292" cy="932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1005840" y="1947672"/>
            <a:ext cx="2651760" cy="320040"/>
          </a:xfrm>
          <a:prstGeom prst="rect">
            <a:avLst/>
          </a:prstGeom>
          <a:noFill/>
        </p:spPr>
        <p:txBody>
          <a:bodyPr wrap="square" anchor="t" lIns="0" rIns="0" tIns="0" bIns="0">
            <a:spAutoFit/>
          </a:bodyPr>
          <a:lstStyle/>
          <a:p>
            <a:pPr algn="l">
              <a:lnSpc>
                <a:spcPct val="125000"/>
              </a:lnSpc>
              <a:spcAft>
                <a:spcPts val="0"/>
              </a:spcAft>
            </a:pPr>
            <a:r>
              <a:rPr sz="1700" b="0" i="0">
                <a:solidFill>
                  <a:srgbClr val="1A1A1A"/>
                </a:solidFill>
                <a:latin typeface="Georgia"/>
              </a:rPr>
              <a:t>Champions</a:t>
            </a:r>
          </a:p>
        </p:txBody>
      </p:sp>
      <p:sp>
        <p:nvSpPr>
          <p:cNvPr id="8" name="TextBox 7"/>
          <p:cNvSpPr txBox="1"/>
          <p:nvPr/>
        </p:nvSpPr>
        <p:spPr>
          <a:xfrm>
            <a:off x="1005840" y="2276856"/>
            <a:ext cx="2834640" cy="548640"/>
          </a:xfrm>
          <a:prstGeom prst="rect">
            <a:avLst/>
          </a:prstGeom>
          <a:noFill/>
        </p:spPr>
        <p:txBody>
          <a:bodyPr wrap="square" anchor="t" lIns="0" rIns="0" tIns="0" bIns="0">
            <a:spAutoFit/>
          </a:bodyPr>
          <a:lstStyle/>
          <a:p>
            <a:pPr algn="l">
              <a:lnSpc>
                <a:spcPct val="125000"/>
              </a:lnSpc>
              <a:spcAft>
                <a:spcPts val="0"/>
              </a:spcAft>
            </a:pPr>
            <a:r>
              <a:rPr sz="1150" b="0" i="0">
                <a:solidFill>
                  <a:srgbClr val="6B6B6B"/>
                </a:solidFill>
                <a:latin typeface="Calibri"/>
              </a:rPr>
              <a:t>Recent, frequent, high spend. The revenue engine.</a:t>
            </a:r>
          </a:p>
        </p:txBody>
      </p:sp>
      <p:sp>
        <p:nvSpPr>
          <p:cNvPr id="9" name="Rectangle 8"/>
          <p:cNvSpPr/>
          <p:nvPr/>
        </p:nvSpPr>
        <p:spPr>
          <a:xfrm>
            <a:off x="4114800" y="1965960"/>
            <a:ext cx="822960" cy="384048"/>
          </a:xfrm>
          <a:prstGeom prst="rect">
            <a:avLst/>
          </a:prstGeom>
          <a:solidFill>
            <a:srgbClr val="F0EC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4114800" y="2066544"/>
            <a:ext cx="822960" cy="274320"/>
          </a:xfrm>
          <a:prstGeom prst="rect">
            <a:avLst/>
          </a:prstGeom>
          <a:noFill/>
        </p:spPr>
        <p:txBody>
          <a:bodyPr wrap="square" anchor="t" lIns="0" rIns="0" tIns="0" bIns="0">
            <a:spAutoFit/>
          </a:bodyPr>
          <a:lstStyle/>
          <a:p>
            <a:pPr algn="ctr">
              <a:lnSpc>
                <a:spcPct val="125000"/>
              </a:lnSpc>
              <a:spcAft>
                <a:spcPts val="0"/>
              </a:spcAft>
            </a:pPr>
            <a:r>
              <a:rPr sz="1100" b="1" i="0">
                <a:solidFill>
                  <a:srgbClr val="7C3AED"/>
                </a:solidFill>
                <a:latin typeface="Consolas"/>
              </a:rPr>
              <a:t>C2</a:t>
            </a:r>
          </a:p>
        </p:txBody>
      </p:sp>
      <p:sp>
        <p:nvSpPr>
          <p:cNvPr id="11" name="TextBox 10"/>
          <p:cNvSpPr txBox="1"/>
          <p:nvPr/>
        </p:nvSpPr>
        <p:spPr>
          <a:xfrm>
            <a:off x="5120640" y="1984248"/>
            <a:ext cx="6263640" cy="822960"/>
          </a:xfrm>
          <a:prstGeom prst="rect">
            <a:avLst/>
          </a:prstGeom>
          <a:noFill/>
        </p:spPr>
        <p:txBody>
          <a:bodyPr wrap="square" anchor="t" lIns="0" rIns="0" tIns="0" bIns="0">
            <a:spAutoFit/>
          </a:bodyPr>
          <a:lstStyle/>
          <a:p>
            <a:pPr algn="l">
              <a:lnSpc>
                <a:spcPct val="130000"/>
              </a:lnSpc>
              <a:spcAft>
                <a:spcPts val="0"/>
              </a:spcAft>
            </a:pPr>
            <a:r>
              <a:rPr sz="1300" b="0" i="0">
                <a:solidFill>
                  <a:srgbClr val="1A1A1A"/>
                </a:solidFill>
                <a:latin typeface="Calibri"/>
              </a:rPr>
              <a:t>Loyalty tier, early access, referral programme. Recognition — not discounts, which would only erode margin on revenue already secured.</a:t>
            </a:r>
          </a:p>
        </p:txBody>
      </p:sp>
      <p:cxnSp>
        <p:nvCxnSpPr>
          <p:cNvPr id="12" name="Connector 11"/>
          <p:cNvCxnSpPr/>
          <p:nvPr/>
        </p:nvCxnSpPr>
        <p:spPr>
          <a:xfrm>
            <a:off x="777240" y="2889504"/>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777240" y="3017520"/>
            <a:ext cx="50292" cy="93268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1005840" y="2999232"/>
            <a:ext cx="2651760" cy="320040"/>
          </a:xfrm>
          <a:prstGeom prst="rect">
            <a:avLst/>
          </a:prstGeom>
          <a:noFill/>
        </p:spPr>
        <p:txBody>
          <a:bodyPr wrap="square" anchor="t" lIns="0" rIns="0" tIns="0" bIns="0">
            <a:spAutoFit/>
          </a:bodyPr>
          <a:lstStyle/>
          <a:p>
            <a:pPr algn="l">
              <a:lnSpc>
                <a:spcPct val="125000"/>
              </a:lnSpc>
              <a:spcAft>
                <a:spcPts val="0"/>
              </a:spcAft>
            </a:pPr>
            <a:r>
              <a:rPr sz="1700" b="0" i="0">
                <a:solidFill>
                  <a:srgbClr val="1A1A1A"/>
                </a:solidFill>
                <a:latin typeface="Georgia"/>
              </a:rPr>
              <a:t>At-Risk Mid-Value</a:t>
            </a:r>
          </a:p>
        </p:txBody>
      </p:sp>
      <p:sp>
        <p:nvSpPr>
          <p:cNvPr id="15" name="TextBox 14"/>
          <p:cNvSpPr txBox="1"/>
          <p:nvPr/>
        </p:nvSpPr>
        <p:spPr>
          <a:xfrm>
            <a:off x="1005840" y="3328416"/>
            <a:ext cx="2834640" cy="548640"/>
          </a:xfrm>
          <a:prstGeom prst="rect">
            <a:avLst/>
          </a:prstGeom>
          <a:noFill/>
        </p:spPr>
        <p:txBody>
          <a:bodyPr wrap="square" anchor="t" lIns="0" rIns="0" tIns="0" bIns="0">
            <a:spAutoFit/>
          </a:bodyPr>
          <a:lstStyle/>
          <a:p>
            <a:pPr algn="l">
              <a:lnSpc>
                <a:spcPct val="125000"/>
              </a:lnSpc>
              <a:spcAft>
                <a:spcPts val="0"/>
              </a:spcAft>
            </a:pPr>
            <a:r>
              <a:rPr sz="1150" b="0" i="0">
                <a:solidFill>
                  <a:srgbClr val="6B6B6B"/>
                </a:solidFill>
                <a:latin typeface="Calibri"/>
              </a:rPr>
              <a:t>Real spend (£1,801) but 71 days quiet. Cooling.</a:t>
            </a:r>
          </a:p>
        </p:txBody>
      </p:sp>
      <p:sp>
        <p:nvSpPr>
          <p:cNvPr id="16" name="Rectangle 15"/>
          <p:cNvSpPr/>
          <p:nvPr/>
        </p:nvSpPr>
        <p:spPr>
          <a:xfrm>
            <a:off x="4114800" y="3017520"/>
            <a:ext cx="822960" cy="384048"/>
          </a:xfrm>
          <a:prstGeom prst="rect">
            <a:avLst/>
          </a:prstGeom>
          <a:solidFill>
            <a:srgbClr val="F0EC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114800" y="3118104"/>
            <a:ext cx="822960" cy="274320"/>
          </a:xfrm>
          <a:prstGeom prst="rect">
            <a:avLst/>
          </a:prstGeom>
          <a:noFill/>
        </p:spPr>
        <p:txBody>
          <a:bodyPr wrap="square" anchor="t" lIns="0" rIns="0" tIns="0" bIns="0">
            <a:spAutoFit/>
          </a:bodyPr>
          <a:lstStyle/>
          <a:p>
            <a:pPr algn="ctr">
              <a:lnSpc>
                <a:spcPct val="125000"/>
              </a:lnSpc>
              <a:spcAft>
                <a:spcPts val="0"/>
              </a:spcAft>
            </a:pPr>
            <a:r>
              <a:rPr sz="1100" b="1" i="0">
                <a:solidFill>
                  <a:srgbClr val="0F766E"/>
                </a:solidFill>
                <a:latin typeface="Consolas"/>
              </a:rPr>
              <a:t>C1</a:t>
            </a:r>
          </a:p>
        </p:txBody>
      </p:sp>
      <p:sp>
        <p:nvSpPr>
          <p:cNvPr id="18" name="TextBox 17"/>
          <p:cNvSpPr txBox="1"/>
          <p:nvPr/>
        </p:nvSpPr>
        <p:spPr>
          <a:xfrm>
            <a:off x="5120640" y="3035808"/>
            <a:ext cx="6263640" cy="822960"/>
          </a:xfrm>
          <a:prstGeom prst="rect">
            <a:avLst/>
          </a:prstGeom>
          <a:noFill/>
        </p:spPr>
        <p:txBody>
          <a:bodyPr wrap="square" anchor="t" lIns="0" rIns="0" tIns="0" bIns="0">
            <a:spAutoFit/>
          </a:bodyPr>
          <a:lstStyle/>
          <a:p>
            <a:pPr algn="l">
              <a:lnSpc>
                <a:spcPct val="130000"/>
              </a:lnSpc>
              <a:spcAft>
                <a:spcPts val="0"/>
              </a:spcAft>
            </a:pPr>
            <a:r>
              <a:rPr sz="1300" b="0" i="0">
                <a:solidFill>
                  <a:srgbClr val="1A1A1A"/>
                </a:solidFill>
                <a:latin typeface="Calibri"/>
              </a:rPr>
              <a:t>The priority for intervention. Personalised win-back offer, reminder of previously viewed items, time-limited incentive. Highest return per pound spent.</a:t>
            </a:r>
          </a:p>
        </p:txBody>
      </p:sp>
      <p:cxnSp>
        <p:nvCxnSpPr>
          <p:cNvPr id="19" name="Connector 18"/>
          <p:cNvCxnSpPr/>
          <p:nvPr/>
        </p:nvCxnSpPr>
        <p:spPr>
          <a:xfrm>
            <a:off x="777240" y="3941064"/>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777240" y="4069080"/>
            <a:ext cx="50292" cy="932688"/>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1005840" y="4050792"/>
            <a:ext cx="2651760" cy="320040"/>
          </a:xfrm>
          <a:prstGeom prst="rect">
            <a:avLst/>
          </a:prstGeom>
          <a:noFill/>
        </p:spPr>
        <p:txBody>
          <a:bodyPr wrap="square" anchor="t" lIns="0" rIns="0" tIns="0" bIns="0">
            <a:spAutoFit/>
          </a:bodyPr>
          <a:lstStyle/>
          <a:p>
            <a:pPr algn="l">
              <a:lnSpc>
                <a:spcPct val="125000"/>
              </a:lnSpc>
              <a:spcAft>
                <a:spcPts val="0"/>
              </a:spcAft>
            </a:pPr>
            <a:r>
              <a:rPr sz="1700" b="0" i="0">
                <a:solidFill>
                  <a:srgbClr val="1A1A1A"/>
                </a:solidFill>
                <a:latin typeface="Georgia"/>
              </a:rPr>
              <a:t>New / Occasional</a:t>
            </a:r>
          </a:p>
        </p:txBody>
      </p:sp>
      <p:sp>
        <p:nvSpPr>
          <p:cNvPr id="22" name="TextBox 21"/>
          <p:cNvSpPr txBox="1"/>
          <p:nvPr/>
        </p:nvSpPr>
        <p:spPr>
          <a:xfrm>
            <a:off x="1005840" y="4379976"/>
            <a:ext cx="2834640" cy="548640"/>
          </a:xfrm>
          <a:prstGeom prst="rect">
            <a:avLst/>
          </a:prstGeom>
          <a:noFill/>
        </p:spPr>
        <p:txBody>
          <a:bodyPr wrap="square" anchor="t" lIns="0" rIns="0" tIns="0" bIns="0">
            <a:spAutoFit/>
          </a:bodyPr>
          <a:lstStyle/>
          <a:p>
            <a:pPr algn="l">
              <a:lnSpc>
                <a:spcPct val="125000"/>
              </a:lnSpc>
              <a:spcAft>
                <a:spcPts val="0"/>
              </a:spcAft>
            </a:pPr>
            <a:r>
              <a:rPr sz="1150" b="0" i="0">
                <a:solidFill>
                  <a:srgbClr val="6B6B6B"/>
                </a:solidFill>
                <a:latin typeface="Calibri"/>
              </a:rPr>
              <a:t>Recent but shallow — few orders, low spend.</a:t>
            </a:r>
          </a:p>
        </p:txBody>
      </p:sp>
      <p:sp>
        <p:nvSpPr>
          <p:cNvPr id="23" name="Rectangle 22"/>
          <p:cNvSpPr/>
          <p:nvPr/>
        </p:nvSpPr>
        <p:spPr>
          <a:xfrm>
            <a:off x="4114800" y="4069080"/>
            <a:ext cx="822960" cy="384048"/>
          </a:xfrm>
          <a:prstGeom prst="rect">
            <a:avLst/>
          </a:prstGeom>
          <a:solidFill>
            <a:srgbClr val="F0EC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4114800" y="4169664"/>
            <a:ext cx="822960" cy="274320"/>
          </a:xfrm>
          <a:prstGeom prst="rect">
            <a:avLst/>
          </a:prstGeom>
          <a:noFill/>
        </p:spPr>
        <p:txBody>
          <a:bodyPr wrap="square" anchor="t" lIns="0" rIns="0" tIns="0" bIns="0">
            <a:spAutoFit/>
          </a:bodyPr>
          <a:lstStyle/>
          <a:p>
            <a:pPr algn="ctr">
              <a:lnSpc>
                <a:spcPct val="125000"/>
              </a:lnSpc>
              <a:spcAft>
                <a:spcPts val="0"/>
              </a:spcAft>
            </a:pPr>
            <a:r>
              <a:rPr sz="1100" b="1" i="0">
                <a:solidFill>
                  <a:srgbClr val="B45309"/>
                </a:solidFill>
                <a:latin typeface="Consolas"/>
              </a:rPr>
              <a:t>C0</a:t>
            </a:r>
          </a:p>
        </p:txBody>
      </p:sp>
      <p:sp>
        <p:nvSpPr>
          <p:cNvPr id="25" name="TextBox 24"/>
          <p:cNvSpPr txBox="1"/>
          <p:nvPr/>
        </p:nvSpPr>
        <p:spPr>
          <a:xfrm>
            <a:off x="5120640" y="4087368"/>
            <a:ext cx="6263640" cy="822960"/>
          </a:xfrm>
          <a:prstGeom prst="rect">
            <a:avLst/>
          </a:prstGeom>
          <a:noFill/>
        </p:spPr>
        <p:txBody>
          <a:bodyPr wrap="square" anchor="t" lIns="0" rIns="0" tIns="0" bIns="0">
            <a:spAutoFit/>
          </a:bodyPr>
          <a:lstStyle/>
          <a:p>
            <a:pPr algn="l">
              <a:lnSpc>
                <a:spcPct val="130000"/>
              </a:lnSpc>
              <a:spcAft>
                <a:spcPts val="0"/>
              </a:spcAft>
            </a:pPr>
            <a:r>
              <a:rPr sz="1300" b="0" i="0">
                <a:solidFill>
                  <a:srgbClr val="1A1A1A"/>
                </a:solidFill>
                <a:latin typeface="Calibri"/>
              </a:rPr>
              <a:t>Onboarding sequence and a second-purchase nudge. The objective is to convert them into Cluster 2 over time.</a:t>
            </a:r>
          </a:p>
        </p:txBody>
      </p:sp>
      <p:cxnSp>
        <p:nvCxnSpPr>
          <p:cNvPr id="26" name="Connector 25"/>
          <p:cNvCxnSpPr/>
          <p:nvPr/>
        </p:nvCxnSpPr>
        <p:spPr>
          <a:xfrm>
            <a:off x="777240" y="4992624"/>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777240" y="5120640"/>
            <a:ext cx="50292" cy="932688"/>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1005840" y="5102352"/>
            <a:ext cx="2651760" cy="320040"/>
          </a:xfrm>
          <a:prstGeom prst="rect">
            <a:avLst/>
          </a:prstGeom>
          <a:noFill/>
        </p:spPr>
        <p:txBody>
          <a:bodyPr wrap="square" anchor="t" lIns="0" rIns="0" tIns="0" bIns="0">
            <a:spAutoFit/>
          </a:bodyPr>
          <a:lstStyle/>
          <a:p>
            <a:pPr algn="l">
              <a:lnSpc>
                <a:spcPct val="125000"/>
              </a:lnSpc>
              <a:spcAft>
                <a:spcPts val="0"/>
              </a:spcAft>
            </a:pPr>
            <a:r>
              <a:rPr sz="1700" b="0" i="0">
                <a:solidFill>
                  <a:srgbClr val="1A1A1A"/>
                </a:solidFill>
                <a:latin typeface="Georgia"/>
              </a:rPr>
              <a:t>Hibernating</a:t>
            </a:r>
          </a:p>
        </p:txBody>
      </p:sp>
      <p:sp>
        <p:nvSpPr>
          <p:cNvPr id="29" name="TextBox 28"/>
          <p:cNvSpPr txBox="1"/>
          <p:nvPr/>
        </p:nvSpPr>
        <p:spPr>
          <a:xfrm>
            <a:off x="1005840" y="5431536"/>
            <a:ext cx="2834640" cy="548640"/>
          </a:xfrm>
          <a:prstGeom prst="rect">
            <a:avLst/>
          </a:prstGeom>
          <a:noFill/>
        </p:spPr>
        <p:txBody>
          <a:bodyPr wrap="square" anchor="t" lIns="0" rIns="0" tIns="0" bIns="0">
            <a:spAutoFit/>
          </a:bodyPr>
          <a:lstStyle/>
          <a:p>
            <a:pPr algn="l">
              <a:lnSpc>
                <a:spcPct val="125000"/>
              </a:lnSpc>
              <a:spcAft>
                <a:spcPts val="0"/>
              </a:spcAft>
            </a:pPr>
            <a:r>
              <a:rPr sz="1150" b="0" i="0">
                <a:solidFill>
                  <a:srgbClr val="6B6B6B"/>
                </a:solidFill>
                <a:latin typeface="Calibri"/>
              </a:rPr>
              <a:t>Unseen for 180 days, low value.</a:t>
            </a:r>
          </a:p>
        </p:txBody>
      </p:sp>
      <p:sp>
        <p:nvSpPr>
          <p:cNvPr id="30" name="Rectangle 29"/>
          <p:cNvSpPr/>
          <p:nvPr/>
        </p:nvSpPr>
        <p:spPr>
          <a:xfrm>
            <a:off x="4114800" y="5120640"/>
            <a:ext cx="822960" cy="384048"/>
          </a:xfrm>
          <a:prstGeom prst="rect">
            <a:avLst/>
          </a:prstGeom>
          <a:solidFill>
            <a:srgbClr val="F0EC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4114800" y="5221224"/>
            <a:ext cx="822960" cy="274320"/>
          </a:xfrm>
          <a:prstGeom prst="rect">
            <a:avLst/>
          </a:prstGeom>
          <a:noFill/>
        </p:spPr>
        <p:txBody>
          <a:bodyPr wrap="square" anchor="t" lIns="0" rIns="0" tIns="0" bIns="0">
            <a:spAutoFit/>
          </a:bodyPr>
          <a:lstStyle/>
          <a:p>
            <a:pPr algn="ctr">
              <a:lnSpc>
                <a:spcPct val="125000"/>
              </a:lnSpc>
              <a:spcAft>
                <a:spcPts val="0"/>
              </a:spcAft>
            </a:pPr>
            <a:r>
              <a:rPr sz="1100" b="1" i="0">
                <a:solidFill>
                  <a:srgbClr val="B91C1C"/>
                </a:solidFill>
                <a:latin typeface="Consolas"/>
              </a:rPr>
              <a:t>C3</a:t>
            </a:r>
          </a:p>
        </p:txBody>
      </p:sp>
      <p:sp>
        <p:nvSpPr>
          <p:cNvPr id="32" name="TextBox 31"/>
          <p:cNvSpPr txBox="1"/>
          <p:nvPr/>
        </p:nvSpPr>
        <p:spPr>
          <a:xfrm>
            <a:off x="5120640" y="5138928"/>
            <a:ext cx="6263640" cy="822960"/>
          </a:xfrm>
          <a:prstGeom prst="rect">
            <a:avLst/>
          </a:prstGeom>
          <a:noFill/>
        </p:spPr>
        <p:txBody>
          <a:bodyPr wrap="square" anchor="t" lIns="0" rIns="0" tIns="0" bIns="0">
            <a:spAutoFit/>
          </a:bodyPr>
          <a:lstStyle/>
          <a:p>
            <a:pPr algn="l">
              <a:lnSpc>
                <a:spcPct val="130000"/>
              </a:lnSpc>
              <a:spcAft>
                <a:spcPts val="0"/>
              </a:spcAft>
            </a:pPr>
            <a:r>
              <a:rPr sz="1300" b="0" i="0">
                <a:solidFill>
                  <a:srgbClr val="1A1A1A"/>
                </a:solidFill>
                <a:latin typeface="Calibri"/>
              </a:rPr>
              <a:t>One low-cost reactivation attempt, then move to cheap channels. Do not spend premium acquisition budget re-chasing this group.</a:t>
            </a:r>
          </a:p>
        </p:txBody>
      </p:sp>
      <p:cxnSp>
        <p:nvCxnSpPr>
          <p:cNvPr id="33" name="Connector 32"/>
          <p:cNvCxnSpPr/>
          <p:nvPr/>
        </p:nvCxnSpPr>
        <p:spPr>
          <a:xfrm>
            <a:off x="777240" y="6044184"/>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777240" y="6291072"/>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777240" y="6400800"/>
            <a:ext cx="6400800" cy="228600"/>
          </a:xfrm>
          <a:prstGeom prst="rect">
            <a:avLst/>
          </a:prstGeom>
          <a:noFill/>
        </p:spPr>
        <p:txBody>
          <a:bodyPr wrap="square" anchor="t" lIns="0" rIns="0" tIns="0" bIns="0">
            <a:spAutoFit/>
          </a:bodyPr>
          <a:lstStyle/>
          <a:p>
            <a:pPr algn="l">
              <a:lnSpc>
                <a:spcPct val="125000"/>
              </a:lnSpc>
              <a:spcAft>
                <a:spcPts val="0"/>
              </a:spcAft>
            </a:pPr>
            <a:r>
              <a:rPr sz="850" b="0" i="0" spc="120">
                <a:solidFill>
                  <a:srgbClr val="6B6B6B"/>
                </a:solidFill>
                <a:latin typeface="Consolas"/>
              </a:rPr>
              <a:t>CUSTOMER SEGMENTATION FOR TARGETED E-COMMERCE MARKETING</a:t>
            </a:r>
          </a:p>
        </p:txBody>
      </p:sp>
      <p:sp>
        <p:nvSpPr>
          <p:cNvPr id="36" name="TextBox 35"/>
          <p:cNvSpPr txBox="1"/>
          <p:nvPr/>
        </p:nvSpPr>
        <p:spPr>
          <a:xfrm>
            <a:off x="9585655" y="6400800"/>
            <a:ext cx="1828800" cy="228600"/>
          </a:xfrm>
          <a:prstGeom prst="rect">
            <a:avLst/>
          </a:prstGeom>
          <a:noFill/>
        </p:spPr>
        <p:txBody>
          <a:bodyPr wrap="square" anchor="t" lIns="0" rIns="0" tIns="0" bIns="0">
            <a:spAutoFit/>
          </a:bodyPr>
          <a:lstStyle/>
          <a:p>
            <a:pPr algn="r">
              <a:lnSpc>
                <a:spcPct val="125000"/>
              </a:lnSpc>
              <a:spcAft>
                <a:spcPts val="0"/>
              </a:spcAft>
            </a:pPr>
            <a:r>
              <a:rPr sz="850" b="0" i="0" spc="120">
                <a:solidFill>
                  <a:srgbClr val="6B6B6B"/>
                </a:solidFill>
                <a:latin typeface="Consolas"/>
              </a:rPr>
              <a:t>14 / 27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77240" y="566928"/>
            <a:ext cx="10637215" cy="274320"/>
          </a:xfrm>
          <a:prstGeom prst="rect">
            <a:avLst/>
          </a:prstGeom>
          <a:noFill/>
        </p:spPr>
        <p:txBody>
          <a:bodyPr wrap="none" lIns="0" rIns="0" tIns="0" bIns="0">
            <a:spAutoFit/>
          </a:bodyPr>
          <a:lstStyle/>
          <a:p>
            <a:r>
              <a:rPr sz="1050" b="1" spc="200">
                <a:solidFill>
                  <a:srgbClr val="B45309"/>
                </a:solidFill>
                <a:latin typeface="Consolas"/>
              </a:rPr>
              <a:t>03  </a:t>
            </a:r>
            <a:r>
              <a:rPr sz="1050" spc="200">
                <a:solidFill>
                  <a:srgbClr val="6B6B6B"/>
                </a:solidFill>
                <a:latin typeface="Consolas"/>
              </a:rPr>
              <a:t>BUSINESS IMPACT</a:t>
            </a:r>
            <a:r>
              <a:rPr sz="1050" spc="200">
                <a:solidFill>
                  <a:srgbClr val="6B6B6B"/>
                </a:solidFill>
                <a:latin typeface="Consolas"/>
              </a:rPr>
              <a:t>   ·   A WORKED EXAMPLE AT £2 PER CONTACT</a:t>
            </a:r>
          </a:p>
        </p:txBody>
      </p:sp>
      <p:sp>
        <p:nvSpPr>
          <p:cNvPr id="4" name="TextBox 3"/>
          <p:cNvSpPr txBox="1"/>
          <p:nvPr/>
        </p:nvSpPr>
        <p:spPr>
          <a:xfrm>
            <a:off x="777240" y="932688"/>
            <a:ext cx="10637215" cy="685800"/>
          </a:xfrm>
          <a:prstGeom prst="rect">
            <a:avLst/>
          </a:prstGeom>
          <a:noFill/>
        </p:spPr>
        <p:txBody>
          <a:bodyPr wrap="square" anchor="t" lIns="0" rIns="0" tIns="0" bIns="0">
            <a:spAutoFit/>
          </a:bodyPr>
          <a:lstStyle/>
          <a:p>
            <a:pPr algn="l">
              <a:lnSpc>
                <a:spcPct val="100000"/>
              </a:lnSpc>
              <a:spcAft>
                <a:spcPts val="0"/>
              </a:spcAft>
            </a:pPr>
            <a:r>
              <a:rPr sz="3200" b="0" i="0">
                <a:solidFill>
                  <a:srgbClr val="1A1A1A"/>
                </a:solidFill>
                <a:latin typeface="Georgia"/>
              </a:rPr>
              <a:t>What this saves</a:t>
            </a:r>
          </a:p>
        </p:txBody>
      </p:sp>
      <p:cxnSp>
        <p:nvCxnSpPr>
          <p:cNvPr id="5" name="Connector 4"/>
          <p:cNvCxnSpPr/>
          <p:nvPr/>
        </p:nvCxnSpPr>
        <p:spPr>
          <a:xfrm>
            <a:off x="777240" y="1664208"/>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2011680"/>
            <a:ext cx="2549575" cy="1188720"/>
          </a:xfrm>
          <a:prstGeom prst="rect">
            <a:avLst/>
          </a:prstGeom>
          <a:solidFill>
            <a:srgbClr val="F0EC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7" name="Connector 6"/>
          <p:cNvCxnSpPr/>
          <p:nvPr/>
        </p:nvCxnSpPr>
        <p:spPr>
          <a:xfrm>
            <a:off x="777240" y="2011680"/>
            <a:ext cx="2549575" cy="0"/>
          </a:xfrm>
          <a:prstGeom prst="line">
            <a:avLst/>
          </a:prstGeom>
          <a:ln w="28575">
            <a:solidFill>
              <a:srgbClr val="1A1A1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978408" y="2249424"/>
            <a:ext cx="2147239" cy="457200"/>
          </a:xfrm>
          <a:prstGeom prst="rect">
            <a:avLst/>
          </a:prstGeom>
          <a:noFill/>
        </p:spPr>
        <p:txBody>
          <a:bodyPr wrap="square" anchor="t" lIns="0" rIns="0" tIns="0" bIns="0">
            <a:spAutoFit/>
          </a:bodyPr>
          <a:lstStyle/>
          <a:p>
            <a:pPr algn="l">
              <a:lnSpc>
                <a:spcPct val="100000"/>
              </a:lnSpc>
              <a:spcAft>
                <a:spcPts val="0"/>
              </a:spcAft>
            </a:pPr>
            <a:r>
              <a:rPr sz="2700" b="0" i="0">
                <a:solidFill>
                  <a:srgbClr val="1A1A1A"/>
                </a:solidFill>
                <a:latin typeface="Georgia"/>
              </a:rPr>
              <a:t>£8,678</a:t>
            </a:r>
          </a:p>
        </p:txBody>
      </p:sp>
      <p:sp>
        <p:nvSpPr>
          <p:cNvPr id="9" name="TextBox 8"/>
          <p:cNvSpPr txBox="1"/>
          <p:nvPr/>
        </p:nvSpPr>
        <p:spPr>
          <a:xfrm>
            <a:off x="978408" y="2816352"/>
            <a:ext cx="2147239" cy="274320"/>
          </a:xfrm>
          <a:prstGeom prst="rect">
            <a:avLst/>
          </a:prstGeom>
          <a:noFill/>
        </p:spPr>
        <p:txBody>
          <a:bodyPr wrap="square" anchor="t" lIns="0" rIns="0" tIns="0" bIns="0">
            <a:spAutoFit/>
          </a:bodyPr>
          <a:lstStyle/>
          <a:p>
            <a:pPr algn="l">
              <a:lnSpc>
                <a:spcPct val="125000"/>
              </a:lnSpc>
              <a:spcAft>
                <a:spcPts val="0"/>
              </a:spcAft>
            </a:pPr>
            <a:r>
              <a:rPr sz="900" b="0" i="0" spc="110">
                <a:solidFill>
                  <a:srgbClr val="6B6B6B"/>
                </a:solidFill>
                <a:latin typeface="Consolas"/>
              </a:rPr>
              <a:t>BLANKET CAMPAIGN · 4,339 CONTACTS</a:t>
            </a:r>
          </a:p>
        </p:txBody>
      </p:sp>
      <p:sp>
        <p:nvSpPr>
          <p:cNvPr id="10" name="Rectangle 9"/>
          <p:cNvSpPr/>
          <p:nvPr/>
        </p:nvSpPr>
        <p:spPr>
          <a:xfrm>
            <a:off x="3473119" y="2011680"/>
            <a:ext cx="2549575" cy="1188720"/>
          </a:xfrm>
          <a:prstGeom prst="rect">
            <a:avLst/>
          </a:prstGeom>
          <a:solidFill>
            <a:srgbClr val="F0EC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11" name="Connector 10"/>
          <p:cNvCxnSpPr/>
          <p:nvPr/>
        </p:nvCxnSpPr>
        <p:spPr>
          <a:xfrm>
            <a:off x="3473119" y="2011680"/>
            <a:ext cx="2549575" cy="0"/>
          </a:xfrm>
          <a:prstGeom prst="line">
            <a:avLst/>
          </a:prstGeom>
          <a:ln w="28575">
            <a:solidFill>
              <a:srgbClr val="B45309"/>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674287" y="2249424"/>
            <a:ext cx="2147239" cy="457200"/>
          </a:xfrm>
          <a:prstGeom prst="rect">
            <a:avLst/>
          </a:prstGeom>
          <a:noFill/>
        </p:spPr>
        <p:txBody>
          <a:bodyPr wrap="square" anchor="t" lIns="0" rIns="0" tIns="0" bIns="0">
            <a:spAutoFit/>
          </a:bodyPr>
          <a:lstStyle/>
          <a:p>
            <a:pPr algn="l">
              <a:lnSpc>
                <a:spcPct val="100000"/>
              </a:lnSpc>
              <a:spcAft>
                <a:spcPts val="0"/>
              </a:spcAft>
            </a:pPr>
            <a:r>
              <a:rPr sz="2700" b="0" i="0">
                <a:solidFill>
                  <a:srgbClr val="B45309"/>
                </a:solidFill>
                <a:latin typeface="Georgia"/>
              </a:rPr>
              <a:t>£3,780</a:t>
            </a:r>
          </a:p>
        </p:txBody>
      </p:sp>
      <p:sp>
        <p:nvSpPr>
          <p:cNvPr id="13" name="TextBox 12"/>
          <p:cNvSpPr txBox="1"/>
          <p:nvPr/>
        </p:nvSpPr>
        <p:spPr>
          <a:xfrm>
            <a:off x="3674287" y="2816352"/>
            <a:ext cx="2147239" cy="274320"/>
          </a:xfrm>
          <a:prstGeom prst="rect">
            <a:avLst/>
          </a:prstGeom>
          <a:noFill/>
        </p:spPr>
        <p:txBody>
          <a:bodyPr wrap="square" anchor="t" lIns="0" rIns="0" tIns="0" bIns="0">
            <a:spAutoFit/>
          </a:bodyPr>
          <a:lstStyle/>
          <a:p>
            <a:pPr algn="l">
              <a:lnSpc>
                <a:spcPct val="125000"/>
              </a:lnSpc>
              <a:spcAft>
                <a:spcPts val="0"/>
              </a:spcAft>
            </a:pPr>
            <a:r>
              <a:rPr sz="900" b="0" i="0" spc="110">
                <a:solidFill>
                  <a:srgbClr val="6B6B6B"/>
                </a:solidFill>
                <a:latin typeface="Consolas"/>
              </a:rPr>
              <a:t>TARGETED CAMPAIGN · 1,890 CONTACTS</a:t>
            </a:r>
          </a:p>
        </p:txBody>
      </p:sp>
      <p:sp>
        <p:nvSpPr>
          <p:cNvPr id="14" name="Rectangle 13"/>
          <p:cNvSpPr/>
          <p:nvPr/>
        </p:nvSpPr>
        <p:spPr>
          <a:xfrm>
            <a:off x="6168998" y="2011680"/>
            <a:ext cx="2549575" cy="1188720"/>
          </a:xfrm>
          <a:prstGeom prst="rect">
            <a:avLst/>
          </a:prstGeom>
          <a:solidFill>
            <a:srgbClr val="F0EC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15" name="Connector 14"/>
          <p:cNvCxnSpPr/>
          <p:nvPr/>
        </p:nvCxnSpPr>
        <p:spPr>
          <a:xfrm>
            <a:off x="6168998" y="2011680"/>
            <a:ext cx="2549575" cy="0"/>
          </a:xfrm>
          <a:prstGeom prst="line">
            <a:avLst/>
          </a:prstGeom>
          <a:ln w="28575">
            <a:solidFill>
              <a:srgbClr val="B45309"/>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370166" y="2249424"/>
            <a:ext cx="2147239" cy="457200"/>
          </a:xfrm>
          <a:prstGeom prst="rect">
            <a:avLst/>
          </a:prstGeom>
          <a:noFill/>
        </p:spPr>
        <p:txBody>
          <a:bodyPr wrap="square" anchor="t" lIns="0" rIns="0" tIns="0" bIns="0">
            <a:spAutoFit/>
          </a:bodyPr>
          <a:lstStyle/>
          <a:p>
            <a:pPr algn="l">
              <a:lnSpc>
                <a:spcPct val="100000"/>
              </a:lnSpc>
              <a:spcAft>
                <a:spcPts val="0"/>
              </a:spcAft>
            </a:pPr>
            <a:r>
              <a:rPr sz="2700" b="0" i="0">
                <a:solidFill>
                  <a:srgbClr val="B45309"/>
                </a:solidFill>
                <a:latin typeface="Georgia"/>
              </a:rPr>
              <a:t>56%</a:t>
            </a:r>
          </a:p>
        </p:txBody>
      </p:sp>
      <p:sp>
        <p:nvSpPr>
          <p:cNvPr id="17" name="TextBox 16"/>
          <p:cNvSpPr txBox="1"/>
          <p:nvPr/>
        </p:nvSpPr>
        <p:spPr>
          <a:xfrm>
            <a:off x="6370166" y="2816352"/>
            <a:ext cx="2147239" cy="274320"/>
          </a:xfrm>
          <a:prstGeom prst="rect">
            <a:avLst/>
          </a:prstGeom>
          <a:noFill/>
        </p:spPr>
        <p:txBody>
          <a:bodyPr wrap="square" anchor="t" lIns="0" rIns="0" tIns="0" bIns="0">
            <a:spAutoFit/>
          </a:bodyPr>
          <a:lstStyle/>
          <a:p>
            <a:pPr algn="l">
              <a:lnSpc>
                <a:spcPct val="125000"/>
              </a:lnSpc>
              <a:spcAft>
                <a:spcPts val="0"/>
              </a:spcAft>
            </a:pPr>
            <a:r>
              <a:rPr sz="900" b="0" i="0" spc="110">
                <a:solidFill>
                  <a:srgbClr val="6B6B6B"/>
                </a:solidFill>
                <a:latin typeface="Consolas"/>
              </a:rPr>
              <a:t>REDUCTION IN CAMPAIGN SPEND</a:t>
            </a:r>
          </a:p>
        </p:txBody>
      </p:sp>
      <p:sp>
        <p:nvSpPr>
          <p:cNvPr id="18" name="Rectangle 17"/>
          <p:cNvSpPr/>
          <p:nvPr/>
        </p:nvSpPr>
        <p:spPr>
          <a:xfrm>
            <a:off x="8864877" y="2011680"/>
            <a:ext cx="2549575" cy="1188720"/>
          </a:xfrm>
          <a:prstGeom prst="rect">
            <a:avLst/>
          </a:prstGeom>
          <a:solidFill>
            <a:srgbClr val="F0EC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19" name="Connector 18"/>
          <p:cNvCxnSpPr/>
          <p:nvPr/>
        </p:nvCxnSpPr>
        <p:spPr>
          <a:xfrm>
            <a:off x="8864877" y="2011680"/>
            <a:ext cx="2549575" cy="0"/>
          </a:xfrm>
          <a:prstGeom prst="line">
            <a:avLst/>
          </a:prstGeom>
          <a:ln w="28575">
            <a:solidFill>
              <a:srgbClr val="1A1A1A"/>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9066045" y="2249424"/>
            <a:ext cx="2147239" cy="457200"/>
          </a:xfrm>
          <a:prstGeom prst="rect">
            <a:avLst/>
          </a:prstGeom>
          <a:noFill/>
        </p:spPr>
        <p:txBody>
          <a:bodyPr wrap="square" anchor="t" lIns="0" rIns="0" tIns="0" bIns="0">
            <a:spAutoFit/>
          </a:bodyPr>
          <a:lstStyle/>
          <a:p>
            <a:pPr algn="l">
              <a:lnSpc>
                <a:spcPct val="100000"/>
              </a:lnSpc>
              <a:spcAft>
                <a:spcPts val="0"/>
              </a:spcAft>
            </a:pPr>
            <a:r>
              <a:rPr sz="2700" b="0" i="0">
                <a:solidFill>
                  <a:srgbClr val="1A1A1A"/>
                </a:solidFill>
                <a:latin typeface="Georgia"/>
              </a:rPr>
              <a:t>89%</a:t>
            </a:r>
          </a:p>
        </p:txBody>
      </p:sp>
      <p:sp>
        <p:nvSpPr>
          <p:cNvPr id="21" name="TextBox 20"/>
          <p:cNvSpPr txBox="1"/>
          <p:nvPr/>
        </p:nvSpPr>
        <p:spPr>
          <a:xfrm>
            <a:off x="9066045" y="2816352"/>
            <a:ext cx="2147239" cy="274320"/>
          </a:xfrm>
          <a:prstGeom prst="rect">
            <a:avLst/>
          </a:prstGeom>
          <a:noFill/>
        </p:spPr>
        <p:txBody>
          <a:bodyPr wrap="square" anchor="t" lIns="0" rIns="0" tIns="0" bIns="0">
            <a:spAutoFit/>
          </a:bodyPr>
          <a:lstStyle/>
          <a:p>
            <a:pPr algn="l">
              <a:lnSpc>
                <a:spcPct val="125000"/>
              </a:lnSpc>
              <a:spcAft>
                <a:spcPts val="0"/>
              </a:spcAft>
            </a:pPr>
            <a:r>
              <a:rPr sz="900" b="0" i="0" spc="110">
                <a:solidFill>
                  <a:srgbClr val="6B6B6B"/>
                </a:solidFill>
                <a:latin typeface="Consolas"/>
              </a:rPr>
              <a:t>OF REVENUE STILL ADDRESSED</a:t>
            </a:r>
          </a:p>
        </p:txBody>
      </p:sp>
      <p:sp>
        <p:nvSpPr>
          <p:cNvPr id="22" name="TextBox 21"/>
          <p:cNvSpPr txBox="1"/>
          <p:nvPr/>
        </p:nvSpPr>
        <p:spPr>
          <a:xfrm>
            <a:off x="777240" y="3611880"/>
            <a:ext cx="5120640" cy="274320"/>
          </a:xfrm>
          <a:prstGeom prst="rect">
            <a:avLst/>
          </a:prstGeom>
          <a:noFill/>
        </p:spPr>
        <p:txBody>
          <a:bodyPr wrap="square" anchor="t" lIns="0" rIns="0" tIns="0" bIns="0">
            <a:spAutoFit/>
          </a:bodyPr>
          <a:lstStyle/>
          <a:p>
            <a:pPr algn="l">
              <a:lnSpc>
                <a:spcPct val="125000"/>
              </a:lnSpc>
              <a:spcAft>
                <a:spcPts val="0"/>
              </a:spcAft>
            </a:pPr>
            <a:r>
              <a:rPr sz="950" b="0" i="0" spc="140">
                <a:solidFill>
                  <a:srgbClr val="6B6B6B"/>
                </a:solidFill>
                <a:latin typeface="Consolas"/>
              </a:rPr>
              <a:t>HOW THE TARGET LIST IS BUILT</a:t>
            </a:r>
          </a:p>
        </p:txBody>
      </p:sp>
      <p:sp>
        <p:nvSpPr>
          <p:cNvPr id="23" name="TextBox 22"/>
          <p:cNvSpPr txBox="1"/>
          <p:nvPr/>
        </p:nvSpPr>
        <p:spPr>
          <a:xfrm>
            <a:off x="777240" y="3931920"/>
            <a:ext cx="5120640" cy="365760"/>
          </a:xfrm>
          <a:prstGeom prst="rect">
            <a:avLst/>
          </a:prstGeom>
          <a:noFill/>
        </p:spPr>
        <p:txBody>
          <a:bodyPr wrap="square" lIns="0" rIns="0" tIns="0" bIns="0">
            <a:spAutoFit/>
          </a:bodyPr>
          <a:lstStyle/>
          <a:p>
            <a:pPr>
              <a:lnSpc>
                <a:spcPct val="130000"/>
              </a:lnSpc>
              <a:spcAft>
                <a:spcPts val="700"/>
              </a:spcAft>
            </a:pPr>
            <a:r>
              <a:rPr sz="1250" b="1">
                <a:solidFill>
                  <a:srgbClr val="B45309"/>
                </a:solidFill>
                <a:latin typeface="Calibri"/>
              </a:rPr>
              <a:t>— </a:t>
            </a:r>
            <a:r>
              <a:rPr sz="1250" b="1">
                <a:solidFill>
                  <a:srgbClr val="1A1A1A"/>
                </a:solidFill>
                <a:latin typeface="Calibri"/>
              </a:rPr>
              <a:t>Include Champions. </a:t>
            </a:r>
            <a:r>
              <a:rPr sz="1250">
                <a:solidFill>
                  <a:srgbClr val="1A1A1A"/>
                </a:solidFill>
                <a:latin typeface="Calibri"/>
              </a:rPr>
              <a:t>715 customers carrying 65% of revenue — retention here protects the base.</a:t>
            </a:r>
          </a:p>
          <a:p>
            <a:pPr>
              <a:lnSpc>
                <a:spcPct val="130000"/>
              </a:lnSpc>
              <a:spcAft>
                <a:spcPts val="700"/>
              </a:spcAft>
            </a:pPr>
            <a:r>
              <a:rPr sz="1250" b="1">
                <a:solidFill>
                  <a:srgbClr val="B45309"/>
                </a:solidFill>
                <a:latin typeface="Calibri"/>
              </a:rPr>
              <a:t>— </a:t>
            </a:r>
            <a:r>
              <a:rPr sz="1250" b="1">
                <a:solidFill>
                  <a:srgbClr val="1A1A1A"/>
                </a:solidFill>
                <a:latin typeface="Calibri"/>
              </a:rPr>
              <a:t>Include At-Risk. </a:t>
            </a:r>
            <a:r>
              <a:rPr sz="1250">
                <a:solidFill>
                  <a:srgbClr val="1A1A1A"/>
                </a:solidFill>
                <a:latin typeface="Calibri"/>
              </a:rPr>
              <a:t>1,175 customers carrying 24% of revenue and visibly lapsing — this is where a pound of spend changes the outcome.</a:t>
            </a:r>
          </a:p>
          <a:p>
            <a:pPr>
              <a:lnSpc>
                <a:spcPct val="130000"/>
              </a:lnSpc>
              <a:spcAft>
                <a:spcPts val="700"/>
              </a:spcAft>
            </a:pPr>
            <a:r>
              <a:rPr sz="1250" b="1">
                <a:solidFill>
                  <a:srgbClr val="B45309"/>
                </a:solidFill>
                <a:latin typeface="Calibri"/>
              </a:rPr>
              <a:t>— </a:t>
            </a:r>
            <a:r>
              <a:rPr sz="1250" b="1">
                <a:solidFill>
                  <a:srgbClr val="1A1A1A"/>
                </a:solidFill>
                <a:latin typeface="Calibri"/>
              </a:rPr>
              <a:t>Down-weight the rest. </a:t>
            </a:r>
            <a:r>
              <a:rPr sz="1250">
                <a:solidFill>
                  <a:srgbClr val="1A1A1A"/>
                </a:solidFill>
                <a:latin typeface="Calibri"/>
              </a:rPr>
              <a:t>2,449 customers move to low-cost channels rather than paid campaigns.</a:t>
            </a:r>
          </a:p>
        </p:txBody>
      </p:sp>
      <p:sp>
        <p:nvSpPr>
          <p:cNvPr id="24" name="Rectangle 23"/>
          <p:cNvSpPr/>
          <p:nvPr/>
        </p:nvSpPr>
        <p:spPr>
          <a:xfrm>
            <a:off x="6355080" y="3611880"/>
            <a:ext cx="5029200" cy="2148840"/>
          </a:xfrm>
          <a:prstGeom prst="rect">
            <a:avLst/>
          </a:prstGeom>
          <a:solidFill>
            <a:srgbClr val="F0EC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25" name="Connector 24"/>
          <p:cNvCxnSpPr/>
          <p:nvPr/>
        </p:nvCxnSpPr>
        <p:spPr>
          <a:xfrm>
            <a:off x="6355080" y="3611880"/>
            <a:ext cx="5029200" cy="0"/>
          </a:xfrm>
          <a:prstGeom prst="line">
            <a:avLst/>
          </a:prstGeom>
          <a:ln w="28575">
            <a:solidFill>
              <a:srgbClr val="B45309"/>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629400" y="3840480"/>
            <a:ext cx="4480560" cy="274320"/>
          </a:xfrm>
          <a:prstGeom prst="rect">
            <a:avLst/>
          </a:prstGeom>
          <a:noFill/>
        </p:spPr>
        <p:txBody>
          <a:bodyPr wrap="square" anchor="t" lIns="0" rIns="0" tIns="0" bIns="0">
            <a:spAutoFit/>
          </a:bodyPr>
          <a:lstStyle/>
          <a:p>
            <a:pPr algn="l">
              <a:lnSpc>
                <a:spcPct val="125000"/>
              </a:lnSpc>
              <a:spcAft>
                <a:spcPts val="0"/>
              </a:spcAft>
            </a:pPr>
            <a:r>
              <a:rPr sz="950" b="0" i="0" spc="140">
                <a:solidFill>
                  <a:srgbClr val="B45309"/>
                </a:solidFill>
                <a:latin typeface="Consolas"/>
              </a:rPr>
              <a:t>STATING THE CLAIM PRECISELY</a:t>
            </a:r>
          </a:p>
        </p:txBody>
      </p:sp>
      <p:sp>
        <p:nvSpPr>
          <p:cNvPr id="27" name="TextBox 26"/>
          <p:cNvSpPr txBox="1"/>
          <p:nvPr/>
        </p:nvSpPr>
        <p:spPr>
          <a:xfrm>
            <a:off x="6629400" y="4187952"/>
            <a:ext cx="4480560" cy="1463040"/>
          </a:xfrm>
          <a:prstGeom prst="rect">
            <a:avLst/>
          </a:prstGeom>
          <a:noFill/>
        </p:spPr>
        <p:txBody>
          <a:bodyPr wrap="square" anchor="t" lIns="0" rIns="0" tIns="0" bIns="0">
            <a:spAutoFit/>
          </a:bodyPr>
          <a:lstStyle/>
          <a:p>
            <a:pPr algn="l">
              <a:lnSpc>
                <a:spcPct val="140000"/>
              </a:lnSpc>
              <a:spcAft>
                <a:spcPts val="0"/>
              </a:spcAft>
            </a:pPr>
            <a:r>
              <a:rPr sz="1250" b="0" i="0">
                <a:solidFill>
                  <a:srgbClr val="1A1A1A"/>
                </a:solidFill>
                <a:latin typeface="Calibri"/>
              </a:rPr>
              <a:t>This is a cost-efficiency figure derived from our actual segment sizes and revenue shares — it is not a measured lift in sales. Demonstrating uplift requires an A/B test against a randomised holdout group, which is the first item in our future work.</a:t>
            </a:r>
          </a:p>
        </p:txBody>
      </p:sp>
      <p:cxnSp>
        <p:nvCxnSpPr>
          <p:cNvPr id="28" name="Connector 27"/>
          <p:cNvCxnSpPr/>
          <p:nvPr/>
        </p:nvCxnSpPr>
        <p:spPr>
          <a:xfrm>
            <a:off x="777240" y="6291072"/>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777240" y="6400800"/>
            <a:ext cx="6400800" cy="228600"/>
          </a:xfrm>
          <a:prstGeom prst="rect">
            <a:avLst/>
          </a:prstGeom>
          <a:noFill/>
        </p:spPr>
        <p:txBody>
          <a:bodyPr wrap="square" anchor="t" lIns="0" rIns="0" tIns="0" bIns="0">
            <a:spAutoFit/>
          </a:bodyPr>
          <a:lstStyle/>
          <a:p>
            <a:pPr algn="l">
              <a:lnSpc>
                <a:spcPct val="125000"/>
              </a:lnSpc>
              <a:spcAft>
                <a:spcPts val="0"/>
              </a:spcAft>
            </a:pPr>
            <a:r>
              <a:rPr sz="850" b="0" i="0" spc="120">
                <a:solidFill>
                  <a:srgbClr val="6B6B6B"/>
                </a:solidFill>
                <a:latin typeface="Consolas"/>
              </a:rPr>
              <a:t>CUSTOMER SEGMENTATION FOR TARGETED E-COMMERCE MARKETING</a:t>
            </a:r>
          </a:p>
        </p:txBody>
      </p:sp>
      <p:sp>
        <p:nvSpPr>
          <p:cNvPr id="30" name="TextBox 29"/>
          <p:cNvSpPr txBox="1"/>
          <p:nvPr/>
        </p:nvSpPr>
        <p:spPr>
          <a:xfrm>
            <a:off x="9585655" y="6400800"/>
            <a:ext cx="1828800" cy="228600"/>
          </a:xfrm>
          <a:prstGeom prst="rect">
            <a:avLst/>
          </a:prstGeom>
          <a:noFill/>
        </p:spPr>
        <p:txBody>
          <a:bodyPr wrap="square" anchor="t" lIns="0" rIns="0" tIns="0" bIns="0">
            <a:spAutoFit/>
          </a:bodyPr>
          <a:lstStyle/>
          <a:p>
            <a:pPr algn="r">
              <a:lnSpc>
                <a:spcPct val="125000"/>
              </a:lnSpc>
              <a:spcAft>
                <a:spcPts val="0"/>
              </a:spcAft>
            </a:pPr>
            <a:r>
              <a:rPr sz="850" b="0" i="0" spc="120">
                <a:solidFill>
                  <a:srgbClr val="6B6B6B"/>
                </a:solidFill>
                <a:latin typeface="Consolas"/>
              </a:rPr>
              <a:t>15 / 27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77240" y="566928"/>
            <a:ext cx="10637215" cy="274320"/>
          </a:xfrm>
          <a:prstGeom prst="rect">
            <a:avLst/>
          </a:prstGeom>
          <a:noFill/>
        </p:spPr>
        <p:txBody>
          <a:bodyPr wrap="none" lIns="0" rIns="0" tIns="0" bIns="0">
            <a:spAutoFit/>
          </a:bodyPr>
          <a:lstStyle/>
          <a:p>
            <a:r>
              <a:rPr sz="1050" b="1" spc="200">
                <a:solidFill>
                  <a:srgbClr val="B45309"/>
                </a:solidFill>
                <a:latin typeface="Consolas"/>
              </a:rPr>
              <a:t>04  </a:t>
            </a:r>
            <a:r>
              <a:rPr sz="1050" spc="200">
                <a:solidFill>
                  <a:srgbClr val="6B6B6B"/>
                </a:solidFill>
                <a:latin typeface="Consolas"/>
              </a:rPr>
              <a:t>CHURN PREDICTION</a:t>
            </a:r>
            <a:r>
              <a:rPr sz="1050" spc="200">
                <a:solidFill>
                  <a:srgbClr val="6B6B6B"/>
                </a:solidFill>
                <a:latin typeface="Consolas"/>
              </a:rPr>
              <a:t>   ·   LOGISTIC REGRESSION ON RFM</a:t>
            </a:r>
          </a:p>
        </p:txBody>
      </p:sp>
      <p:sp>
        <p:nvSpPr>
          <p:cNvPr id="4" name="TextBox 3"/>
          <p:cNvSpPr txBox="1"/>
          <p:nvPr/>
        </p:nvSpPr>
        <p:spPr>
          <a:xfrm>
            <a:off x="777240" y="932688"/>
            <a:ext cx="10637215" cy="685800"/>
          </a:xfrm>
          <a:prstGeom prst="rect">
            <a:avLst/>
          </a:prstGeom>
          <a:noFill/>
        </p:spPr>
        <p:txBody>
          <a:bodyPr wrap="square" anchor="t" lIns="0" rIns="0" tIns="0" bIns="0">
            <a:spAutoFit/>
          </a:bodyPr>
          <a:lstStyle/>
          <a:p>
            <a:pPr algn="l">
              <a:lnSpc>
                <a:spcPct val="100000"/>
              </a:lnSpc>
              <a:spcAft>
                <a:spcPts val="0"/>
              </a:spcAft>
            </a:pPr>
            <a:r>
              <a:rPr sz="3200" b="0" i="0">
                <a:solidFill>
                  <a:srgbClr val="1A1A1A"/>
                </a:solidFill>
                <a:latin typeface="Georgia"/>
              </a:rPr>
              <a:t>Who is about to leave</a:t>
            </a:r>
          </a:p>
        </p:txBody>
      </p:sp>
      <p:cxnSp>
        <p:nvCxnSpPr>
          <p:cNvPr id="5" name="Connector 4"/>
          <p:cNvCxnSpPr/>
          <p:nvPr/>
        </p:nvCxnSpPr>
        <p:spPr>
          <a:xfrm>
            <a:off x="777240" y="1664208"/>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77240" y="2011680"/>
            <a:ext cx="5852160" cy="365760"/>
          </a:xfrm>
          <a:prstGeom prst="rect">
            <a:avLst/>
          </a:prstGeom>
          <a:noFill/>
        </p:spPr>
        <p:txBody>
          <a:bodyPr wrap="square" lIns="0" rIns="0" tIns="0" bIns="0">
            <a:spAutoFit/>
          </a:bodyPr>
          <a:lstStyle/>
          <a:p>
            <a:pPr>
              <a:lnSpc>
                <a:spcPct val="130000"/>
              </a:lnSpc>
              <a:spcAft>
                <a:spcPts val="900"/>
              </a:spcAft>
            </a:pPr>
            <a:r>
              <a:rPr sz="1350" b="1">
                <a:solidFill>
                  <a:srgbClr val="B45309"/>
                </a:solidFill>
                <a:latin typeface="Calibri"/>
              </a:rPr>
              <a:t>— </a:t>
            </a:r>
            <a:r>
              <a:rPr sz="1350" b="1">
                <a:solidFill>
                  <a:srgbClr val="1A1A1A"/>
                </a:solidFill>
                <a:latin typeface="Calibri"/>
              </a:rPr>
              <a:t>The label. </a:t>
            </a:r>
            <a:r>
              <a:rPr sz="1350">
                <a:solidFill>
                  <a:srgbClr val="1A1A1A"/>
                </a:solidFill>
                <a:latin typeface="Calibri"/>
              </a:rPr>
              <a:t>A customer is marked as churned if their Recency exceeds 90 days — a standard retail dormancy window, and one the dashboard lets you change (30 / 60 / 90 / 120 / 180).</a:t>
            </a:r>
          </a:p>
          <a:p>
            <a:pPr>
              <a:lnSpc>
                <a:spcPct val="130000"/>
              </a:lnSpc>
              <a:spcAft>
                <a:spcPts val="900"/>
              </a:spcAft>
            </a:pPr>
            <a:r>
              <a:rPr sz="1350" b="1">
                <a:solidFill>
                  <a:srgbClr val="B45309"/>
                </a:solidFill>
                <a:latin typeface="Calibri"/>
              </a:rPr>
              <a:t>— </a:t>
            </a:r>
            <a:r>
              <a:rPr sz="1350" b="1">
                <a:solidFill>
                  <a:srgbClr val="1A1A1A"/>
                </a:solidFill>
                <a:latin typeface="Calibri"/>
              </a:rPr>
              <a:t>The model. </a:t>
            </a:r>
            <a:r>
              <a:rPr sz="1350">
                <a:solidFill>
                  <a:srgbClr val="1A1A1A"/>
                </a:solidFill>
                <a:latin typeface="Calibri"/>
              </a:rPr>
              <a:t>Logistic regression on Recency, Frequency and Monetary, with an 80/20 stratified train-test split. Chosen for interpretability — coefficients can be explained to a marketing team.</a:t>
            </a:r>
          </a:p>
          <a:p>
            <a:pPr>
              <a:lnSpc>
                <a:spcPct val="130000"/>
              </a:lnSpc>
              <a:spcAft>
                <a:spcPts val="900"/>
              </a:spcAft>
            </a:pPr>
            <a:r>
              <a:rPr sz="1350" b="1">
                <a:solidFill>
                  <a:srgbClr val="B45309"/>
                </a:solidFill>
                <a:latin typeface="Calibri"/>
              </a:rPr>
              <a:t>— </a:t>
            </a:r>
            <a:r>
              <a:rPr sz="1350" b="1">
                <a:solidFill>
                  <a:srgbClr val="1A1A1A"/>
                </a:solidFill>
                <a:latin typeface="Calibri"/>
              </a:rPr>
              <a:t>The output. </a:t>
            </a:r>
            <a:r>
              <a:rPr sz="1350">
                <a:solidFill>
                  <a:srgbClr val="1A1A1A"/>
                </a:solidFill>
                <a:latin typeface="Calibri"/>
              </a:rPr>
              <a:t>A churn probability between 0 and 1 for every customer, which the dashboard buckets into High Risk (&gt; 0.7), Medium Risk (0.4 – 0.7) and Low Risk / Loyal.</a:t>
            </a:r>
          </a:p>
          <a:p>
            <a:pPr>
              <a:lnSpc>
                <a:spcPct val="130000"/>
              </a:lnSpc>
              <a:spcAft>
                <a:spcPts val="900"/>
              </a:spcAft>
            </a:pPr>
            <a:r>
              <a:rPr sz="1350" b="1">
                <a:solidFill>
                  <a:srgbClr val="B45309"/>
                </a:solidFill>
                <a:latin typeface="Calibri"/>
              </a:rPr>
              <a:t>— </a:t>
            </a:r>
            <a:r>
              <a:rPr sz="1350" b="1">
                <a:solidFill>
                  <a:srgbClr val="1A1A1A"/>
                </a:solidFill>
                <a:latin typeface="Calibri"/>
              </a:rPr>
              <a:t>Base rate. </a:t>
            </a:r>
            <a:r>
              <a:rPr sz="1350">
                <a:solidFill>
                  <a:srgbClr val="1A1A1A"/>
                </a:solidFill>
                <a:latin typeface="Calibri"/>
              </a:rPr>
              <a:t>33.0% of the customer base is churned under the 90-day definition — 1,432 customers.</a:t>
            </a:r>
          </a:p>
        </p:txBody>
      </p:sp>
      <p:sp>
        <p:nvSpPr>
          <p:cNvPr id="7" name="TextBox 6"/>
          <p:cNvSpPr txBox="1"/>
          <p:nvPr/>
        </p:nvSpPr>
        <p:spPr>
          <a:xfrm>
            <a:off x="7086600" y="2011680"/>
            <a:ext cx="4297680" cy="274320"/>
          </a:xfrm>
          <a:prstGeom prst="rect">
            <a:avLst/>
          </a:prstGeom>
          <a:noFill/>
        </p:spPr>
        <p:txBody>
          <a:bodyPr wrap="square" anchor="t" lIns="0" rIns="0" tIns="0" bIns="0">
            <a:spAutoFit/>
          </a:bodyPr>
          <a:lstStyle/>
          <a:p>
            <a:pPr algn="l">
              <a:lnSpc>
                <a:spcPct val="125000"/>
              </a:lnSpc>
              <a:spcAft>
                <a:spcPts val="0"/>
              </a:spcAft>
            </a:pPr>
            <a:r>
              <a:rPr sz="950" b="0" i="0" spc="140">
                <a:solidFill>
                  <a:srgbClr val="6B6B6B"/>
                </a:solidFill>
                <a:latin typeface="Consolas"/>
              </a:rPr>
              <a:t>CHURN RATE BY SEGMENT</a:t>
            </a:r>
          </a:p>
        </p:txBody>
      </p:sp>
      <p:sp>
        <p:nvSpPr>
          <p:cNvPr id="8" name="TextBox 7"/>
          <p:cNvSpPr txBox="1"/>
          <p:nvPr/>
        </p:nvSpPr>
        <p:spPr>
          <a:xfrm>
            <a:off x="7086600" y="2395728"/>
            <a:ext cx="2103120" cy="274320"/>
          </a:xfrm>
          <a:prstGeom prst="rect">
            <a:avLst/>
          </a:prstGeom>
          <a:noFill/>
        </p:spPr>
        <p:txBody>
          <a:bodyPr wrap="square" anchor="t" lIns="0" rIns="0" tIns="0" bIns="0">
            <a:spAutoFit/>
          </a:bodyPr>
          <a:lstStyle/>
          <a:p>
            <a:pPr algn="l">
              <a:lnSpc>
                <a:spcPct val="125000"/>
              </a:lnSpc>
              <a:spcAft>
                <a:spcPts val="0"/>
              </a:spcAft>
            </a:pPr>
            <a:r>
              <a:rPr sz="1300" b="0" i="0">
                <a:solidFill>
                  <a:srgbClr val="1A1A1A"/>
                </a:solidFill>
                <a:latin typeface="Calibri"/>
              </a:rPr>
              <a:t>Champions</a:t>
            </a:r>
          </a:p>
        </p:txBody>
      </p:sp>
      <p:sp>
        <p:nvSpPr>
          <p:cNvPr id="9" name="Rectangle 8"/>
          <p:cNvSpPr/>
          <p:nvPr/>
        </p:nvSpPr>
        <p:spPr>
          <a:xfrm>
            <a:off x="9281160" y="2432304"/>
            <a:ext cx="1737360" cy="173736"/>
          </a:xfrm>
          <a:prstGeom prst="rect">
            <a:avLst/>
          </a:prstGeom>
          <a:solidFill>
            <a:srgbClr val="D8D4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11128248" y="2395728"/>
            <a:ext cx="731520" cy="274320"/>
          </a:xfrm>
          <a:prstGeom prst="rect">
            <a:avLst/>
          </a:prstGeom>
          <a:noFill/>
        </p:spPr>
        <p:txBody>
          <a:bodyPr wrap="square" anchor="t" lIns="0" rIns="0" tIns="0" bIns="0">
            <a:spAutoFit/>
          </a:bodyPr>
          <a:lstStyle/>
          <a:p>
            <a:pPr algn="l">
              <a:lnSpc>
                <a:spcPct val="125000"/>
              </a:lnSpc>
              <a:spcAft>
                <a:spcPts val="0"/>
              </a:spcAft>
            </a:pPr>
            <a:r>
              <a:rPr sz="1200" b="0" i="0">
                <a:solidFill>
                  <a:srgbClr val="6B6B6B"/>
                </a:solidFill>
                <a:latin typeface="Consolas"/>
              </a:rPr>
              <a:t>0%</a:t>
            </a:r>
          </a:p>
        </p:txBody>
      </p:sp>
      <p:sp>
        <p:nvSpPr>
          <p:cNvPr id="11" name="TextBox 10"/>
          <p:cNvSpPr txBox="1"/>
          <p:nvPr/>
        </p:nvSpPr>
        <p:spPr>
          <a:xfrm>
            <a:off x="7086600" y="2962656"/>
            <a:ext cx="2103120" cy="274320"/>
          </a:xfrm>
          <a:prstGeom prst="rect">
            <a:avLst/>
          </a:prstGeom>
          <a:noFill/>
        </p:spPr>
        <p:txBody>
          <a:bodyPr wrap="square" anchor="t" lIns="0" rIns="0" tIns="0" bIns="0">
            <a:spAutoFit/>
          </a:bodyPr>
          <a:lstStyle/>
          <a:p>
            <a:pPr algn="l">
              <a:lnSpc>
                <a:spcPct val="125000"/>
              </a:lnSpc>
              <a:spcAft>
                <a:spcPts val="0"/>
              </a:spcAft>
            </a:pPr>
            <a:r>
              <a:rPr sz="1300" b="0" i="0">
                <a:solidFill>
                  <a:srgbClr val="1A1A1A"/>
                </a:solidFill>
                <a:latin typeface="Calibri"/>
              </a:rPr>
              <a:t>New / Occasional</a:t>
            </a:r>
          </a:p>
        </p:txBody>
      </p:sp>
      <p:sp>
        <p:nvSpPr>
          <p:cNvPr id="12" name="Rectangle 11"/>
          <p:cNvSpPr/>
          <p:nvPr/>
        </p:nvSpPr>
        <p:spPr>
          <a:xfrm>
            <a:off x="9281160" y="2999232"/>
            <a:ext cx="1737360" cy="173736"/>
          </a:xfrm>
          <a:prstGeom prst="rect">
            <a:avLst/>
          </a:prstGeom>
          <a:solidFill>
            <a:srgbClr val="D8D4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1128248" y="2962656"/>
            <a:ext cx="731520" cy="274320"/>
          </a:xfrm>
          <a:prstGeom prst="rect">
            <a:avLst/>
          </a:prstGeom>
          <a:noFill/>
        </p:spPr>
        <p:txBody>
          <a:bodyPr wrap="square" anchor="t" lIns="0" rIns="0" tIns="0" bIns="0">
            <a:spAutoFit/>
          </a:bodyPr>
          <a:lstStyle/>
          <a:p>
            <a:pPr algn="l">
              <a:lnSpc>
                <a:spcPct val="125000"/>
              </a:lnSpc>
              <a:spcAft>
                <a:spcPts val="0"/>
              </a:spcAft>
            </a:pPr>
            <a:r>
              <a:rPr sz="1200" b="0" i="0">
                <a:solidFill>
                  <a:srgbClr val="6B6B6B"/>
                </a:solidFill>
                <a:latin typeface="Consolas"/>
              </a:rPr>
              <a:t>0%</a:t>
            </a:r>
          </a:p>
        </p:txBody>
      </p:sp>
      <p:sp>
        <p:nvSpPr>
          <p:cNvPr id="14" name="TextBox 13"/>
          <p:cNvSpPr txBox="1"/>
          <p:nvPr/>
        </p:nvSpPr>
        <p:spPr>
          <a:xfrm>
            <a:off x="7086600" y="3529584"/>
            <a:ext cx="2103120" cy="274320"/>
          </a:xfrm>
          <a:prstGeom prst="rect">
            <a:avLst/>
          </a:prstGeom>
          <a:noFill/>
        </p:spPr>
        <p:txBody>
          <a:bodyPr wrap="square" anchor="t" lIns="0" rIns="0" tIns="0" bIns="0">
            <a:spAutoFit/>
          </a:bodyPr>
          <a:lstStyle/>
          <a:p>
            <a:pPr algn="l">
              <a:lnSpc>
                <a:spcPct val="125000"/>
              </a:lnSpc>
              <a:spcAft>
                <a:spcPts val="0"/>
              </a:spcAft>
            </a:pPr>
            <a:r>
              <a:rPr sz="1300" b="0" i="0">
                <a:solidFill>
                  <a:srgbClr val="1A1A1A"/>
                </a:solidFill>
                <a:latin typeface="Calibri"/>
              </a:rPr>
              <a:t>At-Risk Mid-Value</a:t>
            </a:r>
          </a:p>
        </p:txBody>
      </p:sp>
      <p:sp>
        <p:nvSpPr>
          <p:cNvPr id="15" name="Rectangle 14"/>
          <p:cNvSpPr/>
          <p:nvPr/>
        </p:nvSpPr>
        <p:spPr>
          <a:xfrm>
            <a:off x="9281160" y="3566160"/>
            <a:ext cx="1737360" cy="173736"/>
          </a:xfrm>
          <a:prstGeom prst="rect">
            <a:avLst/>
          </a:prstGeom>
          <a:solidFill>
            <a:srgbClr val="D8D4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9281160" y="3566160"/>
            <a:ext cx="412530" cy="173736"/>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1128248" y="3529584"/>
            <a:ext cx="731520" cy="274320"/>
          </a:xfrm>
          <a:prstGeom prst="rect">
            <a:avLst/>
          </a:prstGeom>
          <a:noFill/>
        </p:spPr>
        <p:txBody>
          <a:bodyPr wrap="square" anchor="t" lIns="0" rIns="0" tIns="0" bIns="0">
            <a:spAutoFit/>
          </a:bodyPr>
          <a:lstStyle/>
          <a:p>
            <a:pPr algn="l">
              <a:lnSpc>
                <a:spcPct val="125000"/>
              </a:lnSpc>
              <a:spcAft>
                <a:spcPts val="0"/>
              </a:spcAft>
            </a:pPr>
            <a:r>
              <a:rPr sz="1200" b="0" i="0">
                <a:solidFill>
                  <a:srgbClr val="6B6B6B"/>
                </a:solidFill>
                <a:latin typeface="Consolas"/>
              </a:rPr>
              <a:t>24%</a:t>
            </a:r>
          </a:p>
        </p:txBody>
      </p:sp>
      <p:sp>
        <p:nvSpPr>
          <p:cNvPr id="18" name="TextBox 17"/>
          <p:cNvSpPr txBox="1"/>
          <p:nvPr/>
        </p:nvSpPr>
        <p:spPr>
          <a:xfrm>
            <a:off x="7086600" y="4096512"/>
            <a:ext cx="2103120" cy="274320"/>
          </a:xfrm>
          <a:prstGeom prst="rect">
            <a:avLst/>
          </a:prstGeom>
          <a:noFill/>
        </p:spPr>
        <p:txBody>
          <a:bodyPr wrap="square" anchor="t" lIns="0" rIns="0" tIns="0" bIns="0">
            <a:spAutoFit/>
          </a:bodyPr>
          <a:lstStyle/>
          <a:p>
            <a:pPr algn="l">
              <a:lnSpc>
                <a:spcPct val="125000"/>
              </a:lnSpc>
              <a:spcAft>
                <a:spcPts val="0"/>
              </a:spcAft>
            </a:pPr>
            <a:r>
              <a:rPr sz="1300" b="0" i="0">
                <a:solidFill>
                  <a:srgbClr val="1A1A1A"/>
                </a:solidFill>
                <a:latin typeface="Calibri"/>
              </a:rPr>
              <a:t>Hibernating</a:t>
            </a:r>
          </a:p>
        </p:txBody>
      </p:sp>
      <p:sp>
        <p:nvSpPr>
          <p:cNvPr id="19" name="Rectangle 18"/>
          <p:cNvSpPr/>
          <p:nvPr/>
        </p:nvSpPr>
        <p:spPr>
          <a:xfrm>
            <a:off x="9281160" y="4133088"/>
            <a:ext cx="1737360" cy="173736"/>
          </a:xfrm>
          <a:prstGeom prst="rect">
            <a:avLst/>
          </a:prstGeom>
          <a:solidFill>
            <a:srgbClr val="D8D4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9281160" y="4133088"/>
            <a:ext cx="1232413" cy="173736"/>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11128248" y="4096512"/>
            <a:ext cx="731520" cy="274320"/>
          </a:xfrm>
          <a:prstGeom prst="rect">
            <a:avLst/>
          </a:prstGeom>
          <a:noFill/>
        </p:spPr>
        <p:txBody>
          <a:bodyPr wrap="square" anchor="t" lIns="0" rIns="0" tIns="0" bIns="0">
            <a:spAutoFit/>
          </a:bodyPr>
          <a:lstStyle/>
          <a:p>
            <a:pPr algn="l">
              <a:lnSpc>
                <a:spcPct val="125000"/>
              </a:lnSpc>
              <a:spcAft>
                <a:spcPts val="0"/>
              </a:spcAft>
            </a:pPr>
            <a:r>
              <a:rPr sz="1200" b="0" i="0">
                <a:solidFill>
                  <a:srgbClr val="6B6B6B"/>
                </a:solidFill>
                <a:latin typeface="Consolas"/>
              </a:rPr>
              <a:t>71%</a:t>
            </a:r>
          </a:p>
        </p:txBody>
      </p:sp>
      <p:sp>
        <p:nvSpPr>
          <p:cNvPr id="22" name="Rectangle 21"/>
          <p:cNvSpPr/>
          <p:nvPr/>
        </p:nvSpPr>
        <p:spPr>
          <a:xfrm>
            <a:off x="7086600" y="4846320"/>
            <a:ext cx="4297680" cy="914400"/>
          </a:xfrm>
          <a:prstGeom prst="rect">
            <a:avLst/>
          </a:prstGeom>
          <a:solidFill>
            <a:srgbClr val="F0EC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7315200" y="5029200"/>
            <a:ext cx="3840480" cy="640080"/>
          </a:xfrm>
          <a:prstGeom prst="rect">
            <a:avLst/>
          </a:prstGeom>
          <a:noFill/>
        </p:spPr>
        <p:txBody>
          <a:bodyPr wrap="square" anchor="t" lIns="0" rIns="0" tIns="0" bIns="0">
            <a:spAutoFit/>
          </a:bodyPr>
          <a:lstStyle/>
          <a:p>
            <a:pPr algn="l">
              <a:lnSpc>
                <a:spcPct val="135000"/>
              </a:lnSpc>
              <a:spcAft>
                <a:spcPts val="0"/>
              </a:spcAft>
            </a:pPr>
            <a:r>
              <a:rPr sz="1250" b="0" i="0">
                <a:solidFill>
                  <a:srgbClr val="1A1A1A"/>
                </a:solidFill>
                <a:latin typeface="Calibri"/>
              </a:rPr>
              <a:t>Risk tracks the segmentation cleanly — near zero among Champions, 71% among Hibernating. The two methods agree.</a:t>
            </a:r>
          </a:p>
        </p:txBody>
      </p:sp>
      <p:cxnSp>
        <p:nvCxnSpPr>
          <p:cNvPr id="24" name="Connector 23"/>
          <p:cNvCxnSpPr/>
          <p:nvPr/>
        </p:nvCxnSpPr>
        <p:spPr>
          <a:xfrm>
            <a:off x="777240" y="6291072"/>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777240" y="6400800"/>
            <a:ext cx="6400800" cy="228600"/>
          </a:xfrm>
          <a:prstGeom prst="rect">
            <a:avLst/>
          </a:prstGeom>
          <a:noFill/>
        </p:spPr>
        <p:txBody>
          <a:bodyPr wrap="square" anchor="t" lIns="0" rIns="0" tIns="0" bIns="0">
            <a:spAutoFit/>
          </a:bodyPr>
          <a:lstStyle/>
          <a:p>
            <a:pPr algn="l">
              <a:lnSpc>
                <a:spcPct val="125000"/>
              </a:lnSpc>
              <a:spcAft>
                <a:spcPts val="0"/>
              </a:spcAft>
            </a:pPr>
            <a:r>
              <a:rPr sz="850" b="0" i="0" spc="120">
                <a:solidFill>
                  <a:srgbClr val="6B6B6B"/>
                </a:solidFill>
                <a:latin typeface="Consolas"/>
              </a:rPr>
              <a:t>CUSTOMER SEGMENTATION FOR TARGETED E-COMMERCE MARKETING</a:t>
            </a:r>
          </a:p>
        </p:txBody>
      </p:sp>
      <p:sp>
        <p:nvSpPr>
          <p:cNvPr id="26" name="TextBox 25"/>
          <p:cNvSpPr txBox="1"/>
          <p:nvPr/>
        </p:nvSpPr>
        <p:spPr>
          <a:xfrm>
            <a:off x="9585655" y="6400800"/>
            <a:ext cx="1828800" cy="228600"/>
          </a:xfrm>
          <a:prstGeom prst="rect">
            <a:avLst/>
          </a:prstGeom>
          <a:noFill/>
        </p:spPr>
        <p:txBody>
          <a:bodyPr wrap="square" anchor="t" lIns="0" rIns="0" tIns="0" bIns="0">
            <a:spAutoFit/>
          </a:bodyPr>
          <a:lstStyle/>
          <a:p>
            <a:pPr algn="r">
              <a:lnSpc>
                <a:spcPct val="125000"/>
              </a:lnSpc>
              <a:spcAft>
                <a:spcPts val="0"/>
              </a:spcAft>
            </a:pPr>
            <a:r>
              <a:rPr sz="850" b="0" i="0" spc="120">
                <a:solidFill>
                  <a:srgbClr val="6B6B6B"/>
                </a:solidFill>
                <a:latin typeface="Consolas"/>
              </a:rPr>
              <a:t>16 / 27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77240" y="566928"/>
            <a:ext cx="10637215" cy="274320"/>
          </a:xfrm>
          <a:prstGeom prst="rect">
            <a:avLst/>
          </a:prstGeom>
          <a:noFill/>
        </p:spPr>
        <p:txBody>
          <a:bodyPr wrap="none" lIns="0" rIns="0" tIns="0" bIns="0">
            <a:spAutoFit/>
          </a:bodyPr>
          <a:lstStyle/>
          <a:p>
            <a:r>
              <a:rPr sz="1050" b="1" spc="200">
                <a:solidFill>
                  <a:srgbClr val="B45309"/>
                </a:solidFill>
                <a:latin typeface="Consolas"/>
              </a:rPr>
              <a:t>04  </a:t>
            </a:r>
            <a:r>
              <a:rPr sz="1050" spc="200">
                <a:solidFill>
                  <a:srgbClr val="6B6B6B"/>
                </a:solidFill>
                <a:latin typeface="Consolas"/>
              </a:rPr>
              <a:t>CHURN EVALUATION</a:t>
            </a:r>
            <a:r>
              <a:rPr sz="1050" spc="200">
                <a:solidFill>
                  <a:srgbClr val="6B6B6B"/>
                </a:solidFill>
                <a:latin typeface="Consolas"/>
              </a:rPr>
              <a:t>   ·   READING OUR OWN RESULT HONESTLY</a:t>
            </a:r>
          </a:p>
        </p:txBody>
      </p:sp>
      <p:sp>
        <p:nvSpPr>
          <p:cNvPr id="4" name="TextBox 3"/>
          <p:cNvSpPr txBox="1"/>
          <p:nvPr/>
        </p:nvSpPr>
        <p:spPr>
          <a:xfrm>
            <a:off x="777240" y="932688"/>
            <a:ext cx="10637215" cy="685800"/>
          </a:xfrm>
          <a:prstGeom prst="rect">
            <a:avLst/>
          </a:prstGeom>
          <a:noFill/>
        </p:spPr>
        <p:txBody>
          <a:bodyPr wrap="square" anchor="t" lIns="0" rIns="0" tIns="0" bIns="0">
            <a:spAutoFit/>
          </a:bodyPr>
          <a:lstStyle/>
          <a:p>
            <a:pPr algn="l">
              <a:lnSpc>
                <a:spcPct val="100000"/>
              </a:lnSpc>
              <a:spcAft>
                <a:spcPts val="0"/>
              </a:spcAft>
            </a:pPr>
            <a:r>
              <a:rPr sz="3200" b="0" i="0">
                <a:solidFill>
                  <a:srgbClr val="1A1A1A"/>
                </a:solidFill>
                <a:latin typeface="Georgia"/>
              </a:rPr>
              <a:t>A perfect score is a red flag</a:t>
            </a:r>
          </a:p>
        </p:txBody>
      </p:sp>
      <p:cxnSp>
        <p:nvCxnSpPr>
          <p:cNvPr id="5" name="Connector 4"/>
          <p:cNvCxnSpPr/>
          <p:nvPr/>
        </p:nvCxnSpPr>
        <p:spPr>
          <a:xfrm>
            <a:off x="777240" y="1664208"/>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965960"/>
            <a:ext cx="2549575" cy="960120"/>
          </a:xfrm>
          <a:prstGeom prst="rect">
            <a:avLst/>
          </a:prstGeom>
          <a:solidFill>
            <a:srgbClr val="F0EC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7" name="Connector 6"/>
          <p:cNvCxnSpPr/>
          <p:nvPr/>
        </p:nvCxnSpPr>
        <p:spPr>
          <a:xfrm>
            <a:off x="777240" y="1965960"/>
            <a:ext cx="2549575" cy="0"/>
          </a:xfrm>
          <a:prstGeom prst="line">
            <a:avLst/>
          </a:prstGeom>
          <a:ln w="28575">
            <a:solidFill>
              <a:srgbClr val="1A1A1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978408" y="2203704"/>
            <a:ext cx="2147239" cy="457200"/>
          </a:xfrm>
          <a:prstGeom prst="rect">
            <a:avLst/>
          </a:prstGeom>
          <a:noFill/>
        </p:spPr>
        <p:txBody>
          <a:bodyPr wrap="square" anchor="t" lIns="0" rIns="0" tIns="0" bIns="0">
            <a:spAutoFit/>
          </a:bodyPr>
          <a:lstStyle/>
          <a:p>
            <a:pPr algn="l">
              <a:lnSpc>
                <a:spcPct val="100000"/>
              </a:lnSpc>
              <a:spcAft>
                <a:spcPts val="0"/>
              </a:spcAft>
            </a:pPr>
            <a:r>
              <a:rPr sz="2400" b="0" i="0">
                <a:solidFill>
                  <a:srgbClr val="1A1A1A"/>
                </a:solidFill>
                <a:latin typeface="Georgia"/>
              </a:rPr>
              <a:t>100%</a:t>
            </a:r>
          </a:p>
        </p:txBody>
      </p:sp>
      <p:sp>
        <p:nvSpPr>
          <p:cNvPr id="9" name="TextBox 8"/>
          <p:cNvSpPr txBox="1"/>
          <p:nvPr/>
        </p:nvSpPr>
        <p:spPr>
          <a:xfrm>
            <a:off x="978408" y="2542032"/>
            <a:ext cx="2147239" cy="274320"/>
          </a:xfrm>
          <a:prstGeom prst="rect">
            <a:avLst/>
          </a:prstGeom>
          <a:noFill/>
        </p:spPr>
        <p:txBody>
          <a:bodyPr wrap="square" anchor="t" lIns="0" rIns="0" tIns="0" bIns="0">
            <a:spAutoFit/>
          </a:bodyPr>
          <a:lstStyle/>
          <a:p>
            <a:pPr algn="l">
              <a:lnSpc>
                <a:spcPct val="125000"/>
              </a:lnSpc>
              <a:spcAft>
                <a:spcPts val="0"/>
              </a:spcAft>
            </a:pPr>
            <a:r>
              <a:rPr sz="900" b="0" i="0" spc="110">
                <a:solidFill>
                  <a:srgbClr val="6B6B6B"/>
                </a:solidFill>
                <a:latin typeface="Consolas"/>
              </a:rPr>
              <a:t>REPORTED ACCURACY</a:t>
            </a:r>
          </a:p>
        </p:txBody>
      </p:sp>
      <p:sp>
        <p:nvSpPr>
          <p:cNvPr id="10" name="Rectangle 9"/>
          <p:cNvSpPr/>
          <p:nvPr/>
        </p:nvSpPr>
        <p:spPr>
          <a:xfrm>
            <a:off x="3473119" y="1965960"/>
            <a:ext cx="2549575" cy="960120"/>
          </a:xfrm>
          <a:prstGeom prst="rect">
            <a:avLst/>
          </a:prstGeom>
          <a:solidFill>
            <a:srgbClr val="F0EC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11" name="Connector 10"/>
          <p:cNvCxnSpPr/>
          <p:nvPr/>
        </p:nvCxnSpPr>
        <p:spPr>
          <a:xfrm>
            <a:off x="3473119" y="1965960"/>
            <a:ext cx="2549575" cy="0"/>
          </a:xfrm>
          <a:prstGeom prst="line">
            <a:avLst/>
          </a:prstGeom>
          <a:ln w="28575">
            <a:solidFill>
              <a:srgbClr val="1A1A1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674287" y="2203704"/>
            <a:ext cx="2147239" cy="457200"/>
          </a:xfrm>
          <a:prstGeom prst="rect">
            <a:avLst/>
          </a:prstGeom>
          <a:noFill/>
        </p:spPr>
        <p:txBody>
          <a:bodyPr wrap="square" anchor="t" lIns="0" rIns="0" tIns="0" bIns="0">
            <a:spAutoFit/>
          </a:bodyPr>
          <a:lstStyle/>
          <a:p>
            <a:pPr algn="l">
              <a:lnSpc>
                <a:spcPct val="100000"/>
              </a:lnSpc>
              <a:spcAft>
                <a:spcPts val="0"/>
              </a:spcAft>
            </a:pPr>
            <a:r>
              <a:rPr sz="2400" b="0" i="0">
                <a:solidFill>
                  <a:srgbClr val="1A1A1A"/>
                </a:solidFill>
                <a:latin typeface="Georgia"/>
              </a:rPr>
              <a:t>1.00</a:t>
            </a:r>
          </a:p>
        </p:txBody>
      </p:sp>
      <p:sp>
        <p:nvSpPr>
          <p:cNvPr id="13" name="TextBox 12"/>
          <p:cNvSpPr txBox="1"/>
          <p:nvPr/>
        </p:nvSpPr>
        <p:spPr>
          <a:xfrm>
            <a:off x="3674287" y="2542032"/>
            <a:ext cx="2147239" cy="274320"/>
          </a:xfrm>
          <a:prstGeom prst="rect">
            <a:avLst/>
          </a:prstGeom>
          <a:noFill/>
        </p:spPr>
        <p:txBody>
          <a:bodyPr wrap="square" anchor="t" lIns="0" rIns="0" tIns="0" bIns="0">
            <a:spAutoFit/>
          </a:bodyPr>
          <a:lstStyle/>
          <a:p>
            <a:pPr algn="l">
              <a:lnSpc>
                <a:spcPct val="125000"/>
              </a:lnSpc>
              <a:spcAft>
                <a:spcPts val="0"/>
              </a:spcAft>
            </a:pPr>
            <a:r>
              <a:rPr sz="900" b="0" i="0" spc="110">
                <a:solidFill>
                  <a:srgbClr val="6B6B6B"/>
                </a:solidFill>
                <a:latin typeface="Consolas"/>
              </a:rPr>
              <a:t>PRECISION · CHURN CLASS</a:t>
            </a:r>
          </a:p>
        </p:txBody>
      </p:sp>
      <p:sp>
        <p:nvSpPr>
          <p:cNvPr id="14" name="Rectangle 13"/>
          <p:cNvSpPr/>
          <p:nvPr/>
        </p:nvSpPr>
        <p:spPr>
          <a:xfrm>
            <a:off x="6168998" y="1965960"/>
            <a:ext cx="2549575" cy="960120"/>
          </a:xfrm>
          <a:prstGeom prst="rect">
            <a:avLst/>
          </a:prstGeom>
          <a:solidFill>
            <a:srgbClr val="F0EC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15" name="Connector 14"/>
          <p:cNvCxnSpPr/>
          <p:nvPr/>
        </p:nvCxnSpPr>
        <p:spPr>
          <a:xfrm>
            <a:off x="6168998" y="1965960"/>
            <a:ext cx="2549575" cy="0"/>
          </a:xfrm>
          <a:prstGeom prst="line">
            <a:avLst/>
          </a:prstGeom>
          <a:ln w="28575">
            <a:solidFill>
              <a:srgbClr val="1A1A1A"/>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370166" y="2203704"/>
            <a:ext cx="2147239" cy="457200"/>
          </a:xfrm>
          <a:prstGeom prst="rect">
            <a:avLst/>
          </a:prstGeom>
          <a:noFill/>
        </p:spPr>
        <p:txBody>
          <a:bodyPr wrap="square" anchor="t" lIns="0" rIns="0" tIns="0" bIns="0">
            <a:spAutoFit/>
          </a:bodyPr>
          <a:lstStyle/>
          <a:p>
            <a:pPr algn="l">
              <a:lnSpc>
                <a:spcPct val="100000"/>
              </a:lnSpc>
              <a:spcAft>
                <a:spcPts val="0"/>
              </a:spcAft>
            </a:pPr>
            <a:r>
              <a:rPr sz="2400" b="0" i="0">
                <a:solidFill>
                  <a:srgbClr val="1A1A1A"/>
                </a:solidFill>
                <a:latin typeface="Georgia"/>
              </a:rPr>
              <a:t>1.00</a:t>
            </a:r>
          </a:p>
        </p:txBody>
      </p:sp>
      <p:sp>
        <p:nvSpPr>
          <p:cNvPr id="17" name="TextBox 16"/>
          <p:cNvSpPr txBox="1"/>
          <p:nvPr/>
        </p:nvSpPr>
        <p:spPr>
          <a:xfrm>
            <a:off x="6370166" y="2542032"/>
            <a:ext cx="2147239" cy="274320"/>
          </a:xfrm>
          <a:prstGeom prst="rect">
            <a:avLst/>
          </a:prstGeom>
          <a:noFill/>
        </p:spPr>
        <p:txBody>
          <a:bodyPr wrap="square" anchor="t" lIns="0" rIns="0" tIns="0" bIns="0">
            <a:spAutoFit/>
          </a:bodyPr>
          <a:lstStyle/>
          <a:p>
            <a:pPr algn="l">
              <a:lnSpc>
                <a:spcPct val="125000"/>
              </a:lnSpc>
              <a:spcAft>
                <a:spcPts val="0"/>
              </a:spcAft>
            </a:pPr>
            <a:r>
              <a:rPr sz="900" b="0" i="0" spc="110">
                <a:solidFill>
                  <a:srgbClr val="6B6B6B"/>
                </a:solidFill>
                <a:latin typeface="Consolas"/>
              </a:rPr>
              <a:t>RECALL · CHURN CLASS</a:t>
            </a:r>
          </a:p>
        </p:txBody>
      </p:sp>
      <p:sp>
        <p:nvSpPr>
          <p:cNvPr id="18" name="Rectangle 17"/>
          <p:cNvSpPr/>
          <p:nvPr/>
        </p:nvSpPr>
        <p:spPr>
          <a:xfrm>
            <a:off x="8864877" y="1965960"/>
            <a:ext cx="2549575" cy="960120"/>
          </a:xfrm>
          <a:prstGeom prst="rect">
            <a:avLst/>
          </a:prstGeom>
          <a:solidFill>
            <a:srgbClr val="F0EC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19" name="Connector 18"/>
          <p:cNvCxnSpPr/>
          <p:nvPr/>
        </p:nvCxnSpPr>
        <p:spPr>
          <a:xfrm>
            <a:off x="8864877" y="1965960"/>
            <a:ext cx="2549575" cy="0"/>
          </a:xfrm>
          <a:prstGeom prst="line">
            <a:avLst/>
          </a:prstGeom>
          <a:ln w="28575">
            <a:solidFill>
              <a:srgbClr val="1A1A1A"/>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9066045" y="2203704"/>
            <a:ext cx="2147239" cy="457200"/>
          </a:xfrm>
          <a:prstGeom prst="rect">
            <a:avLst/>
          </a:prstGeom>
          <a:noFill/>
        </p:spPr>
        <p:txBody>
          <a:bodyPr wrap="square" anchor="t" lIns="0" rIns="0" tIns="0" bIns="0">
            <a:spAutoFit/>
          </a:bodyPr>
          <a:lstStyle/>
          <a:p>
            <a:pPr algn="l">
              <a:lnSpc>
                <a:spcPct val="100000"/>
              </a:lnSpc>
              <a:spcAft>
                <a:spcPts val="0"/>
              </a:spcAft>
            </a:pPr>
            <a:r>
              <a:rPr sz="2400" b="0" i="0">
                <a:solidFill>
                  <a:srgbClr val="1A1A1A"/>
                </a:solidFill>
                <a:latin typeface="Georgia"/>
              </a:rPr>
              <a:t>868</a:t>
            </a:r>
          </a:p>
        </p:txBody>
      </p:sp>
      <p:sp>
        <p:nvSpPr>
          <p:cNvPr id="21" name="TextBox 20"/>
          <p:cNvSpPr txBox="1"/>
          <p:nvPr/>
        </p:nvSpPr>
        <p:spPr>
          <a:xfrm>
            <a:off x="9066045" y="2542032"/>
            <a:ext cx="2147239" cy="274320"/>
          </a:xfrm>
          <a:prstGeom prst="rect">
            <a:avLst/>
          </a:prstGeom>
          <a:noFill/>
        </p:spPr>
        <p:txBody>
          <a:bodyPr wrap="square" anchor="t" lIns="0" rIns="0" tIns="0" bIns="0">
            <a:spAutoFit/>
          </a:bodyPr>
          <a:lstStyle/>
          <a:p>
            <a:pPr algn="l">
              <a:lnSpc>
                <a:spcPct val="125000"/>
              </a:lnSpc>
              <a:spcAft>
                <a:spcPts val="0"/>
              </a:spcAft>
            </a:pPr>
            <a:r>
              <a:rPr sz="900" b="0" i="0" spc="110">
                <a:solidFill>
                  <a:srgbClr val="6B6B6B"/>
                </a:solidFill>
                <a:latin typeface="Consolas"/>
              </a:rPr>
              <a:t>TEST-SET CUSTOMERS</a:t>
            </a:r>
          </a:p>
        </p:txBody>
      </p:sp>
      <p:pic>
        <p:nvPicPr>
          <p:cNvPr id="22" name="Picture 21" descr="churn.png"/>
          <p:cNvPicPr>
            <a:picLocks noChangeAspect="1"/>
          </p:cNvPicPr>
          <p:nvPr/>
        </p:nvPicPr>
        <p:blipFill>
          <a:blip r:embed="rId2"/>
          <a:stretch>
            <a:fillRect/>
          </a:stretch>
        </p:blipFill>
        <p:spPr>
          <a:xfrm>
            <a:off x="777240" y="3127248"/>
            <a:ext cx="4663440" cy="2623185"/>
          </a:xfrm>
          <a:prstGeom prst="rect">
            <a:avLst/>
          </a:prstGeom>
        </p:spPr>
      </p:pic>
      <p:sp>
        <p:nvSpPr>
          <p:cNvPr id="23" name="TextBox 22"/>
          <p:cNvSpPr txBox="1"/>
          <p:nvPr/>
        </p:nvSpPr>
        <p:spPr>
          <a:xfrm>
            <a:off x="777240" y="5815584"/>
            <a:ext cx="4937760" cy="365760"/>
          </a:xfrm>
          <a:prstGeom prst="rect">
            <a:avLst/>
          </a:prstGeom>
          <a:noFill/>
        </p:spPr>
        <p:txBody>
          <a:bodyPr wrap="square" anchor="t" lIns="0" rIns="0" tIns="0" bIns="0">
            <a:spAutoFit/>
          </a:bodyPr>
          <a:lstStyle/>
          <a:p>
            <a:pPr algn="l">
              <a:lnSpc>
                <a:spcPct val="125000"/>
              </a:lnSpc>
              <a:spcAft>
                <a:spcPts val="0"/>
              </a:spcAft>
            </a:pPr>
            <a:r>
              <a:rPr sz="1150" b="0" i="1">
                <a:solidFill>
                  <a:srgbClr val="6B6B6B"/>
                </a:solidFill>
                <a:latin typeface="Calibri"/>
              </a:rPr>
              <a:t>Probabilities collapse to 0 and 1 — no genuine uncertainty is expressed.</a:t>
            </a:r>
          </a:p>
        </p:txBody>
      </p:sp>
      <p:sp>
        <p:nvSpPr>
          <p:cNvPr id="24" name="Rectangle 23"/>
          <p:cNvSpPr/>
          <p:nvPr/>
        </p:nvSpPr>
        <p:spPr>
          <a:xfrm>
            <a:off x="5852160" y="3127248"/>
            <a:ext cx="5532120" cy="3035808"/>
          </a:xfrm>
          <a:prstGeom prst="rect">
            <a:avLst/>
          </a:prstGeom>
          <a:solidFill>
            <a:srgbClr val="F0EC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25" name="Connector 24"/>
          <p:cNvCxnSpPr/>
          <p:nvPr/>
        </p:nvCxnSpPr>
        <p:spPr>
          <a:xfrm>
            <a:off x="5852160" y="3127248"/>
            <a:ext cx="5532120" cy="0"/>
          </a:xfrm>
          <a:prstGeom prst="line">
            <a:avLst/>
          </a:prstGeom>
          <a:ln w="31750">
            <a:solidFill>
              <a:srgbClr val="B91C1C"/>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126480" y="3328416"/>
            <a:ext cx="4937760" cy="274320"/>
          </a:xfrm>
          <a:prstGeom prst="rect">
            <a:avLst/>
          </a:prstGeom>
          <a:noFill/>
        </p:spPr>
        <p:txBody>
          <a:bodyPr wrap="square" anchor="t" lIns="0" rIns="0" tIns="0" bIns="0">
            <a:spAutoFit/>
          </a:bodyPr>
          <a:lstStyle/>
          <a:p>
            <a:pPr algn="l">
              <a:lnSpc>
                <a:spcPct val="125000"/>
              </a:lnSpc>
              <a:spcAft>
                <a:spcPts val="0"/>
              </a:spcAft>
            </a:pPr>
            <a:r>
              <a:rPr sz="950" b="0" i="0" spc="140">
                <a:solidFill>
                  <a:srgbClr val="B91C1C"/>
                </a:solidFill>
                <a:latin typeface="Consolas"/>
              </a:rPr>
              <a:t>WHY — AND WE ARE RAISING THIS OURSELVES</a:t>
            </a:r>
          </a:p>
        </p:txBody>
      </p:sp>
      <p:sp>
        <p:nvSpPr>
          <p:cNvPr id="27" name="TextBox 26"/>
          <p:cNvSpPr txBox="1"/>
          <p:nvPr/>
        </p:nvSpPr>
        <p:spPr>
          <a:xfrm>
            <a:off x="6126480" y="3639312"/>
            <a:ext cx="4983480" cy="365760"/>
          </a:xfrm>
          <a:prstGeom prst="rect">
            <a:avLst/>
          </a:prstGeom>
          <a:noFill/>
        </p:spPr>
        <p:txBody>
          <a:bodyPr wrap="square" lIns="0" rIns="0" tIns="0" bIns="0">
            <a:spAutoFit/>
          </a:bodyPr>
          <a:lstStyle/>
          <a:p>
            <a:pPr>
              <a:lnSpc>
                <a:spcPct val="124000"/>
              </a:lnSpc>
              <a:spcAft>
                <a:spcPts val="600"/>
              </a:spcAft>
            </a:pPr>
            <a:r>
              <a:rPr sz="1150" b="1">
                <a:solidFill>
                  <a:srgbClr val="B45309"/>
                </a:solidFill>
                <a:latin typeface="Calibri"/>
              </a:rPr>
              <a:t>— </a:t>
            </a:r>
            <a:r>
              <a:rPr sz="1150" b="1">
                <a:solidFill>
                  <a:srgbClr val="1A1A1A"/>
                </a:solidFill>
                <a:latin typeface="Calibri"/>
              </a:rPr>
              <a:t>The label leaks. </a:t>
            </a:r>
            <a:r>
              <a:rPr sz="1150">
                <a:solidFill>
                  <a:srgbClr val="1A1A1A"/>
                </a:solidFill>
                <a:latin typeface="Calibri"/>
              </a:rPr>
              <a:t>Churn is defined as Recency &gt; 90, and Recency is also a model input — the classifier only learns a threshold on a feature it was handed.</a:t>
            </a:r>
          </a:p>
          <a:p>
            <a:pPr>
              <a:lnSpc>
                <a:spcPct val="124000"/>
              </a:lnSpc>
              <a:spcAft>
                <a:spcPts val="600"/>
              </a:spcAft>
            </a:pPr>
            <a:r>
              <a:rPr sz="1150" b="1">
                <a:solidFill>
                  <a:srgbClr val="B45309"/>
                </a:solidFill>
                <a:latin typeface="Calibri"/>
              </a:rPr>
              <a:t>— </a:t>
            </a:r>
            <a:r>
              <a:rPr sz="1150" b="1">
                <a:solidFill>
                  <a:srgbClr val="1A1A1A"/>
                </a:solidFill>
                <a:latin typeface="Calibri"/>
              </a:rPr>
              <a:t>So the score is tautological. </a:t>
            </a:r>
            <a:r>
              <a:rPr sz="1150">
                <a:solidFill>
                  <a:srgbClr val="1A1A1A"/>
                </a:solidFill>
                <a:latin typeface="Calibri"/>
              </a:rPr>
              <a:t>100% measures label construction, not predictive ability.</a:t>
            </a:r>
          </a:p>
          <a:p>
            <a:pPr>
              <a:lnSpc>
                <a:spcPct val="124000"/>
              </a:lnSpc>
              <a:spcAft>
                <a:spcPts val="600"/>
              </a:spcAft>
            </a:pPr>
            <a:r>
              <a:rPr sz="1150" b="1">
                <a:solidFill>
                  <a:srgbClr val="B45309"/>
                </a:solidFill>
                <a:latin typeface="Calibri"/>
              </a:rPr>
              <a:t>— </a:t>
            </a:r>
            <a:r>
              <a:rPr sz="1150" b="1">
                <a:solidFill>
                  <a:srgbClr val="1A1A1A"/>
                </a:solidFill>
                <a:latin typeface="Calibri"/>
              </a:rPr>
              <a:t>The correct fix. </a:t>
            </a:r>
            <a:r>
              <a:rPr sz="1150">
                <a:solidFill>
                  <a:srgbClr val="1A1A1A"/>
                </a:solidFill>
                <a:latin typeface="Calibri"/>
              </a:rPr>
              <a:t>Define churn on a future window — did the customer buy in the next 90 days — and train without Recency as an input.</a:t>
            </a:r>
          </a:p>
          <a:p>
            <a:pPr>
              <a:lnSpc>
                <a:spcPct val="124000"/>
              </a:lnSpc>
              <a:spcAft>
                <a:spcPts val="600"/>
              </a:spcAft>
            </a:pPr>
            <a:r>
              <a:rPr sz="1150" b="1">
                <a:solidFill>
                  <a:srgbClr val="B45309"/>
                </a:solidFill>
                <a:latin typeface="Calibri"/>
              </a:rPr>
              <a:t>— </a:t>
            </a:r>
            <a:r>
              <a:rPr sz="1150" b="1">
                <a:solidFill>
                  <a:srgbClr val="1A1A1A"/>
                </a:solidFill>
                <a:latin typeface="Calibri"/>
              </a:rPr>
              <a:t>What still holds. </a:t>
            </a:r>
            <a:r>
              <a:rPr sz="1150">
                <a:solidFill>
                  <a:srgbClr val="1A1A1A"/>
                </a:solidFill>
                <a:latin typeface="Calibri"/>
              </a:rPr>
              <a:t>It remains a useful ranked dormancy indicator for prioritising outreach; it is simply not a forecast.</a:t>
            </a:r>
          </a:p>
        </p:txBody>
      </p:sp>
      <p:cxnSp>
        <p:nvCxnSpPr>
          <p:cNvPr id="28" name="Connector 27"/>
          <p:cNvCxnSpPr/>
          <p:nvPr/>
        </p:nvCxnSpPr>
        <p:spPr>
          <a:xfrm>
            <a:off x="777240" y="6291072"/>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777240" y="6400800"/>
            <a:ext cx="6400800" cy="228600"/>
          </a:xfrm>
          <a:prstGeom prst="rect">
            <a:avLst/>
          </a:prstGeom>
          <a:noFill/>
        </p:spPr>
        <p:txBody>
          <a:bodyPr wrap="square" anchor="t" lIns="0" rIns="0" tIns="0" bIns="0">
            <a:spAutoFit/>
          </a:bodyPr>
          <a:lstStyle/>
          <a:p>
            <a:pPr algn="l">
              <a:lnSpc>
                <a:spcPct val="125000"/>
              </a:lnSpc>
              <a:spcAft>
                <a:spcPts val="0"/>
              </a:spcAft>
            </a:pPr>
            <a:r>
              <a:rPr sz="850" b="0" i="0" spc="120">
                <a:solidFill>
                  <a:srgbClr val="6B6B6B"/>
                </a:solidFill>
                <a:latin typeface="Consolas"/>
              </a:rPr>
              <a:t>CUSTOMER SEGMENTATION FOR TARGETED E-COMMERCE MARKETING</a:t>
            </a:r>
          </a:p>
        </p:txBody>
      </p:sp>
      <p:sp>
        <p:nvSpPr>
          <p:cNvPr id="30" name="TextBox 29"/>
          <p:cNvSpPr txBox="1"/>
          <p:nvPr/>
        </p:nvSpPr>
        <p:spPr>
          <a:xfrm>
            <a:off x="9585655" y="6400800"/>
            <a:ext cx="1828800" cy="228600"/>
          </a:xfrm>
          <a:prstGeom prst="rect">
            <a:avLst/>
          </a:prstGeom>
          <a:noFill/>
        </p:spPr>
        <p:txBody>
          <a:bodyPr wrap="square" anchor="t" lIns="0" rIns="0" tIns="0" bIns="0">
            <a:spAutoFit/>
          </a:bodyPr>
          <a:lstStyle/>
          <a:p>
            <a:pPr algn="r">
              <a:lnSpc>
                <a:spcPct val="125000"/>
              </a:lnSpc>
              <a:spcAft>
                <a:spcPts val="0"/>
              </a:spcAft>
            </a:pPr>
            <a:r>
              <a:rPr sz="850" b="0" i="0" spc="120">
                <a:solidFill>
                  <a:srgbClr val="6B6B6B"/>
                </a:solidFill>
                <a:latin typeface="Consolas"/>
              </a:rPr>
              <a:t>17 / 27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1B1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00584" cy="685800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2651760"/>
            <a:ext cx="1828800" cy="365760"/>
          </a:xfrm>
          <a:prstGeom prst="rect">
            <a:avLst/>
          </a:prstGeom>
          <a:noFill/>
        </p:spPr>
        <p:txBody>
          <a:bodyPr wrap="square" anchor="t" lIns="0" rIns="0" tIns="0" bIns="0">
            <a:spAutoFit/>
          </a:bodyPr>
          <a:lstStyle/>
          <a:p>
            <a:pPr algn="l">
              <a:lnSpc>
                <a:spcPct val="125000"/>
              </a:lnSpc>
              <a:spcAft>
                <a:spcPts val="0"/>
              </a:spcAft>
            </a:pPr>
            <a:r>
              <a:rPr sz="1300" b="1" i="0" spc="220">
                <a:solidFill>
                  <a:srgbClr val="B45309"/>
                </a:solidFill>
                <a:latin typeface="Consolas"/>
              </a:rPr>
              <a:t>05</a:t>
            </a:r>
          </a:p>
        </p:txBody>
      </p:sp>
      <p:sp>
        <p:nvSpPr>
          <p:cNvPr id="5" name="TextBox 4"/>
          <p:cNvSpPr txBox="1"/>
          <p:nvPr/>
        </p:nvSpPr>
        <p:spPr>
          <a:xfrm>
            <a:off x="777240" y="3063240"/>
            <a:ext cx="8686800" cy="1280160"/>
          </a:xfrm>
          <a:prstGeom prst="rect">
            <a:avLst/>
          </a:prstGeom>
          <a:noFill/>
        </p:spPr>
        <p:txBody>
          <a:bodyPr wrap="square" anchor="t" lIns="0" rIns="0" tIns="0" bIns="0">
            <a:spAutoFit/>
          </a:bodyPr>
          <a:lstStyle/>
          <a:p>
            <a:pPr algn="l">
              <a:lnSpc>
                <a:spcPct val="106000"/>
              </a:lnSpc>
              <a:spcAft>
                <a:spcPts val="0"/>
              </a:spcAft>
            </a:pPr>
            <a:r>
              <a:rPr sz="4200" b="0" i="0">
                <a:solidFill>
                  <a:srgbClr val="FAF8F4"/>
                </a:solidFill>
                <a:latin typeface="Georgia"/>
              </a:rPr>
              <a:t>From notebook to working product</a:t>
            </a:r>
          </a:p>
        </p:txBody>
      </p:sp>
      <p:cxnSp>
        <p:nvCxnSpPr>
          <p:cNvPr id="6" name="Connector 5"/>
          <p:cNvCxnSpPr/>
          <p:nvPr/>
        </p:nvCxnSpPr>
        <p:spPr>
          <a:xfrm>
            <a:off x="777240" y="4617720"/>
            <a:ext cx="2194560" cy="0"/>
          </a:xfrm>
          <a:prstGeom prst="line">
            <a:avLst/>
          </a:prstGeom>
          <a:ln w="28575">
            <a:solidFill>
              <a:srgbClr val="B4530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77240" y="4892040"/>
            <a:ext cx="7772400" cy="457200"/>
          </a:xfrm>
          <a:prstGeom prst="rect">
            <a:avLst/>
          </a:prstGeom>
          <a:noFill/>
        </p:spPr>
        <p:txBody>
          <a:bodyPr wrap="square" anchor="t" lIns="0" rIns="0" tIns="0" bIns="0">
            <a:spAutoFit/>
          </a:bodyPr>
          <a:lstStyle/>
          <a:p>
            <a:pPr algn="l">
              <a:lnSpc>
                <a:spcPct val="150000"/>
              </a:lnSpc>
              <a:spcAft>
                <a:spcPts val="0"/>
              </a:spcAft>
            </a:pPr>
            <a:r>
              <a:rPr sz="1300" b="0" i="0">
                <a:solidFill>
                  <a:srgbClr val="9A9488"/>
                </a:solidFill>
                <a:latin typeface="Consolas"/>
              </a:rPr>
              <a:t>A marketing team cannot run Jupyter. The same pipeline had to ship as an application.</a:t>
            </a:r>
          </a:p>
        </p:txBody>
      </p:sp>
      <p:cxnSp>
        <p:nvCxnSpPr>
          <p:cNvPr id="8" name="Connector 7"/>
          <p:cNvCxnSpPr/>
          <p:nvPr/>
        </p:nvCxnSpPr>
        <p:spPr>
          <a:xfrm>
            <a:off x="777240" y="6291072"/>
            <a:ext cx="10637215" cy="0"/>
          </a:xfrm>
          <a:prstGeom prst="line">
            <a:avLst/>
          </a:prstGeom>
          <a:ln w="9525">
            <a:solidFill>
              <a:srgbClr val="3A3834"/>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777240" y="6400800"/>
            <a:ext cx="6400800" cy="228600"/>
          </a:xfrm>
          <a:prstGeom prst="rect">
            <a:avLst/>
          </a:prstGeom>
          <a:noFill/>
        </p:spPr>
        <p:txBody>
          <a:bodyPr wrap="square" anchor="t" lIns="0" rIns="0" tIns="0" bIns="0">
            <a:spAutoFit/>
          </a:bodyPr>
          <a:lstStyle/>
          <a:p>
            <a:pPr algn="l">
              <a:lnSpc>
                <a:spcPct val="125000"/>
              </a:lnSpc>
              <a:spcAft>
                <a:spcPts val="0"/>
              </a:spcAft>
            </a:pPr>
            <a:r>
              <a:rPr sz="850" b="0" i="0" spc="120">
                <a:solidFill>
                  <a:srgbClr val="8A847A"/>
                </a:solidFill>
                <a:latin typeface="Consolas"/>
              </a:rPr>
              <a:t>CUSTOMER SEGMENTATION FOR TARGETED E-COMMERCE MARKETING</a:t>
            </a:r>
          </a:p>
        </p:txBody>
      </p:sp>
      <p:sp>
        <p:nvSpPr>
          <p:cNvPr id="10" name="TextBox 9"/>
          <p:cNvSpPr txBox="1"/>
          <p:nvPr/>
        </p:nvSpPr>
        <p:spPr>
          <a:xfrm>
            <a:off x="9585655" y="6400800"/>
            <a:ext cx="1828800" cy="228600"/>
          </a:xfrm>
          <a:prstGeom prst="rect">
            <a:avLst/>
          </a:prstGeom>
          <a:noFill/>
        </p:spPr>
        <p:txBody>
          <a:bodyPr wrap="square" anchor="t" lIns="0" rIns="0" tIns="0" bIns="0">
            <a:spAutoFit/>
          </a:bodyPr>
          <a:lstStyle/>
          <a:p>
            <a:pPr algn="r">
              <a:lnSpc>
                <a:spcPct val="125000"/>
              </a:lnSpc>
              <a:spcAft>
                <a:spcPts val="0"/>
              </a:spcAft>
            </a:pPr>
            <a:r>
              <a:rPr sz="850" b="0" i="0" spc="120">
                <a:solidFill>
                  <a:srgbClr val="8A847A"/>
                </a:solidFill>
                <a:latin typeface="Consolas"/>
              </a:rPr>
              <a:t>18 / 27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77240" y="566928"/>
            <a:ext cx="10637215" cy="274320"/>
          </a:xfrm>
          <a:prstGeom prst="rect">
            <a:avLst/>
          </a:prstGeom>
          <a:noFill/>
        </p:spPr>
        <p:txBody>
          <a:bodyPr wrap="none" lIns="0" rIns="0" tIns="0" bIns="0">
            <a:spAutoFit/>
          </a:bodyPr>
          <a:lstStyle/>
          <a:p>
            <a:r>
              <a:rPr sz="1050" b="1" spc="200">
                <a:solidFill>
                  <a:srgbClr val="B45309"/>
                </a:solidFill>
                <a:latin typeface="Consolas"/>
              </a:rPr>
              <a:t>05  </a:t>
            </a:r>
            <a:r>
              <a:rPr sz="1050" spc="200">
                <a:solidFill>
                  <a:srgbClr val="6B6B6B"/>
                </a:solidFill>
                <a:latin typeface="Consolas"/>
              </a:rPr>
              <a:t>SYSTEM ARCHITECTURE</a:t>
            </a:r>
            <a:r>
              <a:rPr sz="1050" spc="200">
                <a:solidFill>
                  <a:srgbClr val="6B6B6B"/>
                </a:solidFill>
                <a:latin typeface="Consolas"/>
              </a:rPr>
              <a:t>   ·   SAME PIPELINE, THREE SURFACES</a:t>
            </a:r>
          </a:p>
        </p:txBody>
      </p:sp>
      <p:sp>
        <p:nvSpPr>
          <p:cNvPr id="4" name="TextBox 3"/>
          <p:cNvSpPr txBox="1"/>
          <p:nvPr/>
        </p:nvSpPr>
        <p:spPr>
          <a:xfrm>
            <a:off x="777240" y="932688"/>
            <a:ext cx="10637215" cy="685800"/>
          </a:xfrm>
          <a:prstGeom prst="rect">
            <a:avLst/>
          </a:prstGeom>
          <a:noFill/>
        </p:spPr>
        <p:txBody>
          <a:bodyPr wrap="square" anchor="t" lIns="0" rIns="0" tIns="0" bIns="0">
            <a:spAutoFit/>
          </a:bodyPr>
          <a:lstStyle/>
          <a:p>
            <a:pPr algn="l">
              <a:lnSpc>
                <a:spcPct val="100000"/>
              </a:lnSpc>
              <a:spcAft>
                <a:spcPts val="0"/>
              </a:spcAft>
            </a:pPr>
            <a:r>
              <a:rPr sz="3200" b="0" i="0">
                <a:solidFill>
                  <a:srgbClr val="1A1A1A"/>
                </a:solidFill>
                <a:latin typeface="Georgia"/>
              </a:rPr>
              <a:t>How the three layers fit</a:t>
            </a:r>
          </a:p>
        </p:txBody>
      </p:sp>
      <p:cxnSp>
        <p:nvCxnSpPr>
          <p:cNvPr id="5" name="Connector 4"/>
          <p:cNvCxnSpPr/>
          <p:nvPr/>
        </p:nvCxnSpPr>
        <p:spPr>
          <a:xfrm>
            <a:off x="777240" y="1664208"/>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920240"/>
            <a:ext cx="10637215" cy="1097280"/>
          </a:xfrm>
          <a:prstGeom prst="rect">
            <a:avLst/>
          </a:prstGeom>
          <a:solidFill>
            <a:srgbClr val="F0EC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777240" y="1920240"/>
            <a:ext cx="50292" cy="10972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51560" y="2075688"/>
            <a:ext cx="2377440" cy="228600"/>
          </a:xfrm>
          <a:prstGeom prst="rect">
            <a:avLst/>
          </a:prstGeom>
          <a:noFill/>
        </p:spPr>
        <p:txBody>
          <a:bodyPr wrap="square" anchor="t" lIns="0" rIns="0" tIns="0" bIns="0">
            <a:spAutoFit/>
          </a:bodyPr>
          <a:lstStyle/>
          <a:p>
            <a:pPr algn="l">
              <a:lnSpc>
                <a:spcPct val="125000"/>
              </a:lnSpc>
              <a:spcAft>
                <a:spcPts val="0"/>
              </a:spcAft>
            </a:pPr>
            <a:r>
              <a:rPr sz="900" b="0" i="0" spc="140">
                <a:solidFill>
                  <a:srgbClr val="7C3AED"/>
                </a:solidFill>
                <a:latin typeface="Consolas"/>
              </a:rPr>
              <a:t>PRESENTATION LAYER</a:t>
            </a:r>
          </a:p>
        </p:txBody>
      </p:sp>
      <p:sp>
        <p:nvSpPr>
          <p:cNvPr id="9" name="TextBox 8"/>
          <p:cNvSpPr txBox="1"/>
          <p:nvPr/>
        </p:nvSpPr>
        <p:spPr>
          <a:xfrm>
            <a:off x="1051560" y="2350008"/>
            <a:ext cx="2468880" cy="365760"/>
          </a:xfrm>
          <a:prstGeom prst="rect">
            <a:avLst/>
          </a:prstGeom>
          <a:noFill/>
        </p:spPr>
        <p:txBody>
          <a:bodyPr wrap="square" anchor="t" lIns="0" rIns="0" tIns="0" bIns="0">
            <a:spAutoFit/>
          </a:bodyPr>
          <a:lstStyle/>
          <a:p>
            <a:pPr algn="l">
              <a:lnSpc>
                <a:spcPct val="125000"/>
              </a:lnSpc>
              <a:spcAft>
                <a:spcPts val="0"/>
              </a:spcAft>
            </a:pPr>
            <a:r>
              <a:rPr sz="1700" b="0" i="0">
                <a:solidFill>
                  <a:srgbClr val="1A1A1A"/>
                </a:solidFill>
                <a:latin typeface="Georgia"/>
              </a:rPr>
              <a:t>Frontend</a:t>
            </a:r>
          </a:p>
        </p:txBody>
      </p:sp>
      <p:sp>
        <p:nvSpPr>
          <p:cNvPr id="10" name="Rectangle 9"/>
          <p:cNvSpPr/>
          <p:nvPr/>
        </p:nvSpPr>
        <p:spPr>
          <a:xfrm>
            <a:off x="3886200" y="2057400"/>
            <a:ext cx="2286914" cy="822960"/>
          </a:xfrm>
          <a:prstGeom prst="rect">
            <a:avLst/>
          </a:prstGeom>
          <a:solidFill>
            <a:srgbClr val="FAF8F4"/>
          </a:solidFill>
          <a:ln w="9525">
            <a:solidFill>
              <a:srgbClr val="D8D4C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4050792" y="2185416"/>
            <a:ext cx="1957730" cy="228600"/>
          </a:xfrm>
          <a:prstGeom prst="rect">
            <a:avLst/>
          </a:prstGeom>
          <a:noFill/>
        </p:spPr>
        <p:txBody>
          <a:bodyPr wrap="square" anchor="t" lIns="0" rIns="0" tIns="0" bIns="0">
            <a:spAutoFit/>
          </a:bodyPr>
          <a:lstStyle/>
          <a:p>
            <a:pPr algn="l">
              <a:lnSpc>
                <a:spcPct val="125000"/>
              </a:lnSpc>
              <a:spcAft>
                <a:spcPts val="0"/>
              </a:spcAft>
            </a:pPr>
            <a:r>
              <a:rPr sz="1250" b="1" i="0">
                <a:solidFill>
                  <a:srgbClr val="1A1A1A"/>
                </a:solidFill>
                <a:latin typeface="Calibri"/>
              </a:rPr>
              <a:t>React 19 + TypeScript</a:t>
            </a:r>
          </a:p>
        </p:txBody>
      </p:sp>
      <p:sp>
        <p:nvSpPr>
          <p:cNvPr id="12" name="TextBox 11"/>
          <p:cNvSpPr txBox="1"/>
          <p:nvPr/>
        </p:nvSpPr>
        <p:spPr>
          <a:xfrm>
            <a:off x="4050792" y="2432304"/>
            <a:ext cx="1957730" cy="411480"/>
          </a:xfrm>
          <a:prstGeom prst="rect">
            <a:avLst/>
          </a:prstGeom>
          <a:noFill/>
        </p:spPr>
        <p:txBody>
          <a:bodyPr wrap="square" anchor="t" lIns="0" rIns="0" tIns="0" bIns="0">
            <a:spAutoFit/>
          </a:bodyPr>
          <a:lstStyle/>
          <a:p>
            <a:pPr algn="l">
              <a:lnSpc>
                <a:spcPct val="120000"/>
              </a:lnSpc>
              <a:spcAft>
                <a:spcPts val="0"/>
              </a:spcAft>
            </a:pPr>
            <a:r>
              <a:rPr sz="1000" b="0" i="0">
                <a:solidFill>
                  <a:srgbClr val="6B6B6B"/>
                </a:solidFill>
                <a:latin typeface="Calibri"/>
              </a:rPr>
              <a:t>Vite build, shadcn/ui components</a:t>
            </a:r>
          </a:p>
        </p:txBody>
      </p:sp>
      <p:sp>
        <p:nvSpPr>
          <p:cNvPr id="13" name="Rectangle 12"/>
          <p:cNvSpPr/>
          <p:nvPr/>
        </p:nvSpPr>
        <p:spPr>
          <a:xfrm>
            <a:off x="6319418" y="2057400"/>
            <a:ext cx="2286914" cy="822960"/>
          </a:xfrm>
          <a:prstGeom prst="rect">
            <a:avLst/>
          </a:prstGeom>
          <a:solidFill>
            <a:srgbClr val="FAF8F4"/>
          </a:solidFill>
          <a:ln w="9525">
            <a:solidFill>
              <a:srgbClr val="D8D4C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84010" y="2185416"/>
            <a:ext cx="1957730" cy="228600"/>
          </a:xfrm>
          <a:prstGeom prst="rect">
            <a:avLst/>
          </a:prstGeom>
          <a:noFill/>
        </p:spPr>
        <p:txBody>
          <a:bodyPr wrap="square" anchor="t" lIns="0" rIns="0" tIns="0" bIns="0">
            <a:spAutoFit/>
          </a:bodyPr>
          <a:lstStyle/>
          <a:p>
            <a:pPr algn="l">
              <a:lnSpc>
                <a:spcPct val="125000"/>
              </a:lnSpc>
              <a:spcAft>
                <a:spcPts val="0"/>
              </a:spcAft>
            </a:pPr>
            <a:r>
              <a:rPr sz="1250" b="1" i="0">
                <a:solidFill>
                  <a:srgbClr val="1A1A1A"/>
                </a:solidFill>
                <a:latin typeface="Calibri"/>
              </a:rPr>
              <a:t>Recharts</a:t>
            </a:r>
          </a:p>
        </p:txBody>
      </p:sp>
      <p:sp>
        <p:nvSpPr>
          <p:cNvPr id="15" name="TextBox 14"/>
          <p:cNvSpPr txBox="1"/>
          <p:nvPr/>
        </p:nvSpPr>
        <p:spPr>
          <a:xfrm>
            <a:off x="6484010" y="2432304"/>
            <a:ext cx="1957730" cy="411480"/>
          </a:xfrm>
          <a:prstGeom prst="rect">
            <a:avLst/>
          </a:prstGeom>
          <a:noFill/>
        </p:spPr>
        <p:txBody>
          <a:bodyPr wrap="square" anchor="t" lIns="0" rIns="0" tIns="0" bIns="0">
            <a:spAutoFit/>
          </a:bodyPr>
          <a:lstStyle/>
          <a:p>
            <a:pPr algn="l">
              <a:lnSpc>
                <a:spcPct val="120000"/>
              </a:lnSpc>
              <a:spcAft>
                <a:spcPts val="0"/>
              </a:spcAft>
            </a:pPr>
            <a:r>
              <a:rPr sz="1000" b="0" i="0">
                <a:solidFill>
                  <a:srgbClr val="6B6B6B"/>
                </a:solidFill>
                <a:latin typeface="Calibri"/>
              </a:rPr>
              <a:t>PCA scatter, elbow, histograms</a:t>
            </a:r>
          </a:p>
        </p:txBody>
      </p:sp>
      <p:sp>
        <p:nvSpPr>
          <p:cNvPr id="16" name="Rectangle 15"/>
          <p:cNvSpPr/>
          <p:nvPr/>
        </p:nvSpPr>
        <p:spPr>
          <a:xfrm>
            <a:off x="8752636" y="2057400"/>
            <a:ext cx="2286914" cy="822960"/>
          </a:xfrm>
          <a:prstGeom prst="rect">
            <a:avLst/>
          </a:prstGeom>
          <a:solidFill>
            <a:srgbClr val="FAF8F4"/>
          </a:solidFill>
          <a:ln w="9525">
            <a:solidFill>
              <a:srgbClr val="D8D4C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917228" y="2185416"/>
            <a:ext cx="1957730" cy="228600"/>
          </a:xfrm>
          <a:prstGeom prst="rect">
            <a:avLst/>
          </a:prstGeom>
          <a:noFill/>
        </p:spPr>
        <p:txBody>
          <a:bodyPr wrap="square" anchor="t" lIns="0" rIns="0" tIns="0" bIns="0">
            <a:spAutoFit/>
          </a:bodyPr>
          <a:lstStyle/>
          <a:p>
            <a:pPr algn="l">
              <a:lnSpc>
                <a:spcPct val="125000"/>
              </a:lnSpc>
              <a:spcAft>
                <a:spcPts val="0"/>
              </a:spcAft>
            </a:pPr>
            <a:r>
              <a:rPr sz="1250" b="1" i="0">
                <a:solidFill>
                  <a:srgbClr val="1A1A1A"/>
                </a:solidFill>
                <a:latin typeface="Calibri"/>
              </a:rPr>
              <a:t>TanStack Query</a:t>
            </a:r>
          </a:p>
        </p:txBody>
      </p:sp>
      <p:sp>
        <p:nvSpPr>
          <p:cNvPr id="18" name="TextBox 17"/>
          <p:cNvSpPr txBox="1"/>
          <p:nvPr/>
        </p:nvSpPr>
        <p:spPr>
          <a:xfrm>
            <a:off x="8917228" y="2432304"/>
            <a:ext cx="1957730" cy="411480"/>
          </a:xfrm>
          <a:prstGeom prst="rect">
            <a:avLst/>
          </a:prstGeom>
          <a:noFill/>
        </p:spPr>
        <p:txBody>
          <a:bodyPr wrap="square" anchor="t" lIns="0" rIns="0" tIns="0" bIns="0">
            <a:spAutoFit/>
          </a:bodyPr>
          <a:lstStyle/>
          <a:p>
            <a:pPr algn="l">
              <a:lnSpc>
                <a:spcPct val="120000"/>
              </a:lnSpc>
              <a:spcAft>
                <a:spcPts val="0"/>
              </a:spcAft>
            </a:pPr>
            <a:r>
              <a:rPr sz="1000" b="0" i="0">
                <a:solidFill>
                  <a:srgbClr val="6B6B6B"/>
                </a:solidFill>
                <a:latin typeface="Calibri"/>
              </a:rPr>
              <a:t>Data fetching and caching</a:t>
            </a:r>
          </a:p>
        </p:txBody>
      </p:sp>
      <p:sp>
        <p:nvSpPr>
          <p:cNvPr id="19" name="Rectangle 18"/>
          <p:cNvSpPr/>
          <p:nvPr/>
        </p:nvSpPr>
        <p:spPr>
          <a:xfrm>
            <a:off x="777240" y="3291840"/>
            <a:ext cx="10637215" cy="1097280"/>
          </a:xfrm>
          <a:prstGeom prst="rect">
            <a:avLst/>
          </a:prstGeom>
          <a:solidFill>
            <a:srgbClr val="F0EC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777240" y="3291840"/>
            <a:ext cx="50292" cy="109728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1051560" y="3447288"/>
            <a:ext cx="2377440" cy="228600"/>
          </a:xfrm>
          <a:prstGeom prst="rect">
            <a:avLst/>
          </a:prstGeom>
          <a:noFill/>
        </p:spPr>
        <p:txBody>
          <a:bodyPr wrap="square" anchor="t" lIns="0" rIns="0" tIns="0" bIns="0">
            <a:spAutoFit/>
          </a:bodyPr>
          <a:lstStyle/>
          <a:p>
            <a:pPr algn="l">
              <a:lnSpc>
                <a:spcPct val="125000"/>
              </a:lnSpc>
              <a:spcAft>
                <a:spcPts val="0"/>
              </a:spcAft>
            </a:pPr>
            <a:r>
              <a:rPr sz="900" b="0" i="0" spc="140">
                <a:solidFill>
                  <a:srgbClr val="0F766E"/>
                </a:solidFill>
                <a:latin typeface="Consolas"/>
              </a:rPr>
              <a:t>APPLICATION LAYER</a:t>
            </a:r>
          </a:p>
        </p:txBody>
      </p:sp>
      <p:sp>
        <p:nvSpPr>
          <p:cNvPr id="22" name="TextBox 21"/>
          <p:cNvSpPr txBox="1"/>
          <p:nvPr/>
        </p:nvSpPr>
        <p:spPr>
          <a:xfrm>
            <a:off x="1051560" y="3721608"/>
            <a:ext cx="2468880" cy="365760"/>
          </a:xfrm>
          <a:prstGeom prst="rect">
            <a:avLst/>
          </a:prstGeom>
          <a:noFill/>
        </p:spPr>
        <p:txBody>
          <a:bodyPr wrap="square" anchor="t" lIns="0" rIns="0" tIns="0" bIns="0">
            <a:spAutoFit/>
          </a:bodyPr>
          <a:lstStyle/>
          <a:p>
            <a:pPr algn="l">
              <a:lnSpc>
                <a:spcPct val="125000"/>
              </a:lnSpc>
              <a:spcAft>
                <a:spcPts val="0"/>
              </a:spcAft>
            </a:pPr>
            <a:r>
              <a:rPr sz="1700" b="0" i="0">
                <a:solidFill>
                  <a:srgbClr val="1A1A1A"/>
                </a:solidFill>
                <a:latin typeface="Georgia"/>
              </a:rPr>
              <a:t>Backend API</a:t>
            </a:r>
          </a:p>
        </p:txBody>
      </p:sp>
      <p:sp>
        <p:nvSpPr>
          <p:cNvPr id="23" name="Rectangle 22"/>
          <p:cNvSpPr/>
          <p:nvPr/>
        </p:nvSpPr>
        <p:spPr>
          <a:xfrm>
            <a:off x="3886200" y="3429000"/>
            <a:ext cx="2286914" cy="822960"/>
          </a:xfrm>
          <a:prstGeom prst="rect">
            <a:avLst/>
          </a:prstGeom>
          <a:solidFill>
            <a:srgbClr val="FAF8F4"/>
          </a:solidFill>
          <a:ln w="9525">
            <a:solidFill>
              <a:srgbClr val="D8D4C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4050792" y="3557016"/>
            <a:ext cx="1957730" cy="228600"/>
          </a:xfrm>
          <a:prstGeom prst="rect">
            <a:avLst/>
          </a:prstGeom>
          <a:noFill/>
        </p:spPr>
        <p:txBody>
          <a:bodyPr wrap="square" anchor="t" lIns="0" rIns="0" tIns="0" bIns="0">
            <a:spAutoFit/>
          </a:bodyPr>
          <a:lstStyle/>
          <a:p>
            <a:pPr algn="l">
              <a:lnSpc>
                <a:spcPct val="125000"/>
              </a:lnSpc>
              <a:spcAft>
                <a:spcPts val="0"/>
              </a:spcAft>
            </a:pPr>
            <a:r>
              <a:rPr sz="1250" b="1" i="0">
                <a:solidFill>
                  <a:srgbClr val="1A1A1A"/>
                </a:solidFill>
                <a:latin typeface="Calibri"/>
              </a:rPr>
              <a:t>FastAPI + Uvicorn</a:t>
            </a:r>
          </a:p>
        </p:txBody>
      </p:sp>
      <p:sp>
        <p:nvSpPr>
          <p:cNvPr id="25" name="TextBox 24"/>
          <p:cNvSpPr txBox="1"/>
          <p:nvPr/>
        </p:nvSpPr>
        <p:spPr>
          <a:xfrm>
            <a:off x="4050792" y="3803904"/>
            <a:ext cx="1957730" cy="411480"/>
          </a:xfrm>
          <a:prstGeom prst="rect">
            <a:avLst/>
          </a:prstGeom>
          <a:noFill/>
        </p:spPr>
        <p:txBody>
          <a:bodyPr wrap="square" anchor="t" lIns="0" rIns="0" tIns="0" bIns="0">
            <a:spAutoFit/>
          </a:bodyPr>
          <a:lstStyle/>
          <a:p>
            <a:pPr algn="l">
              <a:lnSpc>
                <a:spcPct val="120000"/>
              </a:lnSpc>
              <a:spcAft>
                <a:spcPts val="0"/>
              </a:spcAft>
            </a:pPr>
            <a:r>
              <a:rPr sz="1000" b="0" i="0">
                <a:solidFill>
                  <a:srgbClr val="6B6B6B"/>
                </a:solidFill>
                <a:latin typeface="Calibri"/>
              </a:rPr>
              <a:t>Typed Pydantic response models</a:t>
            </a:r>
          </a:p>
        </p:txBody>
      </p:sp>
      <p:sp>
        <p:nvSpPr>
          <p:cNvPr id="26" name="Rectangle 25"/>
          <p:cNvSpPr/>
          <p:nvPr/>
        </p:nvSpPr>
        <p:spPr>
          <a:xfrm>
            <a:off x="6319418" y="3429000"/>
            <a:ext cx="2286914" cy="822960"/>
          </a:xfrm>
          <a:prstGeom prst="rect">
            <a:avLst/>
          </a:prstGeom>
          <a:solidFill>
            <a:srgbClr val="FAF8F4"/>
          </a:solidFill>
          <a:ln w="9525">
            <a:solidFill>
              <a:srgbClr val="D8D4C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484010" y="3557016"/>
            <a:ext cx="1957730" cy="228600"/>
          </a:xfrm>
          <a:prstGeom prst="rect">
            <a:avLst/>
          </a:prstGeom>
          <a:noFill/>
        </p:spPr>
        <p:txBody>
          <a:bodyPr wrap="square" anchor="t" lIns="0" rIns="0" tIns="0" bIns="0">
            <a:spAutoFit/>
          </a:bodyPr>
          <a:lstStyle/>
          <a:p>
            <a:pPr algn="l">
              <a:lnSpc>
                <a:spcPct val="125000"/>
              </a:lnSpc>
              <a:spcAft>
                <a:spcPts val="0"/>
              </a:spcAft>
            </a:pPr>
            <a:r>
              <a:rPr sz="1250" b="1" i="0">
                <a:solidFill>
                  <a:srgbClr val="1A1A1A"/>
                </a:solidFill>
                <a:latin typeface="Calibri"/>
              </a:rPr>
              <a:t>pipeline.py</a:t>
            </a:r>
          </a:p>
        </p:txBody>
      </p:sp>
      <p:sp>
        <p:nvSpPr>
          <p:cNvPr id="28" name="TextBox 27"/>
          <p:cNvSpPr txBox="1"/>
          <p:nvPr/>
        </p:nvSpPr>
        <p:spPr>
          <a:xfrm>
            <a:off x="6484010" y="3803904"/>
            <a:ext cx="1957730" cy="411480"/>
          </a:xfrm>
          <a:prstGeom prst="rect">
            <a:avLst/>
          </a:prstGeom>
          <a:noFill/>
        </p:spPr>
        <p:txBody>
          <a:bodyPr wrap="square" anchor="t" lIns="0" rIns="0" tIns="0" bIns="0">
            <a:spAutoFit/>
          </a:bodyPr>
          <a:lstStyle/>
          <a:p>
            <a:pPr algn="l">
              <a:lnSpc>
                <a:spcPct val="120000"/>
              </a:lnSpc>
              <a:spcAft>
                <a:spcPts val="0"/>
              </a:spcAft>
            </a:pPr>
            <a:r>
              <a:rPr sz="1000" b="0" i="0">
                <a:solidFill>
                  <a:srgbClr val="6B6B6B"/>
                </a:solidFill>
                <a:latin typeface="Calibri"/>
              </a:rPr>
              <a:t>The same code the notebook runs</a:t>
            </a:r>
          </a:p>
        </p:txBody>
      </p:sp>
      <p:sp>
        <p:nvSpPr>
          <p:cNvPr id="29" name="Rectangle 28"/>
          <p:cNvSpPr/>
          <p:nvPr/>
        </p:nvSpPr>
        <p:spPr>
          <a:xfrm>
            <a:off x="8752636" y="3429000"/>
            <a:ext cx="2286914" cy="822960"/>
          </a:xfrm>
          <a:prstGeom prst="rect">
            <a:avLst/>
          </a:prstGeom>
          <a:solidFill>
            <a:srgbClr val="FAF8F4"/>
          </a:solidFill>
          <a:ln w="9525">
            <a:solidFill>
              <a:srgbClr val="D8D4C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8917228" y="3557016"/>
            <a:ext cx="1957730" cy="228600"/>
          </a:xfrm>
          <a:prstGeom prst="rect">
            <a:avLst/>
          </a:prstGeom>
          <a:noFill/>
        </p:spPr>
        <p:txBody>
          <a:bodyPr wrap="square" anchor="t" lIns="0" rIns="0" tIns="0" bIns="0">
            <a:spAutoFit/>
          </a:bodyPr>
          <a:lstStyle/>
          <a:p>
            <a:pPr algn="l">
              <a:lnSpc>
                <a:spcPct val="125000"/>
              </a:lnSpc>
              <a:spcAft>
                <a:spcPts val="0"/>
              </a:spcAft>
            </a:pPr>
            <a:r>
              <a:rPr sz="1250" b="1" i="0">
                <a:solidFill>
                  <a:srgbClr val="1A1A1A"/>
                </a:solidFill>
                <a:latin typeface="Calibri"/>
              </a:rPr>
              <a:t>In-memory cache</a:t>
            </a:r>
          </a:p>
        </p:txBody>
      </p:sp>
      <p:sp>
        <p:nvSpPr>
          <p:cNvPr id="31" name="TextBox 30"/>
          <p:cNvSpPr txBox="1"/>
          <p:nvPr/>
        </p:nvSpPr>
        <p:spPr>
          <a:xfrm>
            <a:off x="8917228" y="3803904"/>
            <a:ext cx="1957730" cy="411480"/>
          </a:xfrm>
          <a:prstGeom prst="rect">
            <a:avLst/>
          </a:prstGeom>
          <a:noFill/>
        </p:spPr>
        <p:txBody>
          <a:bodyPr wrap="square" anchor="t" lIns="0" rIns="0" tIns="0" bIns="0">
            <a:spAutoFit/>
          </a:bodyPr>
          <a:lstStyle/>
          <a:p>
            <a:pPr algn="l">
              <a:lnSpc>
                <a:spcPct val="120000"/>
              </a:lnSpc>
              <a:spcAft>
                <a:spcPts val="0"/>
              </a:spcAft>
            </a:pPr>
            <a:r>
              <a:rPr sz="1000" b="0" i="0">
                <a:solidFill>
                  <a:srgbClr val="6B6B6B"/>
                </a:solidFill>
                <a:latin typeface="Calibri"/>
              </a:rPr>
              <a:t>Pipeline runs once at startup</a:t>
            </a:r>
          </a:p>
        </p:txBody>
      </p:sp>
      <p:sp>
        <p:nvSpPr>
          <p:cNvPr id="32" name="Rectangle 31"/>
          <p:cNvSpPr/>
          <p:nvPr/>
        </p:nvSpPr>
        <p:spPr>
          <a:xfrm>
            <a:off x="777240" y="4663440"/>
            <a:ext cx="10637215" cy="1097280"/>
          </a:xfrm>
          <a:prstGeom prst="rect">
            <a:avLst/>
          </a:prstGeom>
          <a:solidFill>
            <a:srgbClr val="F0EC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777240" y="4663440"/>
            <a:ext cx="50292" cy="109728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1051560" y="4818888"/>
            <a:ext cx="2377440" cy="228600"/>
          </a:xfrm>
          <a:prstGeom prst="rect">
            <a:avLst/>
          </a:prstGeom>
          <a:noFill/>
        </p:spPr>
        <p:txBody>
          <a:bodyPr wrap="square" anchor="t" lIns="0" rIns="0" tIns="0" bIns="0">
            <a:spAutoFit/>
          </a:bodyPr>
          <a:lstStyle/>
          <a:p>
            <a:pPr algn="l">
              <a:lnSpc>
                <a:spcPct val="125000"/>
              </a:lnSpc>
              <a:spcAft>
                <a:spcPts val="0"/>
              </a:spcAft>
            </a:pPr>
            <a:r>
              <a:rPr sz="900" b="0" i="0" spc="140">
                <a:solidFill>
                  <a:srgbClr val="B45309"/>
                </a:solidFill>
                <a:latin typeface="Consolas"/>
              </a:rPr>
              <a:t>DATA LAYER</a:t>
            </a:r>
          </a:p>
        </p:txBody>
      </p:sp>
      <p:sp>
        <p:nvSpPr>
          <p:cNvPr id="35" name="TextBox 34"/>
          <p:cNvSpPr txBox="1"/>
          <p:nvPr/>
        </p:nvSpPr>
        <p:spPr>
          <a:xfrm>
            <a:off x="1051560" y="5093208"/>
            <a:ext cx="2468880" cy="365760"/>
          </a:xfrm>
          <a:prstGeom prst="rect">
            <a:avLst/>
          </a:prstGeom>
          <a:noFill/>
        </p:spPr>
        <p:txBody>
          <a:bodyPr wrap="square" anchor="t" lIns="0" rIns="0" tIns="0" bIns="0">
            <a:spAutoFit/>
          </a:bodyPr>
          <a:lstStyle/>
          <a:p>
            <a:pPr algn="l">
              <a:lnSpc>
                <a:spcPct val="125000"/>
              </a:lnSpc>
              <a:spcAft>
                <a:spcPts val="0"/>
              </a:spcAft>
            </a:pPr>
            <a:r>
              <a:rPr sz="1700" b="0" i="0">
                <a:solidFill>
                  <a:srgbClr val="1A1A1A"/>
                </a:solidFill>
                <a:latin typeface="Georgia"/>
              </a:rPr>
              <a:t>Storage</a:t>
            </a:r>
          </a:p>
        </p:txBody>
      </p:sp>
      <p:sp>
        <p:nvSpPr>
          <p:cNvPr id="36" name="Rectangle 35"/>
          <p:cNvSpPr/>
          <p:nvPr/>
        </p:nvSpPr>
        <p:spPr>
          <a:xfrm>
            <a:off x="3886200" y="4800600"/>
            <a:ext cx="2286914" cy="822960"/>
          </a:xfrm>
          <a:prstGeom prst="rect">
            <a:avLst/>
          </a:prstGeom>
          <a:solidFill>
            <a:srgbClr val="FAF8F4"/>
          </a:solidFill>
          <a:ln w="9525">
            <a:solidFill>
              <a:srgbClr val="D8D4C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4050792" y="4928616"/>
            <a:ext cx="1957730" cy="228600"/>
          </a:xfrm>
          <a:prstGeom prst="rect">
            <a:avLst/>
          </a:prstGeom>
          <a:noFill/>
        </p:spPr>
        <p:txBody>
          <a:bodyPr wrap="square" anchor="t" lIns="0" rIns="0" tIns="0" bIns="0">
            <a:spAutoFit/>
          </a:bodyPr>
          <a:lstStyle/>
          <a:p>
            <a:pPr algn="l">
              <a:lnSpc>
                <a:spcPct val="125000"/>
              </a:lnSpc>
              <a:spcAft>
                <a:spcPts val="0"/>
              </a:spcAft>
            </a:pPr>
            <a:r>
              <a:rPr sz="1250" b="1" i="0">
                <a:solidFill>
                  <a:srgbClr val="1A1A1A"/>
                </a:solidFill>
                <a:latin typeface="Calibri"/>
              </a:rPr>
              <a:t>data.csv</a:t>
            </a:r>
          </a:p>
        </p:txBody>
      </p:sp>
      <p:sp>
        <p:nvSpPr>
          <p:cNvPr id="38" name="TextBox 37"/>
          <p:cNvSpPr txBox="1"/>
          <p:nvPr/>
        </p:nvSpPr>
        <p:spPr>
          <a:xfrm>
            <a:off x="4050792" y="5175504"/>
            <a:ext cx="1957730" cy="411480"/>
          </a:xfrm>
          <a:prstGeom prst="rect">
            <a:avLst/>
          </a:prstGeom>
          <a:noFill/>
        </p:spPr>
        <p:txBody>
          <a:bodyPr wrap="square" anchor="t" lIns="0" rIns="0" tIns="0" bIns="0">
            <a:spAutoFit/>
          </a:bodyPr>
          <a:lstStyle/>
          <a:p>
            <a:pPr algn="l">
              <a:lnSpc>
                <a:spcPct val="120000"/>
              </a:lnSpc>
              <a:spcAft>
                <a:spcPts val="0"/>
              </a:spcAft>
            </a:pPr>
            <a:r>
              <a:rPr sz="1000" b="0" i="0">
                <a:solidFill>
                  <a:srgbClr val="6B6B6B"/>
                </a:solidFill>
                <a:latin typeface="Calibri"/>
              </a:rPr>
              <a:t>541,909 raw transaction rows</a:t>
            </a:r>
          </a:p>
        </p:txBody>
      </p:sp>
      <p:sp>
        <p:nvSpPr>
          <p:cNvPr id="39" name="Rectangle 38"/>
          <p:cNvSpPr/>
          <p:nvPr/>
        </p:nvSpPr>
        <p:spPr>
          <a:xfrm>
            <a:off x="6319418" y="4800600"/>
            <a:ext cx="2286914" cy="822960"/>
          </a:xfrm>
          <a:prstGeom prst="rect">
            <a:avLst/>
          </a:prstGeom>
          <a:solidFill>
            <a:srgbClr val="FAF8F4"/>
          </a:solidFill>
          <a:ln w="9525">
            <a:solidFill>
              <a:srgbClr val="D8D4C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6484010" y="4928616"/>
            <a:ext cx="1957730" cy="228600"/>
          </a:xfrm>
          <a:prstGeom prst="rect">
            <a:avLst/>
          </a:prstGeom>
          <a:noFill/>
        </p:spPr>
        <p:txBody>
          <a:bodyPr wrap="square" anchor="t" lIns="0" rIns="0" tIns="0" bIns="0">
            <a:spAutoFit/>
          </a:bodyPr>
          <a:lstStyle/>
          <a:p>
            <a:pPr algn="l">
              <a:lnSpc>
                <a:spcPct val="125000"/>
              </a:lnSpc>
              <a:spcAft>
                <a:spcPts val="0"/>
              </a:spcAft>
            </a:pPr>
            <a:r>
              <a:rPr sz="1250" b="1" i="0">
                <a:solidFill>
                  <a:srgbClr val="1A1A1A"/>
                </a:solidFill>
                <a:latin typeface="Calibri"/>
              </a:rPr>
              <a:t>SQLite</a:t>
            </a:r>
          </a:p>
        </p:txBody>
      </p:sp>
      <p:sp>
        <p:nvSpPr>
          <p:cNvPr id="41" name="TextBox 40"/>
          <p:cNvSpPr txBox="1"/>
          <p:nvPr/>
        </p:nvSpPr>
        <p:spPr>
          <a:xfrm>
            <a:off x="6484010" y="5175504"/>
            <a:ext cx="1957730" cy="411480"/>
          </a:xfrm>
          <a:prstGeom prst="rect">
            <a:avLst/>
          </a:prstGeom>
          <a:noFill/>
        </p:spPr>
        <p:txBody>
          <a:bodyPr wrap="square" anchor="t" lIns="0" rIns="0" tIns="0" bIns="0">
            <a:spAutoFit/>
          </a:bodyPr>
          <a:lstStyle/>
          <a:p>
            <a:pPr algn="l">
              <a:lnSpc>
                <a:spcPct val="120000"/>
              </a:lnSpc>
              <a:spcAft>
                <a:spcPts val="0"/>
              </a:spcAft>
            </a:pPr>
            <a:r>
              <a:rPr sz="1000" b="0" i="0">
                <a:solidFill>
                  <a:srgbClr val="6B6B6B"/>
                </a:solidFill>
                <a:latin typeface="Calibri"/>
              </a:rPr>
              <a:t>Product catalogue + demo purchases</a:t>
            </a:r>
          </a:p>
        </p:txBody>
      </p:sp>
      <p:sp>
        <p:nvSpPr>
          <p:cNvPr id="42" name="Rectangle 41"/>
          <p:cNvSpPr/>
          <p:nvPr/>
        </p:nvSpPr>
        <p:spPr>
          <a:xfrm>
            <a:off x="8752636" y="4800600"/>
            <a:ext cx="2286914" cy="822960"/>
          </a:xfrm>
          <a:prstGeom prst="rect">
            <a:avLst/>
          </a:prstGeom>
          <a:solidFill>
            <a:srgbClr val="FAF8F4"/>
          </a:solidFill>
          <a:ln w="9525">
            <a:solidFill>
              <a:srgbClr val="D8D4C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8917228" y="4928616"/>
            <a:ext cx="1957730" cy="228600"/>
          </a:xfrm>
          <a:prstGeom prst="rect">
            <a:avLst/>
          </a:prstGeom>
          <a:noFill/>
        </p:spPr>
        <p:txBody>
          <a:bodyPr wrap="square" anchor="t" lIns="0" rIns="0" tIns="0" bIns="0">
            <a:spAutoFit/>
          </a:bodyPr>
          <a:lstStyle/>
          <a:p>
            <a:pPr algn="l">
              <a:lnSpc>
                <a:spcPct val="125000"/>
              </a:lnSpc>
              <a:spcAft>
                <a:spcPts val="0"/>
              </a:spcAft>
            </a:pPr>
            <a:r>
              <a:rPr sz="1250" b="1" i="0">
                <a:solidFill>
                  <a:srgbClr val="1A1A1A"/>
                </a:solidFill>
                <a:latin typeface="Calibri"/>
              </a:rPr>
              <a:t>scikit-learn models</a:t>
            </a:r>
          </a:p>
        </p:txBody>
      </p:sp>
      <p:sp>
        <p:nvSpPr>
          <p:cNvPr id="44" name="TextBox 43"/>
          <p:cNvSpPr txBox="1"/>
          <p:nvPr/>
        </p:nvSpPr>
        <p:spPr>
          <a:xfrm>
            <a:off x="8917228" y="5175504"/>
            <a:ext cx="1957730" cy="411480"/>
          </a:xfrm>
          <a:prstGeom prst="rect">
            <a:avLst/>
          </a:prstGeom>
          <a:noFill/>
        </p:spPr>
        <p:txBody>
          <a:bodyPr wrap="square" anchor="t" lIns="0" rIns="0" tIns="0" bIns="0">
            <a:spAutoFit/>
          </a:bodyPr>
          <a:lstStyle/>
          <a:p>
            <a:pPr algn="l">
              <a:lnSpc>
                <a:spcPct val="120000"/>
              </a:lnSpc>
              <a:spcAft>
                <a:spcPts val="0"/>
              </a:spcAft>
            </a:pPr>
            <a:r>
              <a:rPr sz="1000" b="0" i="0">
                <a:solidFill>
                  <a:srgbClr val="6B6B6B"/>
                </a:solidFill>
                <a:latin typeface="Calibri"/>
              </a:rPr>
              <a:t>Fitted scaler, K-Means, PCA, LR</a:t>
            </a:r>
          </a:p>
        </p:txBody>
      </p:sp>
      <p:sp>
        <p:nvSpPr>
          <p:cNvPr id="45" name="Isosceles Triangle 44"/>
          <p:cNvSpPr/>
          <p:nvPr/>
        </p:nvSpPr>
        <p:spPr>
          <a:xfrm rot="10800000">
            <a:off x="5958687" y="3054096"/>
            <a:ext cx="274320" cy="201168"/>
          </a:xfrm>
          <a:prstGeom prst="triangle">
            <a:avLst/>
          </a:prstGeom>
          <a:solidFill>
            <a:srgbClr val="D8D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Isosceles Triangle 45"/>
          <p:cNvSpPr/>
          <p:nvPr/>
        </p:nvSpPr>
        <p:spPr>
          <a:xfrm rot="10800000">
            <a:off x="5958687" y="4425696"/>
            <a:ext cx="274320" cy="201168"/>
          </a:xfrm>
          <a:prstGeom prst="triangle">
            <a:avLst/>
          </a:prstGeom>
          <a:solidFill>
            <a:srgbClr val="D8D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77240" y="5870448"/>
            <a:ext cx="10637215" cy="365760"/>
          </a:xfrm>
          <a:prstGeom prst="rect">
            <a:avLst/>
          </a:prstGeom>
          <a:noFill/>
        </p:spPr>
        <p:txBody>
          <a:bodyPr wrap="square" anchor="t" lIns="0" rIns="0" tIns="0" bIns="0">
            <a:spAutoFit/>
          </a:bodyPr>
          <a:lstStyle/>
          <a:p>
            <a:pPr algn="l">
              <a:lnSpc>
                <a:spcPct val="125000"/>
              </a:lnSpc>
              <a:spcAft>
                <a:spcPts val="0"/>
              </a:spcAft>
            </a:pPr>
            <a:r>
              <a:rPr sz="1350" b="0" i="1">
                <a:solidFill>
                  <a:srgbClr val="B45309"/>
                </a:solidFill>
                <a:latin typeface="Georgia"/>
              </a:rPr>
              <a:t>Key decision: the backend imports the notebook's own pipeline — dashboard and analysis can never disagree.</a:t>
            </a:r>
          </a:p>
        </p:txBody>
      </p:sp>
      <p:cxnSp>
        <p:nvCxnSpPr>
          <p:cNvPr id="48" name="Connector 47"/>
          <p:cNvCxnSpPr/>
          <p:nvPr/>
        </p:nvCxnSpPr>
        <p:spPr>
          <a:xfrm>
            <a:off x="777240" y="6291072"/>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777240" y="6400800"/>
            <a:ext cx="6400800" cy="228600"/>
          </a:xfrm>
          <a:prstGeom prst="rect">
            <a:avLst/>
          </a:prstGeom>
          <a:noFill/>
        </p:spPr>
        <p:txBody>
          <a:bodyPr wrap="square" anchor="t" lIns="0" rIns="0" tIns="0" bIns="0">
            <a:spAutoFit/>
          </a:bodyPr>
          <a:lstStyle/>
          <a:p>
            <a:pPr algn="l">
              <a:lnSpc>
                <a:spcPct val="125000"/>
              </a:lnSpc>
              <a:spcAft>
                <a:spcPts val="0"/>
              </a:spcAft>
            </a:pPr>
            <a:r>
              <a:rPr sz="850" b="0" i="0" spc="120">
                <a:solidFill>
                  <a:srgbClr val="6B6B6B"/>
                </a:solidFill>
                <a:latin typeface="Consolas"/>
              </a:rPr>
              <a:t>CUSTOMER SEGMENTATION FOR TARGETED E-COMMERCE MARKETING</a:t>
            </a:r>
          </a:p>
        </p:txBody>
      </p:sp>
      <p:sp>
        <p:nvSpPr>
          <p:cNvPr id="50" name="TextBox 49"/>
          <p:cNvSpPr txBox="1"/>
          <p:nvPr/>
        </p:nvSpPr>
        <p:spPr>
          <a:xfrm>
            <a:off x="9585655" y="6400800"/>
            <a:ext cx="1828800" cy="228600"/>
          </a:xfrm>
          <a:prstGeom prst="rect">
            <a:avLst/>
          </a:prstGeom>
          <a:noFill/>
        </p:spPr>
        <p:txBody>
          <a:bodyPr wrap="square" anchor="t" lIns="0" rIns="0" tIns="0" bIns="0">
            <a:spAutoFit/>
          </a:bodyPr>
          <a:lstStyle/>
          <a:p>
            <a:pPr algn="r">
              <a:lnSpc>
                <a:spcPct val="125000"/>
              </a:lnSpc>
              <a:spcAft>
                <a:spcPts val="0"/>
              </a:spcAft>
            </a:pPr>
            <a:r>
              <a:rPr sz="850" b="0" i="0" spc="120">
                <a:solidFill>
                  <a:srgbClr val="6B6B6B"/>
                </a:solidFill>
                <a:latin typeface="Consolas"/>
              </a:rPr>
              <a:t>19 / 27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77240" y="566928"/>
            <a:ext cx="10637215" cy="274320"/>
          </a:xfrm>
          <a:prstGeom prst="rect">
            <a:avLst/>
          </a:prstGeom>
          <a:noFill/>
        </p:spPr>
        <p:txBody>
          <a:bodyPr wrap="none" lIns="0" rIns="0" tIns="0" bIns="0">
            <a:spAutoFit/>
          </a:bodyPr>
          <a:lstStyle/>
          <a:p>
            <a:r>
              <a:rPr sz="1050" b="1" spc="200">
                <a:solidFill>
                  <a:srgbClr val="B45309"/>
                </a:solidFill>
                <a:latin typeface="Consolas"/>
              </a:rPr>
              <a:t>05  </a:t>
            </a:r>
            <a:r>
              <a:rPr sz="1050" spc="200">
                <a:solidFill>
                  <a:srgbClr val="6B6B6B"/>
                </a:solidFill>
                <a:latin typeface="Consolas"/>
              </a:rPr>
              <a:t>BACKEND</a:t>
            </a:r>
            <a:r>
              <a:rPr sz="1050" spc="200">
                <a:solidFill>
                  <a:srgbClr val="6B6B6B"/>
                </a:solidFill>
                <a:latin typeface="Consolas"/>
              </a:rPr>
              <a:t>   ·   FASTAPI · TYPED RESPONSES · CACHED AT STARTUP</a:t>
            </a:r>
          </a:p>
        </p:txBody>
      </p:sp>
      <p:sp>
        <p:nvSpPr>
          <p:cNvPr id="4" name="TextBox 3"/>
          <p:cNvSpPr txBox="1"/>
          <p:nvPr/>
        </p:nvSpPr>
        <p:spPr>
          <a:xfrm>
            <a:off x="777240" y="932688"/>
            <a:ext cx="10637215" cy="685800"/>
          </a:xfrm>
          <a:prstGeom prst="rect">
            <a:avLst/>
          </a:prstGeom>
          <a:noFill/>
        </p:spPr>
        <p:txBody>
          <a:bodyPr wrap="square" anchor="t" lIns="0" rIns="0" tIns="0" bIns="0">
            <a:spAutoFit/>
          </a:bodyPr>
          <a:lstStyle/>
          <a:p>
            <a:pPr algn="l">
              <a:lnSpc>
                <a:spcPct val="100000"/>
              </a:lnSpc>
              <a:spcAft>
                <a:spcPts val="0"/>
              </a:spcAft>
            </a:pPr>
            <a:r>
              <a:rPr sz="3200" b="0" i="0">
                <a:solidFill>
                  <a:srgbClr val="1A1A1A"/>
                </a:solidFill>
                <a:latin typeface="Georgia"/>
              </a:rPr>
              <a:t>The API surface</a:t>
            </a:r>
          </a:p>
        </p:txBody>
      </p:sp>
      <p:cxnSp>
        <p:nvCxnSpPr>
          <p:cNvPr id="5" name="Connector 4"/>
          <p:cNvCxnSpPr/>
          <p:nvPr/>
        </p:nvCxnSpPr>
        <p:spPr>
          <a:xfrm>
            <a:off x="777240" y="1664208"/>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77240" y="2011680"/>
            <a:ext cx="4114800" cy="274320"/>
          </a:xfrm>
          <a:prstGeom prst="rect">
            <a:avLst/>
          </a:prstGeom>
          <a:noFill/>
        </p:spPr>
        <p:txBody>
          <a:bodyPr wrap="square" anchor="t" lIns="0" rIns="0" tIns="0" bIns="0">
            <a:spAutoFit/>
          </a:bodyPr>
          <a:lstStyle/>
          <a:p>
            <a:pPr algn="l">
              <a:lnSpc>
                <a:spcPct val="125000"/>
              </a:lnSpc>
              <a:spcAft>
                <a:spcPts val="0"/>
              </a:spcAft>
            </a:pPr>
            <a:r>
              <a:rPr sz="1200" b="0" i="0">
                <a:solidFill>
                  <a:srgbClr val="B45309"/>
                </a:solidFill>
                <a:latin typeface="Consolas"/>
              </a:rPr>
              <a:t>GET  /summary</a:t>
            </a:r>
          </a:p>
        </p:txBody>
      </p:sp>
      <p:sp>
        <p:nvSpPr>
          <p:cNvPr id="7" name="TextBox 6"/>
          <p:cNvSpPr txBox="1"/>
          <p:nvPr/>
        </p:nvSpPr>
        <p:spPr>
          <a:xfrm>
            <a:off x="5074920" y="2011680"/>
            <a:ext cx="6309360" cy="274320"/>
          </a:xfrm>
          <a:prstGeom prst="rect">
            <a:avLst/>
          </a:prstGeom>
          <a:noFill/>
        </p:spPr>
        <p:txBody>
          <a:bodyPr wrap="square" anchor="t" lIns="0" rIns="0" tIns="0" bIns="0">
            <a:spAutoFit/>
          </a:bodyPr>
          <a:lstStyle/>
          <a:p>
            <a:pPr algn="l">
              <a:lnSpc>
                <a:spcPct val="125000"/>
              </a:lnSpc>
              <a:spcAft>
                <a:spcPts val="0"/>
              </a:spcAft>
            </a:pPr>
            <a:r>
              <a:rPr sz="1250" b="0" i="0">
                <a:solidFill>
                  <a:srgbClr val="6B6B6B"/>
                </a:solidFill>
                <a:latin typeface="Calibri"/>
              </a:rPr>
              <a:t>Total customers, revenue, churn rate, cluster count</a:t>
            </a:r>
          </a:p>
        </p:txBody>
      </p:sp>
      <p:cxnSp>
        <p:nvCxnSpPr>
          <p:cNvPr id="8" name="Connector 7"/>
          <p:cNvCxnSpPr/>
          <p:nvPr/>
        </p:nvCxnSpPr>
        <p:spPr>
          <a:xfrm>
            <a:off x="777240" y="2331720"/>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777240" y="2414016"/>
            <a:ext cx="4114800" cy="274320"/>
          </a:xfrm>
          <a:prstGeom prst="rect">
            <a:avLst/>
          </a:prstGeom>
          <a:noFill/>
        </p:spPr>
        <p:txBody>
          <a:bodyPr wrap="square" anchor="t" lIns="0" rIns="0" tIns="0" bIns="0">
            <a:spAutoFit/>
          </a:bodyPr>
          <a:lstStyle/>
          <a:p>
            <a:pPr algn="l">
              <a:lnSpc>
                <a:spcPct val="125000"/>
              </a:lnSpc>
              <a:spcAft>
                <a:spcPts val="0"/>
              </a:spcAft>
            </a:pPr>
            <a:r>
              <a:rPr sz="1200" b="0" i="0">
                <a:solidFill>
                  <a:srgbClr val="B45309"/>
                </a:solidFill>
                <a:latin typeface="Consolas"/>
              </a:rPr>
              <a:t>GET  /clusters</a:t>
            </a:r>
          </a:p>
        </p:txBody>
      </p:sp>
      <p:sp>
        <p:nvSpPr>
          <p:cNvPr id="10" name="TextBox 9"/>
          <p:cNvSpPr txBox="1"/>
          <p:nvPr/>
        </p:nvSpPr>
        <p:spPr>
          <a:xfrm>
            <a:off x="5074920" y="2414016"/>
            <a:ext cx="6309360" cy="274320"/>
          </a:xfrm>
          <a:prstGeom prst="rect">
            <a:avLst/>
          </a:prstGeom>
          <a:noFill/>
        </p:spPr>
        <p:txBody>
          <a:bodyPr wrap="square" anchor="t" lIns="0" rIns="0" tIns="0" bIns="0">
            <a:spAutoFit/>
          </a:bodyPr>
          <a:lstStyle/>
          <a:p>
            <a:pPr algn="l">
              <a:lnSpc>
                <a:spcPct val="125000"/>
              </a:lnSpc>
              <a:spcAft>
                <a:spcPts val="0"/>
              </a:spcAft>
            </a:pPr>
            <a:r>
              <a:rPr sz="1250" b="0" i="0">
                <a:solidFill>
                  <a:srgbClr val="6B6B6B"/>
                </a:solidFill>
                <a:latin typeface="Calibri"/>
              </a:rPr>
              <a:t>Per-cluster size, mean RFM and churn rate</a:t>
            </a:r>
          </a:p>
        </p:txBody>
      </p:sp>
      <p:cxnSp>
        <p:nvCxnSpPr>
          <p:cNvPr id="11" name="Connector 10"/>
          <p:cNvCxnSpPr/>
          <p:nvPr/>
        </p:nvCxnSpPr>
        <p:spPr>
          <a:xfrm>
            <a:off x="777240" y="2734056"/>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77240" y="2816352"/>
            <a:ext cx="4114800" cy="274320"/>
          </a:xfrm>
          <a:prstGeom prst="rect">
            <a:avLst/>
          </a:prstGeom>
          <a:noFill/>
        </p:spPr>
        <p:txBody>
          <a:bodyPr wrap="square" anchor="t" lIns="0" rIns="0" tIns="0" bIns="0">
            <a:spAutoFit/>
          </a:bodyPr>
          <a:lstStyle/>
          <a:p>
            <a:pPr algn="l">
              <a:lnSpc>
                <a:spcPct val="125000"/>
              </a:lnSpc>
              <a:spcAft>
                <a:spcPts val="0"/>
              </a:spcAft>
            </a:pPr>
            <a:r>
              <a:rPr sz="1200" b="0" i="0">
                <a:solidFill>
                  <a:srgbClr val="B45309"/>
                </a:solidFill>
                <a:latin typeface="Consolas"/>
              </a:rPr>
              <a:t>GET  /customers</a:t>
            </a:r>
          </a:p>
        </p:txBody>
      </p:sp>
      <p:sp>
        <p:nvSpPr>
          <p:cNvPr id="13" name="TextBox 12"/>
          <p:cNvSpPr txBox="1"/>
          <p:nvPr/>
        </p:nvSpPr>
        <p:spPr>
          <a:xfrm>
            <a:off x="5074920" y="2816352"/>
            <a:ext cx="6309360" cy="274320"/>
          </a:xfrm>
          <a:prstGeom prst="rect">
            <a:avLst/>
          </a:prstGeom>
          <a:noFill/>
        </p:spPr>
        <p:txBody>
          <a:bodyPr wrap="square" anchor="t" lIns="0" rIns="0" tIns="0" bIns="0">
            <a:spAutoFit/>
          </a:bodyPr>
          <a:lstStyle/>
          <a:p>
            <a:pPr algn="l">
              <a:lnSpc>
                <a:spcPct val="125000"/>
              </a:lnSpc>
              <a:spcAft>
                <a:spcPts val="0"/>
              </a:spcAft>
            </a:pPr>
            <a:r>
              <a:rPr sz="1250" b="0" i="0">
                <a:solidFill>
                  <a:srgbClr val="6B6B6B"/>
                </a:solidFill>
                <a:latin typeface="Calibri"/>
              </a:rPr>
              <a:t>Paginated directory — filter by cluster and churn band</a:t>
            </a:r>
          </a:p>
        </p:txBody>
      </p:sp>
      <p:cxnSp>
        <p:nvCxnSpPr>
          <p:cNvPr id="14" name="Connector 13"/>
          <p:cNvCxnSpPr/>
          <p:nvPr/>
        </p:nvCxnSpPr>
        <p:spPr>
          <a:xfrm>
            <a:off x="777240" y="3136392"/>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777240" y="3218688"/>
            <a:ext cx="4114800" cy="274320"/>
          </a:xfrm>
          <a:prstGeom prst="rect">
            <a:avLst/>
          </a:prstGeom>
          <a:noFill/>
        </p:spPr>
        <p:txBody>
          <a:bodyPr wrap="square" anchor="t" lIns="0" rIns="0" tIns="0" bIns="0">
            <a:spAutoFit/>
          </a:bodyPr>
          <a:lstStyle/>
          <a:p>
            <a:pPr algn="l">
              <a:lnSpc>
                <a:spcPct val="125000"/>
              </a:lnSpc>
              <a:spcAft>
                <a:spcPts val="0"/>
              </a:spcAft>
            </a:pPr>
            <a:r>
              <a:rPr sz="1200" b="0" i="0">
                <a:solidFill>
                  <a:srgbClr val="B45309"/>
                </a:solidFill>
                <a:latin typeface="Consolas"/>
              </a:rPr>
              <a:t>GET  /customers/{id}/transactions</a:t>
            </a:r>
          </a:p>
        </p:txBody>
      </p:sp>
      <p:sp>
        <p:nvSpPr>
          <p:cNvPr id="16" name="TextBox 15"/>
          <p:cNvSpPr txBox="1"/>
          <p:nvPr/>
        </p:nvSpPr>
        <p:spPr>
          <a:xfrm>
            <a:off x="5074920" y="3218688"/>
            <a:ext cx="6309360" cy="274320"/>
          </a:xfrm>
          <a:prstGeom prst="rect">
            <a:avLst/>
          </a:prstGeom>
          <a:noFill/>
        </p:spPr>
        <p:txBody>
          <a:bodyPr wrap="square" anchor="t" lIns="0" rIns="0" tIns="0" bIns="0">
            <a:spAutoFit/>
          </a:bodyPr>
          <a:lstStyle/>
          <a:p>
            <a:pPr algn="l">
              <a:lnSpc>
                <a:spcPct val="125000"/>
              </a:lnSpc>
              <a:spcAft>
                <a:spcPts val="0"/>
              </a:spcAft>
            </a:pPr>
            <a:r>
              <a:rPr sz="1250" b="0" i="0">
                <a:solidFill>
                  <a:srgbClr val="6B6B6B"/>
                </a:solidFill>
                <a:latin typeface="Calibri"/>
              </a:rPr>
              <a:t>Full invoice history for one customer</a:t>
            </a:r>
          </a:p>
        </p:txBody>
      </p:sp>
      <p:cxnSp>
        <p:nvCxnSpPr>
          <p:cNvPr id="17" name="Connector 16"/>
          <p:cNvCxnSpPr/>
          <p:nvPr/>
        </p:nvCxnSpPr>
        <p:spPr>
          <a:xfrm>
            <a:off x="777240" y="3538728"/>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77240" y="3621024"/>
            <a:ext cx="4114800" cy="274320"/>
          </a:xfrm>
          <a:prstGeom prst="rect">
            <a:avLst/>
          </a:prstGeom>
          <a:noFill/>
        </p:spPr>
        <p:txBody>
          <a:bodyPr wrap="square" anchor="t" lIns="0" rIns="0" tIns="0" bIns="0">
            <a:spAutoFit/>
          </a:bodyPr>
          <a:lstStyle/>
          <a:p>
            <a:pPr algn="l">
              <a:lnSpc>
                <a:spcPct val="125000"/>
              </a:lnSpc>
              <a:spcAft>
                <a:spcPts val="0"/>
              </a:spcAft>
            </a:pPr>
            <a:r>
              <a:rPr sz="1200" b="0" i="0">
                <a:solidFill>
                  <a:srgbClr val="B45309"/>
                </a:solidFill>
                <a:latin typeface="Consolas"/>
              </a:rPr>
              <a:t>GET  /charts/pca-scatter</a:t>
            </a:r>
          </a:p>
        </p:txBody>
      </p:sp>
      <p:sp>
        <p:nvSpPr>
          <p:cNvPr id="19" name="TextBox 18"/>
          <p:cNvSpPr txBox="1"/>
          <p:nvPr/>
        </p:nvSpPr>
        <p:spPr>
          <a:xfrm>
            <a:off x="5074920" y="3621024"/>
            <a:ext cx="6309360" cy="274320"/>
          </a:xfrm>
          <a:prstGeom prst="rect">
            <a:avLst/>
          </a:prstGeom>
          <a:noFill/>
        </p:spPr>
        <p:txBody>
          <a:bodyPr wrap="square" anchor="t" lIns="0" rIns="0" tIns="0" bIns="0">
            <a:spAutoFit/>
          </a:bodyPr>
          <a:lstStyle/>
          <a:p>
            <a:pPr algn="l">
              <a:lnSpc>
                <a:spcPct val="125000"/>
              </a:lnSpc>
              <a:spcAft>
                <a:spcPts val="0"/>
              </a:spcAft>
            </a:pPr>
            <a:r>
              <a:rPr sz="1250" b="0" i="0">
                <a:solidFill>
                  <a:srgbClr val="6B6B6B"/>
                </a:solidFill>
                <a:latin typeface="Calibri"/>
              </a:rPr>
              <a:t>De-duplicated 2-D projection points for plotting</a:t>
            </a:r>
          </a:p>
        </p:txBody>
      </p:sp>
      <p:cxnSp>
        <p:nvCxnSpPr>
          <p:cNvPr id="20" name="Connector 19"/>
          <p:cNvCxnSpPr/>
          <p:nvPr/>
        </p:nvCxnSpPr>
        <p:spPr>
          <a:xfrm>
            <a:off x="777240" y="3941064"/>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777240" y="4023360"/>
            <a:ext cx="4114800" cy="274320"/>
          </a:xfrm>
          <a:prstGeom prst="rect">
            <a:avLst/>
          </a:prstGeom>
          <a:noFill/>
        </p:spPr>
        <p:txBody>
          <a:bodyPr wrap="square" anchor="t" lIns="0" rIns="0" tIns="0" bIns="0">
            <a:spAutoFit/>
          </a:bodyPr>
          <a:lstStyle/>
          <a:p>
            <a:pPr algn="l">
              <a:lnSpc>
                <a:spcPct val="125000"/>
              </a:lnSpc>
              <a:spcAft>
                <a:spcPts val="0"/>
              </a:spcAft>
            </a:pPr>
            <a:r>
              <a:rPr sz="1200" b="0" i="0">
                <a:solidFill>
                  <a:srgbClr val="B45309"/>
                </a:solidFill>
                <a:latin typeface="Consolas"/>
              </a:rPr>
              <a:t>GET  /charts/churn-distribution</a:t>
            </a:r>
          </a:p>
        </p:txBody>
      </p:sp>
      <p:sp>
        <p:nvSpPr>
          <p:cNvPr id="22" name="TextBox 21"/>
          <p:cNvSpPr txBox="1"/>
          <p:nvPr/>
        </p:nvSpPr>
        <p:spPr>
          <a:xfrm>
            <a:off x="5074920" y="4023360"/>
            <a:ext cx="6309360" cy="274320"/>
          </a:xfrm>
          <a:prstGeom prst="rect">
            <a:avLst/>
          </a:prstGeom>
          <a:noFill/>
        </p:spPr>
        <p:txBody>
          <a:bodyPr wrap="square" anchor="t" lIns="0" rIns="0" tIns="0" bIns="0">
            <a:spAutoFit/>
          </a:bodyPr>
          <a:lstStyle/>
          <a:p>
            <a:pPr algn="l">
              <a:lnSpc>
                <a:spcPct val="125000"/>
              </a:lnSpc>
              <a:spcAft>
                <a:spcPts val="0"/>
              </a:spcAft>
            </a:pPr>
            <a:r>
              <a:rPr sz="1250" b="0" i="0">
                <a:solidFill>
                  <a:srgbClr val="6B6B6B"/>
                </a:solidFill>
                <a:latin typeface="Calibri"/>
              </a:rPr>
              <a:t>Pre-binned churn probability histogram</a:t>
            </a:r>
          </a:p>
        </p:txBody>
      </p:sp>
      <p:cxnSp>
        <p:nvCxnSpPr>
          <p:cNvPr id="23" name="Connector 22"/>
          <p:cNvCxnSpPr/>
          <p:nvPr/>
        </p:nvCxnSpPr>
        <p:spPr>
          <a:xfrm>
            <a:off x="777240" y="4343400"/>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77240" y="4425696"/>
            <a:ext cx="4114800" cy="274320"/>
          </a:xfrm>
          <a:prstGeom prst="rect">
            <a:avLst/>
          </a:prstGeom>
          <a:noFill/>
        </p:spPr>
        <p:txBody>
          <a:bodyPr wrap="square" anchor="t" lIns="0" rIns="0" tIns="0" bIns="0">
            <a:spAutoFit/>
          </a:bodyPr>
          <a:lstStyle/>
          <a:p>
            <a:pPr algn="l">
              <a:lnSpc>
                <a:spcPct val="125000"/>
              </a:lnSpc>
              <a:spcAft>
                <a:spcPts val="0"/>
              </a:spcAft>
            </a:pPr>
            <a:r>
              <a:rPr sz="1200" b="0" i="0">
                <a:solidFill>
                  <a:srgbClr val="B45309"/>
                </a:solidFill>
                <a:latin typeface="Consolas"/>
              </a:rPr>
              <a:t>GET  /charts/rfm-distribution</a:t>
            </a:r>
          </a:p>
        </p:txBody>
      </p:sp>
      <p:sp>
        <p:nvSpPr>
          <p:cNvPr id="25" name="TextBox 24"/>
          <p:cNvSpPr txBox="1"/>
          <p:nvPr/>
        </p:nvSpPr>
        <p:spPr>
          <a:xfrm>
            <a:off x="5074920" y="4425696"/>
            <a:ext cx="6309360" cy="274320"/>
          </a:xfrm>
          <a:prstGeom prst="rect">
            <a:avLst/>
          </a:prstGeom>
          <a:noFill/>
        </p:spPr>
        <p:txBody>
          <a:bodyPr wrap="square" anchor="t" lIns="0" rIns="0" tIns="0" bIns="0">
            <a:spAutoFit/>
          </a:bodyPr>
          <a:lstStyle/>
          <a:p>
            <a:pPr algn="l">
              <a:lnSpc>
                <a:spcPct val="125000"/>
              </a:lnSpc>
              <a:spcAft>
                <a:spcPts val="0"/>
              </a:spcAft>
            </a:pPr>
            <a:r>
              <a:rPr sz="1250" b="0" i="0">
                <a:solidFill>
                  <a:srgbClr val="6B6B6B"/>
                </a:solidFill>
                <a:latin typeface="Calibri"/>
              </a:rPr>
              <a:t>Pre-binned R, F and M histograms (99th-pct clipped)</a:t>
            </a:r>
          </a:p>
        </p:txBody>
      </p:sp>
      <p:cxnSp>
        <p:nvCxnSpPr>
          <p:cNvPr id="26" name="Connector 25"/>
          <p:cNvCxnSpPr/>
          <p:nvPr/>
        </p:nvCxnSpPr>
        <p:spPr>
          <a:xfrm>
            <a:off x="777240" y="4745736"/>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77240" y="4828032"/>
            <a:ext cx="4114800" cy="274320"/>
          </a:xfrm>
          <a:prstGeom prst="rect">
            <a:avLst/>
          </a:prstGeom>
          <a:noFill/>
        </p:spPr>
        <p:txBody>
          <a:bodyPr wrap="square" anchor="t" lIns="0" rIns="0" tIns="0" bIns="0">
            <a:spAutoFit/>
          </a:bodyPr>
          <a:lstStyle/>
          <a:p>
            <a:pPr algn="l">
              <a:lnSpc>
                <a:spcPct val="125000"/>
              </a:lnSpc>
              <a:spcAft>
                <a:spcPts val="0"/>
              </a:spcAft>
            </a:pPr>
            <a:r>
              <a:rPr sz="1200" b="0" i="0">
                <a:solidFill>
                  <a:srgbClr val="B45309"/>
                </a:solidFill>
                <a:latin typeface="Consolas"/>
              </a:rPr>
              <a:t>GET  /charts/elbow</a:t>
            </a:r>
          </a:p>
        </p:txBody>
      </p:sp>
      <p:sp>
        <p:nvSpPr>
          <p:cNvPr id="28" name="TextBox 27"/>
          <p:cNvSpPr txBox="1"/>
          <p:nvPr/>
        </p:nvSpPr>
        <p:spPr>
          <a:xfrm>
            <a:off x="5074920" y="4828032"/>
            <a:ext cx="6309360" cy="274320"/>
          </a:xfrm>
          <a:prstGeom prst="rect">
            <a:avLst/>
          </a:prstGeom>
          <a:noFill/>
        </p:spPr>
        <p:txBody>
          <a:bodyPr wrap="square" anchor="t" lIns="0" rIns="0" tIns="0" bIns="0">
            <a:spAutoFit/>
          </a:bodyPr>
          <a:lstStyle/>
          <a:p>
            <a:pPr algn="l">
              <a:lnSpc>
                <a:spcPct val="125000"/>
              </a:lnSpc>
              <a:spcAft>
                <a:spcPts val="0"/>
              </a:spcAft>
            </a:pPr>
            <a:r>
              <a:rPr sz="1250" b="0" i="0">
                <a:solidFill>
                  <a:srgbClr val="6B6B6B"/>
                </a:solidFill>
                <a:latin typeface="Calibri"/>
              </a:rPr>
              <a:t>WCSS per K — the elbow curve, served to the UI</a:t>
            </a:r>
          </a:p>
        </p:txBody>
      </p:sp>
      <p:cxnSp>
        <p:nvCxnSpPr>
          <p:cNvPr id="29" name="Connector 28"/>
          <p:cNvCxnSpPr/>
          <p:nvPr/>
        </p:nvCxnSpPr>
        <p:spPr>
          <a:xfrm>
            <a:off x="777240" y="5148072"/>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777240" y="5230368"/>
            <a:ext cx="4114800" cy="274320"/>
          </a:xfrm>
          <a:prstGeom prst="rect">
            <a:avLst/>
          </a:prstGeom>
          <a:noFill/>
        </p:spPr>
        <p:txBody>
          <a:bodyPr wrap="square" anchor="t" lIns="0" rIns="0" tIns="0" bIns="0">
            <a:spAutoFit/>
          </a:bodyPr>
          <a:lstStyle/>
          <a:p>
            <a:pPr algn="l">
              <a:lnSpc>
                <a:spcPct val="125000"/>
              </a:lnSpc>
              <a:spcAft>
                <a:spcPts val="0"/>
              </a:spcAft>
            </a:pPr>
            <a:r>
              <a:rPr sz="1200" b="0" i="0">
                <a:solidFill>
                  <a:srgbClr val="B45309"/>
                </a:solidFill>
                <a:latin typeface="Consolas"/>
              </a:rPr>
              <a:t>POST /demo/purchase</a:t>
            </a:r>
          </a:p>
        </p:txBody>
      </p:sp>
      <p:sp>
        <p:nvSpPr>
          <p:cNvPr id="31" name="TextBox 30"/>
          <p:cNvSpPr txBox="1"/>
          <p:nvPr/>
        </p:nvSpPr>
        <p:spPr>
          <a:xfrm>
            <a:off x="5074920" y="5230368"/>
            <a:ext cx="6309360" cy="274320"/>
          </a:xfrm>
          <a:prstGeom prst="rect">
            <a:avLst/>
          </a:prstGeom>
          <a:noFill/>
        </p:spPr>
        <p:txBody>
          <a:bodyPr wrap="square" anchor="t" lIns="0" rIns="0" tIns="0" bIns="0">
            <a:spAutoFit/>
          </a:bodyPr>
          <a:lstStyle/>
          <a:p>
            <a:pPr algn="l">
              <a:lnSpc>
                <a:spcPct val="125000"/>
              </a:lnSpc>
              <a:spcAft>
                <a:spcPts val="0"/>
              </a:spcAft>
            </a:pPr>
            <a:r>
              <a:rPr sz="1250" b="0" i="0">
                <a:solidFill>
                  <a:srgbClr val="6B6B6B"/>
                </a:solidFill>
                <a:latin typeface="Calibri"/>
              </a:rPr>
              <a:t>Records a live purchase and re-segments that customer</a:t>
            </a:r>
          </a:p>
        </p:txBody>
      </p:sp>
      <p:cxnSp>
        <p:nvCxnSpPr>
          <p:cNvPr id="32" name="Connector 31"/>
          <p:cNvCxnSpPr/>
          <p:nvPr/>
        </p:nvCxnSpPr>
        <p:spPr>
          <a:xfrm>
            <a:off x="777240" y="5550408"/>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777240" y="5897880"/>
            <a:ext cx="10637215" cy="457200"/>
          </a:xfrm>
          <a:prstGeom prst="rect">
            <a:avLst/>
          </a:prstGeom>
          <a:solidFill>
            <a:srgbClr val="F0EC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1005840" y="6016752"/>
            <a:ext cx="10180015" cy="274320"/>
          </a:xfrm>
          <a:prstGeom prst="rect">
            <a:avLst/>
          </a:prstGeom>
          <a:noFill/>
        </p:spPr>
        <p:txBody>
          <a:bodyPr wrap="square" anchor="t" lIns="0" rIns="0" tIns="0" bIns="0">
            <a:spAutoFit/>
          </a:bodyPr>
          <a:lstStyle/>
          <a:p>
            <a:pPr algn="l">
              <a:lnSpc>
                <a:spcPct val="125000"/>
              </a:lnSpc>
              <a:spcAft>
                <a:spcPts val="0"/>
              </a:spcAft>
            </a:pPr>
            <a:r>
              <a:rPr sz="1250" b="0" i="0">
                <a:solidFill>
                  <a:srgbClr val="1A1A1A"/>
                </a:solidFill>
                <a:latin typeface="Calibri"/>
              </a:rPr>
              <a:t>Charts are binned server-side and cached, so the browser never handles 4,339 raw rows — the dashboard stays responsive.</a:t>
            </a:r>
          </a:p>
        </p:txBody>
      </p:sp>
      <p:cxnSp>
        <p:nvCxnSpPr>
          <p:cNvPr id="35" name="Connector 34"/>
          <p:cNvCxnSpPr/>
          <p:nvPr/>
        </p:nvCxnSpPr>
        <p:spPr>
          <a:xfrm>
            <a:off x="777240" y="6291072"/>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777240" y="6400800"/>
            <a:ext cx="6400800" cy="228600"/>
          </a:xfrm>
          <a:prstGeom prst="rect">
            <a:avLst/>
          </a:prstGeom>
          <a:noFill/>
        </p:spPr>
        <p:txBody>
          <a:bodyPr wrap="square" anchor="t" lIns="0" rIns="0" tIns="0" bIns="0">
            <a:spAutoFit/>
          </a:bodyPr>
          <a:lstStyle/>
          <a:p>
            <a:pPr algn="l">
              <a:lnSpc>
                <a:spcPct val="125000"/>
              </a:lnSpc>
              <a:spcAft>
                <a:spcPts val="0"/>
              </a:spcAft>
            </a:pPr>
            <a:r>
              <a:rPr sz="850" b="0" i="0" spc="120">
                <a:solidFill>
                  <a:srgbClr val="6B6B6B"/>
                </a:solidFill>
                <a:latin typeface="Consolas"/>
              </a:rPr>
              <a:t>CUSTOMER SEGMENTATION FOR TARGETED E-COMMERCE MARKETING</a:t>
            </a:r>
          </a:p>
        </p:txBody>
      </p:sp>
      <p:sp>
        <p:nvSpPr>
          <p:cNvPr id="37" name="TextBox 36"/>
          <p:cNvSpPr txBox="1"/>
          <p:nvPr/>
        </p:nvSpPr>
        <p:spPr>
          <a:xfrm>
            <a:off x="9585655" y="6400800"/>
            <a:ext cx="1828800" cy="228600"/>
          </a:xfrm>
          <a:prstGeom prst="rect">
            <a:avLst/>
          </a:prstGeom>
          <a:noFill/>
        </p:spPr>
        <p:txBody>
          <a:bodyPr wrap="square" anchor="t" lIns="0" rIns="0" tIns="0" bIns="0">
            <a:spAutoFit/>
          </a:bodyPr>
          <a:lstStyle/>
          <a:p>
            <a:pPr algn="r">
              <a:lnSpc>
                <a:spcPct val="125000"/>
              </a:lnSpc>
              <a:spcAft>
                <a:spcPts val="0"/>
              </a:spcAft>
            </a:pPr>
            <a:r>
              <a:rPr sz="850" b="0" i="0" spc="120">
                <a:solidFill>
                  <a:srgbClr val="6B6B6B"/>
                </a:solidFill>
                <a:latin typeface="Consolas"/>
              </a:rPr>
              <a:t>20 / 27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77240" y="566928"/>
            <a:ext cx="10637215" cy="274320"/>
          </a:xfrm>
          <a:prstGeom prst="rect">
            <a:avLst/>
          </a:prstGeom>
          <a:noFill/>
        </p:spPr>
        <p:txBody>
          <a:bodyPr wrap="none" lIns="0" rIns="0" tIns="0" bIns="0">
            <a:spAutoFit/>
          </a:bodyPr>
          <a:lstStyle/>
          <a:p>
            <a:r>
              <a:rPr sz="1050" b="1" spc="200">
                <a:solidFill>
                  <a:srgbClr val="B45309"/>
                </a:solidFill>
                <a:latin typeface="Consolas"/>
              </a:rPr>
              <a:t>05  </a:t>
            </a:r>
            <a:r>
              <a:rPr sz="1050" spc="200">
                <a:solidFill>
                  <a:srgbClr val="6B6B6B"/>
                </a:solidFill>
                <a:latin typeface="Consolas"/>
              </a:rPr>
              <a:t>FRONTEND</a:t>
            </a:r>
            <a:r>
              <a:rPr sz="1050" spc="200">
                <a:solidFill>
                  <a:srgbClr val="6B6B6B"/>
                </a:solidFill>
                <a:latin typeface="Consolas"/>
              </a:rPr>
              <a:t>   ·   SIX SECTIONS, READ TOP TO BOTTOM</a:t>
            </a:r>
          </a:p>
        </p:txBody>
      </p:sp>
      <p:sp>
        <p:nvSpPr>
          <p:cNvPr id="4" name="TextBox 3"/>
          <p:cNvSpPr txBox="1"/>
          <p:nvPr/>
        </p:nvSpPr>
        <p:spPr>
          <a:xfrm>
            <a:off x="777240" y="932688"/>
            <a:ext cx="10637215" cy="685800"/>
          </a:xfrm>
          <a:prstGeom prst="rect">
            <a:avLst/>
          </a:prstGeom>
          <a:noFill/>
        </p:spPr>
        <p:txBody>
          <a:bodyPr wrap="square" anchor="t" lIns="0" rIns="0" tIns="0" bIns="0">
            <a:spAutoFit/>
          </a:bodyPr>
          <a:lstStyle/>
          <a:p>
            <a:pPr algn="l">
              <a:lnSpc>
                <a:spcPct val="100000"/>
              </a:lnSpc>
              <a:spcAft>
                <a:spcPts val="0"/>
              </a:spcAft>
            </a:pPr>
            <a:r>
              <a:rPr sz="3200" b="0" i="0">
                <a:solidFill>
                  <a:srgbClr val="1A1A1A"/>
                </a:solidFill>
                <a:latin typeface="Georgia"/>
              </a:rPr>
              <a:t>The dashboard</a:t>
            </a:r>
          </a:p>
        </p:txBody>
      </p:sp>
      <p:cxnSp>
        <p:nvCxnSpPr>
          <p:cNvPr id="5" name="Connector 4"/>
          <p:cNvCxnSpPr/>
          <p:nvPr/>
        </p:nvCxnSpPr>
        <p:spPr>
          <a:xfrm>
            <a:off x="777240" y="1664208"/>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77240" y="1993392"/>
            <a:ext cx="548640" cy="274320"/>
          </a:xfrm>
          <a:prstGeom prst="rect">
            <a:avLst/>
          </a:prstGeom>
          <a:noFill/>
        </p:spPr>
        <p:txBody>
          <a:bodyPr wrap="square" anchor="t" lIns="0" rIns="0" tIns="0" bIns="0">
            <a:spAutoFit/>
          </a:bodyPr>
          <a:lstStyle/>
          <a:p>
            <a:pPr algn="l">
              <a:lnSpc>
                <a:spcPct val="125000"/>
              </a:lnSpc>
              <a:spcAft>
                <a:spcPts val="0"/>
              </a:spcAft>
            </a:pPr>
            <a:r>
              <a:rPr sz="1100" b="1" i="0" spc="140">
                <a:solidFill>
                  <a:srgbClr val="B45309"/>
                </a:solidFill>
                <a:latin typeface="Consolas"/>
              </a:rPr>
              <a:t>01</a:t>
            </a:r>
          </a:p>
        </p:txBody>
      </p:sp>
      <p:sp>
        <p:nvSpPr>
          <p:cNvPr id="7" name="TextBox 6"/>
          <p:cNvSpPr txBox="1"/>
          <p:nvPr/>
        </p:nvSpPr>
        <p:spPr>
          <a:xfrm>
            <a:off x="1463040" y="1947672"/>
            <a:ext cx="2286000" cy="320040"/>
          </a:xfrm>
          <a:prstGeom prst="rect">
            <a:avLst/>
          </a:prstGeom>
          <a:noFill/>
        </p:spPr>
        <p:txBody>
          <a:bodyPr wrap="square" anchor="t" lIns="0" rIns="0" tIns="0" bIns="0">
            <a:spAutoFit/>
          </a:bodyPr>
          <a:lstStyle/>
          <a:p>
            <a:pPr algn="l">
              <a:lnSpc>
                <a:spcPct val="125000"/>
              </a:lnSpc>
              <a:spcAft>
                <a:spcPts val="0"/>
              </a:spcAft>
            </a:pPr>
            <a:r>
              <a:rPr sz="1600" b="0" i="0">
                <a:solidFill>
                  <a:srgbClr val="1A1A1A"/>
                </a:solidFill>
                <a:latin typeface="Georgia"/>
              </a:rPr>
              <a:t>Overview</a:t>
            </a:r>
          </a:p>
        </p:txBody>
      </p:sp>
      <p:sp>
        <p:nvSpPr>
          <p:cNvPr id="8" name="TextBox 7"/>
          <p:cNvSpPr txBox="1"/>
          <p:nvPr/>
        </p:nvSpPr>
        <p:spPr>
          <a:xfrm>
            <a:off x="3977640" y="1984248"/>
            <a:ext cx="7406640" cy="457200"/>
          </a:xfrm>
          <a:prstGeom prst="rect">
            <a:avLst/>
          </a:prstGeom>
          <a:noFill/>
        </p:spPr>
        <p:txBody>
          <a:bodyPr wrap="square" anchor="t" lIns="0" rIns="0" tIns="0" bIns="0">
            <a:spAutoFit/>
          </a:bodyPr>
          <a:lstStyle/>
          <a:p>
            <a:pPr algn="l">
              <a:lnSpc>
                <a:spcPct val="122000"/>
              </a:lnSpc>
              <a:spcAft>
                <a:spcPts val="0"/>
              </a:spcAft>
            </a:pPr>
            <a:r>
              <a:rPr sz="1200" b="0" i="0">
                <a:solidFill>
                  <a:srgbClr val="6B6B6B"/>
                </a:solidFill>
                <a:latin typeface="Calibri"/>
              </a:rPr>
              <a:t>Four headline indicators: total customers, total revenue, churn rate and cluster count — recomputed live for the selected threshold.</a:t>
            </a:r>
          </a:p>
        </p:txBody>
      </p:sp>
      <p:cxnSp>
        <p:nvCxnSpPr>
          <p:cNvPr id="9" name="Connector 8"/>
          <p:cNvCxnSpPr/>
          <p:nvPr/>
        </p:nvCxnSpPr>
        <p:spPr>
          <a:xfrm>
            <a:off x="777240" y="2450592"/>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77240" y="2596896"/>
            <a:ext cx="548640" cy="274320"/>
          </a:xfrm>
          <a:prstGeom prst="rect">
            <a:avLst/>
          </a:prstGeom>
          <a:noFill/>
        </p:spPr>
        <p:txBody>
          <a:bodyPr wrap="square" anchor="t" lIns="0" rIns="0" tIns="0" bIns="0">
            <a:spAutoFit/>
          </a:bodyPr>
          <a:lstStyle/>
          <a:p>
            <a:pPr algn="l">
              <a:lnSpc>
                <a:spcPct val="125000"/>
              </a:lnSpc>
              <a:spcAft>
                <a:spcPts val="0"/>
              </a:spcAft>
            </a:pPr>
            <a:r>
              <a:rPr sz="1100" b="1" i="0" spc="140">
                <a:solidFill>
                  <a:srgbClr val="B45309"/>
                </a:solidFill>
                <a:latin typeface="Consolas"/>
              </a:rPr>
              <a:t>02</a:t>
            </a:r>
          </a:p>
        </p:txBody>
      </p:sp>
      <p:sp>
        <p:nvSpPr>
          <p:cNvPr id="11" name="TextBox 10"/>
          <p:cNvSpPr txBox="1"/>
          <p:nvPr/>
        </p:nvSpPr>
        <p:spPr>
          <a:xfrm>
            <a:off x="1463040" y="2551176"/>
            <a:ext cx="2286000" cy="320040"/>
          </a:xfrm>
          <a:prstGeom prst="rect">
            <a:avLst/>
          </a:prstGeom>
          <a:noFill/>
        </p:spPr>
        <p:txBody>
          <a:bodyPr wrap="square" anchor="t" lIns="0" rIns="0" tIns="0" bIns="0">
            <a:spAutoFit/>
          </a:bodyPr>
          <a:lstStyle/>
          <a:p>
            <a:pPr algn="l">
              <a:lnSpc>
                <a:spcPct val="125000"/>
              </a:lnSpc>
              <a:spcAft>
                <a:spcPts val="0"/>
              </a:spcAft>
            </a:pPr>
            <a:r>
              <a:rPr sz="1600" b="0" i="0">
                <a:solidFill>
                  <a:srgbClr val="1A1A1A"/>
                </a:solidFill>
                <a:latin typeface="Georgia"/>
              </a:rPr>
              <a:t>The Segments</a:t>
            </a:r>
          </a:p>
        </p:txBody>
      </p:sp>
      <p:sp>
        <p:nvSpPr>
          <p:cNvPr id="12" name="TextBox 11"/>
          <p:cNvSpPr txBox="1"/>
          <p:nvPr/>
        </p:nvSpPr>
        <p:spPr>
          <a:xfrm>
            <a:off x="3977640" y="2587752"/>
            <a:ext cx="7406640" cy="457200"/>
          </a:xfrm>
          <a:prstGeom prst="rect">
            <a:avLst/>
          </a:prstGeom>
          <a:noFill/>
        </p:spPr>
        <p:txBody>
          <a:bodyPr wrap="square" anchor="t" lIns="0" rIns="0" tIns="0" bIns="0">
            <a:spAutoFit/>
          </a:bodyPr>
          <a:lstStyle/>
          <a:p>
            <a:pPr algn="l">
              <a:lnSpc>
                <a:spcPct val="122000"/>
              </a:lnSpc>
              <a:spcAft>
                <a:spcPts val="0"/>
              </a:spcAft>
            </a:pPr>
            <a:r>
              <a:rPr sz="1200" b="0" i="0">
                <a:solidFill>
                  <a:srgbClr val="6B6B6B"/>
                </a:solidFill>
                <a:latin typeface="Calibri"/>
              </a:rPr>
              <a:t>The cluster table: size, mean recency, frequency, monetary value and churn rate for each of the four groups.</a:t>
            </a:r>
          </a:p>
        </p:txBody>
      </p:sp>
      <p:cxnSp>
        <p:nvCxnSpPr>
          <p:cNvPr id="13" name="Connector 12"/>
          <p:cNvCxnSpPr/>
          <p:nvPr/>
        </p:nvCxnSpPr>
        <p:spPr>
          <a:xfrm>
            <a:off x="777240" y="3054096"/>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77240" y="3200400"/>
            <a:ext cx="548640" cy="274320"/>
          </a:xfrm>
          <a:prstGeom prst="rect">
            <a:avLst/>
          </a:prstGeom>
          <a:noFill/>
        </p:spPr>
        <p:txBody>
          <a:bodyPr wrap="square" anchor="t" lIns="0" rIns="0" tIns="0" bIns="0">
            <a:spAutoFit/>
          </a:bodyPr>
          <a:lstStyle/>
          <a:p>
            <a:pPr algn="l">
              <a:lnSpc>
                <a:spcPct val="125000"/>
              </a:lnSpc>
              <a:spcAft>
                <a:spcPts val="0"/>
              </a:spcAft>
            </a:pPr>
            <a:r>
              <a:rPr sz="1100" b="1" i="0" spc="140">
                <a:solidFill>
                  <a:srgbClr val="B45309"/>
                </a:solidFill>
                <a:latin typeface="Consolas"/>
              </a:rPr>
              <a:t>03</a:t>
            </a:r>
          </a:p>
        </p:txBody>
      </p:sp>
      <p:sp>
        <p:nvSpPr>
          <p:cNvPr id="15" name="TextBox 14"/>
          <p:cNvSpPr txBox="1"/>
          <p:nvPr/>
        </p:nvSpPr>
        <p:spPr>
          <a:xfrm>
            <a:off x="1463040" y="3154680"/>
            <a:ext cx="2286000" cy="320040"/>
          </a:xfrm>
          <a:prstGeom prst="rect">
            <a:avLst/>
          </a:prstGeom>
          <a:noFill/>
        </p:spPr>
        <p:txBody>
          <a:bodyPr wrap="square" anchor="t" lIns="0" rIns="0" tIns="0" bIns="0">
            <a:spAutoFit/>
          </a:bodyPr>
          <a:lstStyle/>
          <a:p>
            <a:pPr algn="l">
              <a:lnSpc>
                <a:spcPct val="125000"/>
              </a:lnSpc>
              <a:spcAft>
                <a:spcPts val="0"/>
              </a:spcAft>
            </a:pPr>
            <a:r>
              <a:rPr sz="1600" b="0" i="0">
                <a:solidFill>
                  <a:srgbClr val="1A1A1A"/>
                </a:solidFill>
                <a:latin typeface="Georgia"/>
              </a:rPr>
              <a:t>Distribution</a:t>
            </a:r>
          </a:p>
        </p:txBody>
      </p:sp>
      <p:sp>
        <p:nvSpPr>
          <p:cNvPr id="16" name="TextBox 15"/>
          <p:cNvSpPr txBox="1"/>
          <p:nvPr/>
        </p:nvSpPr>
        <p:spPr>
          <a:xfrm>
            <a:off x="3977640" y="3191256"/>
            <a:ext cx="7406640" cy="457200"/>
          </a:xfrm>
          <a:prstGeom prst="rect">
            <a:avLst/>
          </a:prstGeom>
          <a:noFill/>
        </p:spPr>
        <p:txBody>
          <a:bodyPr wrap="square" anchor="t" lIns="0" rIns="0" tIns="0" bIns="0">
            <a:spAutoFit/>
          </a:bodyPr>
          <a:lstStyle/>
          <a:p>
            <a:pPr algn="l">
              <a:lnSpc>
                <a:spcPct val="122000"/>
              </a:lnSpc>
              <a:spcAft>
                <a:spcPts val="0"/>
              </a:spcAft>
            </a:pPr>
            <a:r>
              <a:rPr sz="1200" b="0" i="0">
                <a:solidFill>
                  <a:srgbClr val="6B6B6B"/>
                </a:solidFill>
                <a:latin typeface="Calibri"/>
              </a:rPr>
              <a:t>PCA scatter of every customer coloured by cluster, beside the churn-probability density.</a:t>
            </a:r>
          </a:p>
        </p:txBody>
      </p:sp>
      <p:cxnSp>
        <p:nvCxnSpPr>
          <p:cNvPr id="17" name="Connector 16"/>
          <p:cNvCxnSpPr/>
          <p:nvPr/>
        </p:nvCxnSpPr>
        <p:spPr>
          <a:xfrm>
            <a:off x="777240" y="3657600"/>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77240" y="3803904"/>
            <a:ext cx="548640" cy="274320"/>
          </a:xfrm>
          <a:prstGeom prst="rect">
            <a:avLst/>
          </a:prstGeom>
          <a:noFill/>
        </p:spPr>
        <p:txBody>
          <a:bodyPr wrap="square" anchor="t" lIns="0" rIns="0" tIns="0" bIns="0">
            <a:spAutoFit/>
          </a:bodyPr>
          <a:lstStyle/>
          <a:p>
            <a:pPr algn="l">
              <a:lnSpc>
                <a:spcPct val="125000"/>
              </a:lnSpc>
              <a:spcAft>
                <a:spcPts val="0"/>
              </a:spcAft>
            </a:pPr>
            <a:r>
              <a:rPr sz="1100" b="1" i="0" spc="140">
                <a:solidFill>
                  <a:srgbClr val="B45309"/>
                </a:solidFill>
                <a:latin typeface="Consolas"/>
              </a:rPr>
              <a:t>04</a:t>
            </a:r>
          </a:p>
        </p:txBody>
      </p:sp>
      <p:sp>
        <p:nvSpPr>
          <p:cNvPr id="19" name="TextBox 18"/>
          <p:cNvSpPr txBox="1"/>
          <p:nvPr/>
        </p:nvSpPr>
        <p:spPr>
          <a:xfrm>
            <a:off x="1463040" y="3758184"/>
            <a:ext cx="2286000" cy="320040"/>
          </a:xfrm>
          <a:prstGeom prst="rect">
            <a:avLst/>
          </a:prstGeom>
          <a:noFill/>
        </p:spPr>
        <p:txBody>
          <a:bodyPr wrap="square" anchor="t" lIns="0" rIns="0" tIns="0" bIns="0">
            <a:spAutoFit/>
          </a:bodyPr>
          <a:lstStyle/>
          <a:p>
            <a:pPr algn="l">
              <a:lnSpc>
                <a:spcPct val="125000"/>
              </a:lnSpc>
              <a:spcAft>
                <a:spcPts val="0"/>
              </a:spcAft>
            </a:pPr>
            <a:r>
              <a:rPr sz="1600" b="0" i="0">
                <a:solidFill>
                  <a:srgbClr val="1A1A1A"/>
                </a:solidFill>
                <a:latin typeface="Georgia"/>
              </a:rPr>
              <a:t>Directory</a:t>
            </a:r>
          </a:p>
        </p:txBody>
      </p:sp>
      <p:sp>
        <p:nvSpPr>
          <p:cNvPr id="20" name="TextBox 19"/>
          <p:cNvSpPr txBox="1"/>
          <p:nvPr/>
        </p:nvSpPr>
        <p:spPr>
          <a:xfrm>
            <a:off x="3977640" y="3794760"/>
            <a:ext cx="7406640" cy="457200"/>
          </a:xfrm>
          <a:prstGeom prst="rect">
            <a:avLst/>
          </a:prstGeom>
          <a:noFill/>
        </p:spPr>
        <p:txBody>
          <a:bodyPr wrap="square" anchor="t" lIns="0" rIns="0" tIns="0" bIns="0">
            <a:spAutoFit/>
          </a:bodyPr>
          <a:lstStyle/>
          <a:p>
            <a:pPr algn="l">
              <a:lnSpc>
                <a:spcPct val="122000"/>
              </a:lnSpc>
              <a:spcAft>
                <a:spcPts val="0"/>
              </a:spcAft>
            </a:pPr>
            <a:r>
              <a:rPr sz="1200" b="0" i="0">
                <a:solidFill>
                  <a:srgbClr val="6B6B6B"/>
                </a:solidFill>
                <a:latin typeface="Calibri"/>
              </a:rPr>
              <a:t>Paginated, filterable per-customer table — cluster, RFM, churn score and email. The list a campaign is actually built from.</a:t>
            </a:r>
          </a:p>
        </p:txBody>
      </p:sp>
      <p:cxnSp>
        <p:nvCxnSpPr>
          <p:cNvPr id="21" name="Connector 20"/>
          <p:cNvCxnSpPr/>
          <p:nvPr/>
        </p:nvCxnSpPr>
        <p:spPr>
          <a:xfrm>
            <a:off x="777240" y="4261104"/>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777240" y="4407408"/>
            <a:ext cx="548640" cy="274320"/>
          </a:xfrm>
          <a:prstGeom prst="rect">
            <a:avLst/>
          </a:prstGeom>
          <a:noFill/>
        </p:spPr>
        <p:txBody>
          <a:bodyPr wrap="square" anchor="t" lIns="0" rIns="0" tIns="0" bIns="0">
            <a:spAutoFit/>
          </a:bodyPr>
          <a:lstStyle/>
          <a:p>
            <a:pPr algn="l">
              <a:lnSpc>
                <a:spcPct val="125000"/>
              </a:lnSpc>
              <a:spcAft>
                <a:spcPts val="0"/>
              </a:spcAft>
            </a:pPr>
            <a:r>
              <a:rPr sz="1100" b="1" i="0" spc="140">
                <a:solidFill>
                  <a:srgbClr val="B45309"/>
                </a:solidFill>
                <a:latin typeface="Consolas"/>
              </a:rPr>
              <a:t>05</a:t>
            </a:r>
          </a:p>
        </p:txBody>
      </p:sp>
      <p:sp>
        <p:nvSpPr>
          <p:cNvPr id="23" name="TextBox 22"/>
          <p:cNvSpPr txBox="1"/>
          <p:nvPr/>
        </p:nvSpPr>
        <p:spPr>
          <a:xfrm>
            <a:off x="1463040" y="4361688"/>
            <a:ext cx="2286000" cy="320040"/>
          </a:xfrm>
          <a:prstGeom prst="rect">
            <a:avLst/>
          </a:prstGeom>
          <a:noFill/>
        </p:spPr>
        <p:txBody>
          <a:bodyPr wrap="square" anchor="t" lIns="0" rIns="0" tIns="0" bIns="0">
            <a:spAutoFit/>
          </a:bodyPr>
          <a:lstStyle/>
          <a:p>
            <a:pPr algn="l">
              <a:lnSpc>
                <a:spcPct val="125000"/>
              </a:lnSpc>
              <a:spcAft>
                <a:spcPts val="0"/>
              </a:spcAft>
            </a:pPr>
            <a:r>
              <a:rPr sz="1600" b="0" i="0">
                <a:solidFill>
                  <a:srgbClr val="1A1A1A"/>
                </a:solidFill>
                <a:latin typeface="Georgia"/>
              </a:rPr>
              <a:t>Method</a:t>
            </a:r>
          </a:p>
        </p:txBody>
      </p:sp>
      <p:sp>
        <p:nvSpPr>
          <p:cNvPr id="24" name="TextBox 23"/>
          <p:cNvSpPr txBox="1"/>
          <p:nvPr/>
        </p:nvSpPr>
        <p:spPr>
          <a:xfrm>
            <a:off x="3977640" y="4398264"/>
            <a:ext cx="7406640" cy="457200"/>
          </a:xfrm>
          <a:prstGeom prst="rect">
            <a:avLst/>
          </a:prstGeom>
          <a:noFill/>
        </p:spPr>
        <p:txBody>
          <a:bodyPr wrap="square" anchor="t" lIns="0" rIns="0" tIns="0" bIns="0">
            <a:spAutoFit/>
          </a:bodyPr>
          <a:lstStyle/>
          <a:p>
            <a:pPr algn="l">
              <a:lnSpc>
                <a:spcPct val="122000"/>
              </a:lnSpc>
              <a:spcAft>
                <a:spcPts val="0"/>
              </a:spcAft>
            </a:pPr>
            <a:r>
              <a:rPr sz="1200" b="0" i="0">
                <a:solidFill>
                  <a:srgbClr val="6B6B6B"/>
                </a:solidFill>
                <a:latin typeface="Calibri"/>
              </a:rPr>
              <a:t>RFM distributions and the elbow plot, exposed in the product so the modelling choices are auditable rather than hidden.</a:t>
            </a:r>
          </a:p>
        </p:txBody>
      </p:sp>
      <p:cxnSp>
        <p:nvCxnSpPr>
          <p:cNvPr id="25" name="Connector 24"/>
          <p:cNvCxnSpPr/>
          <p:nvPr/>
        </p:nvCxnSpPr>
        <p:spPr>
          <a:xfrm>
            <a:off x="777240" y="4864608"/>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777240" y="5010912"/>
            <a:ext cx="548640" cy="274320"/>
          </a:xfrm>
          <a:prstGeom prst="rect">
            <a:avLst/>
          </a:prstGeom>
          <a:noFill/>
        </p:spPr>
        <p:txBody>
          <a:bodyPr wrap="square" anchor="t" lIns="0" rIns="0" tIns="0" bIns="0">
            <a:spAutoFit/>
          </a:bodyPr>
          <a:lstStyle/>
          <a:p>
            <a:pPr algn="l">
              <a:lnSpc>
                <a:spcPct val="125000"/>
              </a:lnSpc>
              <a:spcAft>
                <a:spcPts val="0"/>
              </a:spcAft>
            </a:pPr>
            <a:r>
              <a:rPr sz="1100" b="1" i="0" spc="140">
                <a:solidFill>
                  <a:srgbClr val="B45309"/>
                </a:solidFill>
                <a:latin typeface="Consolas"/>
              </a:rPr>
              <a:t>06</a:t>
            </a:r>
          </a:p>
        </p:txBody>
      </p:sp>
      <p:sp>
        <p:nvSpPr>
          <p:cNvPr id="27" name="TextBox 26"/>
          <p:cNvSpPr txBox="1"/>
          <p:nvPr/>
        </p:nvSpPr>
        <p:spPr>
          <a:xfrm>
            <a:off x="1463040" y="4965192"/>
            <a:ext cx="2286000" cy="320040"/>
          </a:xfrm>
          <a:prstGeom prst="rect">
            <a:avLst/>
          </a:prstGeom>
          <a:noFill/>
        </p:spPr>
        <p:txBody>
          <a:bodyPr wrap="square" anchor="t" lIns="0" rIns="0" tIns="0" bIns="0">
            <a:spAutoFit/>
          </a:bodyPr>
          <a:lstStyle/>
          <a:p>
            <a:pPr algn="l">
              <a:lnSpc>
                <a:spcPct val="125000"/>
              </a:lnSpc>
              <a:spcAft>
                <a:spcPts val="0"/>
              </a:spcAft>
            </a:pPr>
            <a:r>
              <a:rPr sz="1600" b="0" i="0">
                <a:solidFill>
                  <a:srgbClr val="1A1A1A"/>
                </a:solidFill>
                <a:latin typeface="Georgia"/>
              </a:rPr>
              <a:t>Researchers</a:t>
            </a:r>
          </a:p>
        </p:txBody>
      </p:sp>
      <p:sp>
        <p:nvSpPr>
          <p:cNvPr id="28" name="TextBox 27"/>
          <p:cNvSpPr txBox="1"/>
          <p:nvPr/>
        </p:nvSpPr>
        <p:spPr>
          <a:xfrm>
            <a:off x="3977640" y="5001768"/>
            <a:ext cx="7406640" cy="457200"/>
          </a:xfrm>
          <a:prstGeom prst="rect">
            <a:avLst/>
          </a:prstGeom>
          <a:noFill/>
        </p:spPr>
        <p:txBody>
          <a:bodyPr wrap="square" anchor="t" lIns="0" rIns="0" tIns="0" bIns="0">
            <a:spAutoFit/>
          </a:bodyPr>
          <a:lstStyle/>
          <a:p>
            <a:pPr algn="l">
              <a:lnSpc>
                <a:spcPct val="122000"/>
              </a:lnSpc>
              <a:spcAft>
                <a:spcPts val="0"/>
              </a:spcAft>
            </a:pPr>
            <a:r>
              <a:rPr sz="1200" b="0" i="0">
                <a:solidFill>
                  <a:srgbClr val="6B6B6B"/>
                </a:solidFill>
                <a:latin typeface="Calibri"/>
              </a:rPr>
              <a:t>Project attribution.</a:t>
            </a:r>
          </a:p>
        </p:txBody>
      </p:sp>
      <p:cxnSp>
        <p:nvCxnSpPr>
          <p:cNvPr id="29" name="Connector 28"/>
          <p:cNvCxnSpPr/>
          <p:nvPr/>
        </p:nvCxnSpPr>
        <p:spPr>
          <a:xfrm>
            <a:off x="777240" y="5468112"/>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777240" y="5669280"/>
            <a:ext cx="10637215" cy="566928"/>
          </a:xfrm>
          <a:prstGeom prst="rect">
            <a:avLst/>
          </a:prstGeom>
          <a:solidFill>
            <a:srgbClr val="F0EC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1005840" y="5797296"/>
            <a:ext cx="10180015" cy="365760"/>
          </a:xfrm>
          <a:prstGeom prst="rect">
            <a:avLst/>
          </a:prstGeom>
          <a:noFill/>
        </p:spPr>
        <p:txBody>
          <a:bodyPr wrap="square" anchor="t" lIns="0" rIns="0" tIns="0" bIns="0">
            <a:spAutoFit/>
          </a:bodyPr>
          <a:lstStyle/>
          <a:p>
            <a:pPr algn="l">
              <a:lnSpc>
                <a:spcPct val="122000"/>
              </a:lnSpc>
              <a:spcAft>
                <a:spcPts val="0"/>
              </a:spcAft>
            </a:pPr>
            <a:r>
              <a:rPr sz="1200" b="0" i="0">
                <a:solidFill>
                  <a:srgbClr val="1A1A1A"/>
                </a:solidFill>
                <a:latin typeface="Calibri"/>
              </a:rPr>
              <a:t>Header control: the churn threshold (30 / 60 / 90 / 120 / 180 days) recomputes the whole dashboard — the definition of churn belongs to the user, not to us.</a:t>
            </a:r>
          </a:p>
        </p:txBody>
      </p:sp>
      <p:cxnSp>
        <p:nvCxnSpPr>
          <p:cNvPr id="32" name="Connector 31"/>
          <p:cNvCxnSpPr/>
          <p:nvPr/>
        </p:nvCxnSpPr>
        <p:spPr>
          <a:xfrm>
            <a:off x="777240" y="6291072"/>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77240" y="6400800"/>
            <a:ext cx="6400800" cy="228600"/>
          </a:xfrm>
          <a:prstGeom prst="rect">
            <a:avLst/>
          </a:prstGeom>
          <a:noFill/>
        </p:spPr>
        <p:txBody>
          <a:bodyPr wrap="square" anchor="t" lIns="0" rIns="0" tIns="0" bIns="0">
            <a:spAutoFit/>
          </a:bodyPr>
          <a:lstStyle/>
          <a:p>
            <a:pPr algn="l">
              <a:lnSpc>
                <a:spcPct val="125000"/>
              </a:lnSpc>
              <a:spcAft>
                <a:spcPts val="0"/>
              </a:spcAft>
            </a:pPr>
            <a:r>
              <a:rPr sz="850" b="0" i="0" spc="120">
                <a:solidFill>
                  <a:srgbClr val="6B6B6B"/>
                </a:solidFill>
                <a:latin typeface="Consolas"/>
              </a:rPr>
              <a:t>CUSTOMER SEGMENTATION FOR TARGETED E-COMMERCE MARKETING</a:t>
            </a:r>
          </a:p>
        </p:txBody>
      </p:sp>
      <p:sp>
        <p:nvSpPr>
          <p:cNvPr id="34" name="TextBox 33"/>
          <p:cNvSpPr txBox="1"/>
          <p:nvPr/>
        </p:nvSpPr>
        <p:spPr>
          <a:xfrm>
            <a:off x="9585655" y="6400800"/>
            <a:ext cx="1828800" cy="228600"/>
          </a:xfrm>
          <a:prstGeom prst="rect">
            <a:avLst/>
          </a:prstGeom>
          <a:noFill/>
        </p:spPr>
        <p:txBody>
          <a:bodyPr wrap="square" anchor="t" lIns="0" rIns="0" tIns="0" bIns="0">
            <a:spAutoFit/>
          </a:bodyPr>
          <a:lstStyle/>
          <a:p>
            <a:pPr algn="r">
              <a:lnSpc>
                <a:spcPct val="125000"/>
              </a:lnSpc>
              <a:spcAft>
                <a:spcPts val="0"/>
              </a:spcAft>
            </a:pPr>
            <a:r>
              <a:rPr sz="850" b="0" i="0" spc="120">
                <a:solidFill>
                  <a:srgbClr val="6B6B6B"/>
                </a:solidFill>
                <a:latin typeface="Consolas"/>
              </a:rPr>
              <a:t>21 / 27</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77240" y="566928"/>
            <a:ext cx="10637215" cy="274320"/>
          </a:xfrm>
          <a:prstGeom prst="rect">
            <a:avLst/>
          </a:prstGeom>
          <a:noFill/>
        </p:spPr>
        <p:txBody>
          <a:bodyPr wrap="none" lIns="0" rIns="0" tIns="0" bIns="0">
            <a:spAutoFit/>
          </a:bodyPr>
          <a:lstStyle/>
          <a:p>
            <a:r>
              <a:rPr sz="1050" b="1" spc="200">
                <a:solidFill>
                  <a:srgbClr val="B45309"/>
                </a:solidFill>
                <a:latin typeface="Consolas"/>
              </a:rPr>
              <a:t>05  </a:t>
            </a:r>
            <a:r>
              <a:rPr sz="1050" spc="200">
                <a:solidFill>
                  <a:srgbClr val="6B6B6B"/>
                </a:solidFill>
                <a:latin typeface="Consolas"/>
              </a:rPr>
              <a:t>LIVE DEMONSTRATION</a:t>
            </a:r>
            <a:r>
              <a:rPr sz="1050" spc="200">
                <a:solidFill>
                  <a:srgbClr val="6B6B6B"/>
                </a:solidFill>
                <a:latin typeface="Consolas"/>
              </a:rPr>
              <a:t>   ·   REAL-TIME RE-SEGMENTATION</a:t>
            </a:r>
          </a:p>
        </p:txBody>
      </p:sp>
      <p:sp>
        <p:nvSpPr>
          <p:cNvPr id="4" name="TextBox 3"/>
          <p:cNvSpPr txBox="1"/>
          <p:nvPr/>
        </p:nvSpPr>
        <p:spPr>
          <a:xfrm>
            <a:off x="777240" y="932688"/>
            <a:ext cx="10637215" cy="685800"/>
          </a:xfrm>
          <a:prstGeom prst="rect">
            <a:avLst/>
          </a:prstGeom>
          <a:noFill/>
        </p:spPr>
        <p:txBody>
          <a:bodyPr wrap="square" anchor="t" lIns="0" rIns="0" tIns="0" bIns="0">
            <a:spAutoFit/>
          </a:bodyPr>
          <a:lstStyle/>
          <a:p>
            <a:pPr algn="l">
              <a:lnSpc>
                <a:spcPct val="100000"/>
              </a:lnSpc>
              <a:spcAft>
                <a:spcPts val="0"/>
              </a:spcAft>
            </a:pPr>
            <a:r>
              <a:rPr sz="3200" b="0" i="0">
                <a:solidFill>
                  <a:srgbClr val="1A1A1A"/>
                </a:solidFill>
                <a:latin typeface="Georgia"/>
              </a:rPr>
              <a:t>Watching a customer change segment</a:t>
            </a:r>
          </a:p>
        </p:txBody>
      </p:sp>
      <p:cxnSp>
        <p:nvCxnSpPr>
          <p:cNvPr id="5" name="Connector 4"/>
          <p:cNvCxnSpPr/>
          <p:nvPr/>
        </p:nvCxnSpPr>
        <p:spPr>
          <a:xfrm>
            <a:off x="777240" y="1664208"/>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2057400"/>
            <a:ext cx="2556433" cy="2286000"/>
          </a:xfrm>
          <a:prstGeom prst="rect">
            <a:avLst/>
          </a:prstGeom>
          <a:solidFill>
            <a:srgbClr val="F0EC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7" name="Connector 6"/>
          <p:cNvCxnSpPr/>
          <p:nvPr/>
        </p:nvCxnSpPr>
        <p:spPr>
          <a:xfrm>
            <a:off x="777240" y="2057400"/>
            <a:ext cx="2556433" cy="0"/>
          </a:xfrm>
          <a:prstGeom prst="line">
            <a:avLst/>
          </a:prstGeom>
          <a:ln w="28575">
            <a:solidFill>
              <a:srgbClr val="B4530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033272" y="2331720"/>
            <a:ext cx="914400" cy="365760"/>
          </a:xfrm>
          <a:prstGeom prst="rect">
            <a:avLst/>
          </a:prstGeom>
          <a:noFill/>
        </p:spPr>
        <p:txBody>
          <a:bodyPr wrap="square" anchor="t" lIns="0" rIns="0" tIns="0" bIns="0">
            <a:spAutoFit/>
          </a:bodyPr>
          <a:lstStyle/>
          <a:p>
            <a:pPr algn="l">
              <a:lnSpc>
                <a:spcPct val="125000"/>
              </a:lnSpc>
              <a:spcAft>
                <a:spcPts val="0"/>
              </a:spcAft>
            </a:pPr>
            <a:r>
              <a:rPr sz="2200" b="1" i="0">
                <a:solidFill>
                  <a:srgbClr val="B45309"/>
                </a:solidFill>
                <a:latin typeface="Consolas"/>
              </a:rPr>
              <a:t>01</a:t>
            </a:r>
          </a:p>
        </p:txBody>
      </p:sp>
      <p:sp>
        <p:nvSpPr>
          <p:cNvPr id="9" name="TextBox 8"/>
          <p:cNvSpPr txBox="1"/>
          <p:nvPr/>
        </p:nvSpPr>
        <p:spPr>
          <a:xfrm>
            <a:off x="1033272" y="2834640"/>
            <a:ext cx="2044369" cy="365760"/>
          </a:xfrm>
          <a:prstGeom prst="rect">
            <a:avLst/>
          </a:prstGeom>
          <a:noFill/>
        </p:spPr>
        <p:txBody>
          <a:bodyPr wrap="square" anchor="t" lIns="0" rIns="0" tIns="0" bIns="0">
            <a:spAutoFit/>
          </a:bodyPr>
          <a:lstStyle/>
          <a:p>
            <a:pPr algn="l">
              <a:lnSpc>
                <a:spcPct val="125000"/>
              </a:lnSpc>
              <a:spcAft>
                <a:spcPts val="0"/>
              </a:spcAft>
            </a:pPr>
            <a:r>
              <a:rPr sz="1600" b="0" i="0">
                <a:solidFill>
                  <a:srgbClr val="1A1A1A"/>
                </a:solidFill>
                <a:latin typeface="Georgia"/>
              </a:rPr>
              <a:t>Log in</a:t>
            </a:r>
          </a:p>
        </p:txBody>
      </p:sp>
      <p:sp>
        <p:nvSpPr>
          <p:cNvPr id="10" name="TextBox 9"/>
          <p:cNvSpPr txBox="1"/>
          <p:nvPr/>
        </p:nvSpPr>
        <p:spPr>
          <a:xfrm>
            <a:off x="1033272" y="3246120"/>
            <a:ext cx="2044369" cy="914400"/>
          </a:xfrm>
          <a:prstGeom prst="rect">
            <a:avLst/>
          </a:prstGeom>
          <a:noFill/>
        </p:spPr>
        <p:txBody>
          <a:bodyPr wrap="square" anchor="t" lIns="0" rIns="0" tIns="0" bIns="0">
            <a:spAutoFit/>
          </a:bodyPr>
          <a:lstStyle/>
          <a:p>
            <a:pPr algn="l">
              <a:lnSpc>
                <a:spcPct val="130000"/>
              </a:lnSpc>
              <a:spcAft>
                <a:spcPts val="0"/>
              </a:spcAft>
            </a:pPr>
            <a:r>
              <a:rPr sz="1150" b="0" i="0">
                <a:solidFill>
                  <a:srgbClr val="6B6B6B"/>
                </a:solidFill>
                <a:latin typeface="Calibri"/>
              </a:rPr>
              <a:t>A real customer authenticates against credentials stored per CustomerID; the backend issues a signed token.</a:t>
            </a:r>
          </a:p>
        </p:txBody>
      </p:sp>
      <p:sp>
        <p:nvSpPr>
          <p:cNvPr id="11" name="Rectangle 10"/>
          <p:cNvSpPr/>
          <p:nvPr/>
        </p:nvSpPr>
        <p:spPr>
          <a:xfrm>
            <a:off x="3470833" y="2057400"/>
            <a:ext cx="2556433" cy="2286000"/>
          </a:xfrm>
          <a:prstGeom prst="rect">
            <a:avLst/>
          </a:prstGeom>
          <a:solidFill>
            <a:srgbClr val="F0EC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12" name="Connector 11"/>
          <p:cNvCxnSpPr/>
          <p:nvPr/>
        </p:nvCxnSpPr>
        <p:spPr>
          <a:xfrm>
            <a:off x="3470833" y="2057400"/>
            <a:ext cx="2556433" cy="0"/>
          </a:xfrm>
          <a:prstGeom prst="line">
            <a:avLst/>
          </a:prstGeom>
          <a:ln w="28575">
            <a:solidFill>
              <a:srgbClr val="B45309"/>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3726865" y="2331720"/>
            <a:ext cx="914400" cy="365760"/>
          </a:xfrm>
          <a:prstGeom prst="rect">
            <a:avLst/>
          </a:prstGeom>
          <a:noFill/>
        </p:spPr>
        <p:txBody>
          <a:bodyPr wrap="square" anchor="t" lIns="0" rIns="0" tIns="0" bIns="0">
            <a:spAutoFit/>
          </a:bodyPr>
          <a:lstStyle/>
          <a:p>
            <a:pPr algn="l">
              <a:lnSpc>
                <a:spcPct val="125000"/>
              </a:lnSpc>
              <a:spcAft>
                <a:spcPts val="0"/>
              </a:spcAft>
            </a:pPr>
            <a:r>
              <a:rPr sz="2200" b="1" i="0">
                <a:solidFill>
                  <a:srgbClr val="B45309"/>
                </a:solidFill>
                <a:latin typeface="Consolas"/>
              </a:rPr>
              <a:t>02</a:t>
            </a:r>
          </a:p>
        </p:txBody>
      </p:sp>
      <p:sp>
        <p:nvSpPr>
          <p:cNvPr id="14" name="TextBox 13"/>
          <p:cNvSpPr txBox="1"/>
          <p:nvPr/>
        </p:nvSpPr>
        <p:spPr>
          <a:xfrm>
            <a:off x="3726865" y="2834640"/>
            <a:ext cx="2044369" cy="365760"/>
          </a:xfrm>
          <a:prstGeom prst="rect">
            <a:avLst/>
          </a:prstGeom>
          <a:noFill/>
        </p:spPr>
        <p:txBody>
          <a:bodyPr wrap="square" anchor="t" lIns="0" rIns="0" tIns="0" bIns="0">
            <a:spAutoFit/>
          </a:bodyPr>
          <a:lstStyle/>
          <a:p>
            <a:pPr algn="l">
              <a:lnSpc>
                <a:spcPct val="125000"/>
              </a:lnSpc>
              <a:spcAft>
                <a:spcPts val="0"/>
              </a:spcAft>
            </a:pPr>
            <a:r>
              <a:rPr sz="1600" b="0" i="0">
                <a:solidFill>
                  <a:srgbClr val="1A1A1A"/>
                </a:solidFill>
                <a:latin typeface="Georgia"/>
              </a:rPr>
              <a:t>Buy a product</a:t>
            </a:r>
          </a:p>
        </p:txBody>
      </p:sp>
      <p:sp>
        <p:nvSpPr>
          <p:cNvPr id="15" name="TextBox 14"/>
          <p:cNvSpPr txBox="1"/>
          <p:nvPr/>
        </p:nvSpPr>
        <p:spPr>
          <a:xfrm>
            <a:off x="3726865" y="3246120"/>
            <a:ext cx="2044369" cy="914400"/>
          </a:xfrm>
          <a:prstGeom prst="rect">
            <a:avLst/>
          </a:prstGeom>
          <a:noFill/>
        </p:spPr>
        <p:txBody>
          <a:bodyPr wrap="square" anchor="t" lIns="0" rIns="0" tIns="0" bIns="0">
            <a:spAutoFit/>
          </a:bodyPr>
          <a:lstStyle/>
          <a:p>
            <a:pPr algn="l">
              <a:lnSpc>
                <a:spcPct val="130000"/>
              </a:lnSpc>
              <a:spcAft>
                <a:spcPts val="0"/>
              </a:spcAft>
            </a:pPr>
            <a:r>
              <a:rPr sz="1150" b="0" i="0">
                <a:solidFill>
                  <a:srgbClr val="6B6B6B"/>
                </a:solidFill>
                <a:latin typeface="Calibri"/>
              </a:rPr>
              <a:t>The customer selects an item from the catalogue served out of SQLite and places an order.</a:t>
            </a:r>
          </a:p>
        </p:txBody>
      </p:sp>
      <p:sp>
        <p:nvSpPr>
          <p:cNvPr id="16" name="Rectangle 15"/>
          <p:cNvSpPr/>
          <p:nvPr/>
        </p:nvSpPr>
        <p:spPr>
          <a:xfrm>
            <a:off x="6164426" y="2057400"/>
            <a:ext cx="2556433" cy="2286000"/>
          </a:xfrm>
          <a:prstGeom prst="rect">
            <a:avLst/>
          </a:prstGeom>
          <a:solidFill>
            <a:srgbClr val="F0EC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17" name="Connector 16"/>
          <p:cNvCxnSpPr/>
          <p:nvPr/>
        </p:nvCxnSpPr>
        <p:spPr>
          <a:xfrm>
            <a:off x="6164426" y="2057400"/>
            <a:ext cx="2556433" cy="0"/>
          </a:xfrm>
          <a:prstGeom prst="line">
            <a:avLst/>
          </a:prstGeom>
          <a:ln w="28575">
            <a:solidFill>
              <a:srgbClr val="B45309"/>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420458" y="2331720"/>
            <a:ext cx="914400" cy="365760"/>
          </a:xfrm>
          <a:prstGeom prst="rect">
            <a:avLst/>
          </a:prstGeom>
          <a:noFill/>
        </p:spPr>
        <p:txBody>
          <a:bodyPr wrap="square" anchor="t" lIns="0" rIns="0" tIns="0" bIns="0">
            <a:spAutoFit/>
          </a:bodyPr>
          <a:lstStyle/>
          <a:p>
            <a:pPr algn="l">
              <a:lnSpc>
                <a:spcPct val="125000"/>
              </a:lnSpc>
              <a:spcAft>
                <a:spcPts val="0"/>
              </a:spcAft>
            </a:pPr>
            <a:r>
              <a:rPr sz="2200" b="1" i="0">
                <a:solidFill>
                  <a:srgbClr val="B45309"/>
                </a:solidFill>
                <a:latin typeface="Consolas"/>
              </a:rPr>
              <a:t>03</a:t>
            </a:r>
          </a:p>
        </p:txBody>
      </p:sp>
      <p:sp>
        <p:nvSpPr>
          <p:cNvPr id="19" name="TextBox 18"/>
          <p:cNvSpPr txBox="1"/>
          <p:nvPr/>
        </p:nvSpPr>
        <p:spPr>
          <a:xfrm>
            <a:off x="6420458" y="2834640"/>
            <a:ext cx="2044369" cy="365760"/>
          </a:xfrm>
          <a:prstGeom prst="rect">
            <a:avLst/>
          </a:prstGeom>
          <a:noFill/>
        </p:spPr>
        <p:txBody>
          <a:bodyPr wrap="square" anchor="t" lIns="0" rIns="0" tIns="0" bIns="0">
            <a:spAutoFit/>
          </a:bodyPr>
          <a:lstStyle/>
          <a:p>
            <a:pPr algn="l">
              <a:lnSpc>
                <a:spcPct val="125000"/>
              </a:lnSpc>
              <a:spcAft>
                <a:spcPts val="0"/>
              </a:spcAft>
            </a:pPr>
            <a:r>
              <a:rPr sz="1600" b="0" i="0">
                <a:solidFill>
                  <a:srgbClr val="1A1A1A"/>
                </a:solidFill>
                <a:latin typeface="Georgia"/>
              </a:rPr>
              <a:t>Backend recomputes</a:t>
            </a:r>
          </a:p>
        </p:txBody>
      </p:sp>
      <p:sp>
        <p:nvSpPr>
          <p:cNvPr id="20" name="TextBox 19"/>
          <p:cNvSpPr txBox="1"/>
          <p:nvPr/>
        </p:nvSpPr>
        <p:spPr>
          <a:xfrm>
            <a:off x="6420458" y="3246120"/>
            <a:ext cx="2044369" cy="914400"/>
          </a:xfrm>
          <a:prstGeom prst="rect">
            <a:avLst/>
          </a:prstGeom>
          <a:noFill/>
        </p:spPr>
        <p:txBody>
          <a:bodyPr wrap="square" anchor="t" lIns="0" rIns="0" tIns="0" bIns="0">
            <a:spAutoFit/>
          </a:bodyPr>
          <a:lstStyle/>
          <a:p>
            <a:pPr algn="l">
              <a:lnSpc>
                <a:spcPct val="130000"/>
              </a:lnSpc>
              <a:spcAft>
                <a:spcPts val="0"/>
              </a:spcAft>
            </a:pPr>
            <a:r>
              <a:rPr sz="1150" b="0" i="0">
                <a:solidFill>
                  <a:srgbClr val="6B6B6B"/>
                </a:solidFill>
                <a:latin typeface="Calibri"/>
              </a:rPr>
              <a:t>Recency resets to 0, Frequency +1, Monetary increases. The fitted scaler and K-Means then re-predict this customer's cluster.</a:t>
            </a:r>
          </a:p>
        </p:txBody>
      </p:sp>
      <p:sp>
        <p:nvSpPr>
          <p:cNvPr id="21" name="Rectangle 20"/>
          <p:cNvSpPr/>
          <p:nvPr/>
        </p:nvSpPr>
        <p:spPr>
          <a:xfrm>
            <a:off x="8858019" y="2057400"/>
            <a:ext cx="2556433" cy="2286000"/>
          </a:xfrm>
          <a:prstGeom prst="rect">
            <a:avLst/>
          </a:prstGeom>
          <a:solidFill>
            <a:srgbClr val="F0EC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22" name="Connector 21"/>
          <p:cNvCxnSpPr/>
          <p:nvPr/>
        </p:nvCxnSpPr>
        <p:spPr>
          <a:xfrm>
            <a:off x="8858019" y="2057400"/>
            <a:ext cx="2556433" cy="0"/>
          </a:xfrm>
          <a:prstGeom prst="line">
            <a:avLst/>
          </a:prstGeom>
          <a:ln w="28575">
            <a:solidFill>
              <a:srgbClr val="B45309"/>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9114051" y="2331720"/>
            <a:ext cx="914400" cy="365760"/>
          </a:xfrm>
          <a:prstGeom prst="rect">
            <a:avLst/>
          </a:prstGeom>
          <a:noFill/>
        </p:spPr>
        <p:txBody>
          <a:bodyPr wrap="square" anchor="t" lIns="0" rIns="0" tIns="0" bIns="0">
            <a:spAutoFit/>
          </a:bodyPr>
          <a:lstStyle/>
          <a:p>
            <a:pPr algn="l">
              <a:lnSpc>
                <a:spcPct val="125000"/>
              </a:lnSpc>
              <a:spcAft>
                <a:spcPts val="0"/>
              </a:spcAft>
            </a:pPr>
            <a:r>
              <a:rPr sz="2200" b="1" i="0">
                <a:solidFill>
                  <a:srgbClr val="B45309"/>
                </a:solidFill>
                <a:latin typeface="Consolas"/>
              </a:rPr>
              <a:t>04</a:t>
            </a:r>
          </a:p>
        </p:txBody>
      </p:sp>
      <p:sp>
        <p:nvSpPr>
          <p:cNvPr id="24" name="TextBox 23"/>
          <p:cNvSpPr txBox="1"/>
          <p:nvPr/>
        </p:nvSpPr>
        <p:spPr>
          <a:xfrm>
            <a:off x="9114051" y="2834640"/>
            <a:ext cx="2044369" cy="365760"/>
          </a:xfrm>
          <a:prstGeom prst="rect">
            <a:avLst/>
          </a:prstGeom>
          <a:noFill/>
        </p:spPr>
        <p:txBody>
          <a:bodyPr wrap="square" anchor="t" lIns="0" rIns="0" tIns="0" bIns="0">
            <a:spAutoFit/>
          </a:bodyPr>
          <a:lstStyle/>
          <a:p>
            <a:pPr algn="l">
              <a:lnSpc>
                <a:spcPct val="125000"/>
              </a:lnSpc>
              <a:spcAft>
                <a:spcPts val="0"/>
              </a:spcAft>
            </a:pPr>
            <a:r>
              <a:rPr sz="1600" b="0" i="0">
                <a:solidFill>
                  <a:srgbClr val="1A1A1A"/>
                </a:solidFill>
                <a:latin typeface="Georgia"/>
              </a:rPr>
              <a:t>Segment updates live</a:t>
            </a:r>
          </a:p>
        </p:txBody>
      </p:sp>
      <p:sp>
        <p:nvSpPr>
          <p:cNvPr id="25" name="TextBox 24"/>
          <p:cNvSpPr txBox="1"/>
          <p:nvPr/>
        </p:nvSpPr>
        <p:spPr>
          <a:xfrm>
            <a:off x="9114051" y="3246120"/>
            <a:ext cx="2044369" cy="914400"/>
          </a:xfrm>
          <a:prstGeom prst="rect">
            <a:avLst/>
          </a:prstGeom>
          <a:noFill/>
        </p:spPr>
        <p:txBody>
          <a:bodyPr wrap="square" anchor="t" lIns="0" rIns="0" tIns="0" bIns="0">
            <a:spAutoFit/>
          </a:bodyPr>
          <a:lstStyle/>
          <a:p>
            <a:pPr algn="l">
              <a:lnSpc>
                <a:spcPct val="130000"/>
              </a:lnSpc>
              <a:spcAft>
                <a:spcPts val="0"/>
              </a:spcAft>
            </a:pPr>
            <a:r>
              <a:rPr sz="1150" b="0" i="0">
                <a:solidFill>
                  <a:srgbClr val="6B6B6B"/>
                </a:solidFill>
                <a:latin typeface="Calibri"/>
              </a:rPr>
              <a:t>The panel shows before / after side by side and the dashboard figures move. /demo/reset restores the original state.</a:t>
            </a:r>
          </a:p>
        </p:txBody>
      </p:sp>
      <p:sp>
        <p:nvSpPr>
          <p:cNvPr id="26" name="Rectangle 25"/>
          <p:cNvSpPr/>
          <p:nvPr/>
        </p:nvSpPr>
        <p:spPr>
          <a:xfrm>
            <a:off x="777240" y="4617720"/>
            <a:ext cx="10637215" cy="1417320"/>
          </a:xfrm>
          <a:prstGeom prst="rect">
            <a:avLst/>
          </a:prstGeom>
          <a:solidFill>
            <a:srgbClr val="1C1B1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1097280" y="4846320"/>
            <a:ext cx="3657600" cy="274320"/>
          </a:xfrm>
          <a:prstGeom prst="rect">
            <a:avLst/>
          </a:prstGeom>
          <a:noFill/>
        </p:spPr>
        <p:txBody>
          <a:bodyPr wrap="square" anchor="t" lIns="0" rIns="0" tIns="0" bIns="0">
            <a:spAutoFit/>
          </a:bodyPr>
          <a:lstStyle/>
          <a:p>
            <a:pPr algn="l">
              <a:lnSpc>
                <a:spcPct val="125000"/>
              </a:lnSpc>
              <a:spcAft>
                <a:spcPts val="0"/>
              </a:spcAft>
            </a:pPr>
            <a:r>
              <a:rPr sz="950" b="0" i="0" spc="140">
                <a:solidFill>
                  <a:srgbClr val="B45309"/>
                </a:solidFill>
                <a:latin typeface="Consolas"/>
              </a:rPr>
              <a:t>WHY THIS MATTERS</a:t>
            </a:r>
          </a:p>
        </p:txBody>
      </p:sp>
      <p:sp>
        <p:nvSpPr>
          <p:cNvPr id="28" name="TextBox 27"/>
          <p:cNvSpPr txBox="1"/>
          <p:nvPr/>
        </p:nvSpPr>
        <p:spPr>
          <a:xfrm>
            <a:off x="1097280" y="5193792"/>
            <a:ext cx="9875520" cy="731520"/>
          </a:xfrm>
          <a:prstGeom prst="rect">
            <a:avLst/>
          </a:prstGeom>
          <a:noFill/>
        </p:spPr>
        <p:txBody>
          <a:bodyPr wrap="square" anchor="t" lIns="0" rIns="0" tIns="0" bIns="0">
            <a:spAutoFit/>
          </a:bodyPr>
          <a:lstStyle/>
          <a:p>
            <a:pPr algn="l">
              <a:lnSpc>
                <a:spcPct val="135000"/>
              </a:lnSpc>
              <a:spcAft>
                <a:spcPts val="0"/>
              </a:spcAft>
            </a:pPr>
            <a:r>
              <a:rPr sz="1400" b="0" i="1">
                <a:solidFill>
                  <a:srgbClr val="FAF8F4"/>
                </a:solidFill>
                <a:latin typeface="Georgia"/>
              </a:rPr>
              <a:t>It proves the segmentation is a live system, not a one-off report. The fitted scaler, K-Means and logistic-regression models are held in memory and applied to new behaviour as it arrives — which is exactly how this would run in production.</a:t>
            </a:r>
          </a:p>
        </p:txBody>
      </p:sp>
      <p:cxnSp>
        <p:nvCxnSpPr>
          <p:cNvPr id="29" name="Connector 28"/>
          <p:cNvCxnSpPr/>
          <p:nvPr/>
        </p:nvCxnSpPr>
        <p:spPr>
          <a:xfrm>
            <a:off x="777240" y="6291072"/>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777240" y="6400800"/>
            <a:ext cx="6400800" cy="228600"/>
          </a:xfrm>
          <a:prstGeom prst="rect">
            <a:avLst/>
          </a:prstGeom>
          <a:noFill/>
        </p:spPr>
        <p:txBody>
          <a:bodyPr wrap="square" anchor="t" lIns="0" rIns="0" tIns="0" bIns="0">
            <a:spAutoFit/>
          </a:bodyPr>
          <a:lstStyle/>
          <a:p>
            <a:pPr algn="l">
              <a:lnSpc>
                <a:spcPct val="125000"/>
              </a:lnSpc>
              <a:spcAft>
                <a:spcPts val="0"/>
              </a:spcAft>
            </a:pPr>
            <a:r>
              <a:rPr sz="850" b="0" i="0" spc="120">
                <a:solidFill>
                  <a:srgbClr val="6B6B6B"/>
                </a:solidFill>
                <a:latin typeface="Consolas"/>
              </a:rPr>
              <a:t>CUSTOMER SEGMENTATION FOR TARGETED E-COMMERCE MARKETING</a:t>
            </a:r>
          </a:p>
        </p:txBody>
      </p:sp>
      <p:sp>
        <p:nvSpPr>
          <p:cNvPr id="31" name="TextBox 30"/>
          <p:cNvSpPr txBox="1"/>
          <p:nvPr/>
        </p:nvSpPr>
        <p:spPr>
          <a:xfrm>
            <a:off x="9585655" y="6400800"/>
            <a:ext cx="1828800" cy="228600"/>
          </a:xfrm>
          <a:prstGeom prst="rect">
            <a:avLst/>
          </a:prstGeom>
          <a:noFill/>
        </p:spPr>
        <p:txBody>
          <a:bodyPr wrap="square" anchor="t" lIns="0" rIns="0" tIns="0" bIns="0">
            <a:spAutoFit/>
          </a:bodyPr>
          <a:lstStyle/>
          <a:p>
            <a:pPr algn="r">
              <a:lnSpc>
                <a:spcPct val="125000"/>
              </a:lnSpc>
              <a:spcAft>
                <a:spcPts val="0"/>
              </a:spcAft>
            </a:pPr>
            <a:r>
              <a:rPr sz="850" b="0" i="0" spc="120">
                <a:solidFill>
                  <a:srgbClr val="6B6B6B"/>
                </a:solidFill>
                <a:latin typeface="Consolas"/>
              </a:rPr>
              <a:t>22 / 27</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77240" y="566928"/>
            <a:ext cx="10637215" cy="274320"/>
          </a:xfrm>
          <a:prstGeom prst="rect">
            <a:avLst/>
          </a:prstGeom>
          <a:noFill/>
        </p:spPr>
        <p:txBody>
          <a:bodyPr wrap="none" lIns="0" rIns="0" tIns="0" bIns="0">
            <a:spAutoFit/>
          </a:bodyPr>
          <a:lstStyle/>
          <a:p>
            <a:r>
              <a:rPr sz="1050" b="1" spc="200">
                <a:solidFill>
                  <a:srgbClr val="B45309"/>
                </a:solidFill>
                <a:latin typeface="Consolas"/>
              </a:rPr>
              <a:t>06  </a:t>
            </a:r>
            <a:r>
              <a:rPr sz="1050" spc="200">
                <a:solidFill>
                  <a:srgbClr val="6B6B6B"/>
                </a:solidFill>
                <a:latin typeface="Consolas"/>
              </a:rPr>
              <a:t>LIMITATIONS</a:t>
            </a:r>
            <a:r>
              <a:rPr sz="1050" spc="200">
                <a:solidFill>
                  <a:srgbClr val="6B6B6B"/>
                </a:solidFill>
                <a:latin typeface="Consolas"/>
              </a:rPr>
              <a:t>   ·   STATED UP FRONT</a:t>
            </a:r>
          </a:p>
        </p:txBody>
      </p:sp>
      <p:sp>
        <p:nvSpPr>
          <p:cNvPr id="4" name="TextBox 3"/>
          <p:cNvSpPr txBox="1"/>
          <p:nvPr/>
        </p:nvSpPr>
        <p:spPr>
          <a:xfrm>
            <a:off x="777240" y="932688"/>
            <a:ext cx="10637215" cy="685800"/>
          </a:xfrm>
          <a:prstGeom prst="rect">
            <a:avLst/>
          </a:prstGeom>
          <a:noFill/>
        </p:spPr>
        <p:txBody>
          <a:bodyPr wrap="square" anchor="t" lIns="0" rIns="0" tIns="0" bIns="0">
            <a:spAutoFit/>
          </a:bodyPr>
          <a:lstStyle/>
          <a:p>
            <a:pPr algn="l">
              <a:lnSpc>
                <a:spcPct val="100000"/>
              </a:lnSpc>
              <a:spcAft>
                <a:spcPts val="0"/>
              </a:spcAft>
            </a:pPr>
            <a:r>
              <a:rPr sz="3200" b="0" i="0">
                <a:solidFill>
                  <a:srgbClr val="1A1A1A"/>
                </a:solidFill>
                <a:latin typeface="Georgia"/>
              </a:rPr>
              <a:t>What this project does not do</a:t>
            </a:r>
          </a:p>
        </p:txBody>
      </p:sp>
      <p:cxnSp>
        <p:nvCxnSpPr>
          <p:cNvPr id="5" name="Connector 4"/>
          <p:cNvCxnSpPr/>
          <p:nvPr/>
        </p:nvCxnSpPr>
        <p:spPr>
          <a:xfrm>
            <a:off x="777240" y="1664208"/>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77240" y="2029968"/>
            <a:ext cx="457200" cy="274320"/>
          </a:xfrm>
          <a:prstGeom prst="rect">
            <a:avLst/>
          </a:prstGeom>
          <a:noFill/>
        </p:spPr>
        <p:txBody>
          <a:bodyPr wrap="square" anchor="t" lIns="0" rIns="0" tIns="0" bIns="0">
            <a:spAutoFit/>
          </a:bodyPr>
          <a:lstStyle/>
          <a:p>
            <a:pPr algn="l">
              <a:lnSpc>
                <a:spcPct val="125000"/>
              </a:lnSpc>
              <a:spcAft>
                <a:spcPts val="0"/>
              </a:spcAft>
            </a:pPr>
            <a:r>
              <a:rPr sz="1200" b="1" i="0">
                <a:solidFill>
                  <a:srgbClr val="B91C1C"/>
                </a:solidFill>
                <a:latin typeface="Consolas"/>
              </a:rPr>
              <a:t>01</a:t>
            </a:r>
          </a:p>
        </p:txBody>
      </p:sp>
      <p:sp>
        <p:nvSpPr>
          <p:cNvPr id="7" name="TextBox 6"/>
          <p:cNvSpPr txBox="1"/>
          <p:nvPr/>
        </p:nvSpPr>
        <p:spPr>
          <a:xfrm>
            <a:off x="1344168" y="1993392"/>
            <a:ext cx="4114800" cy="548640"/>
          </a:xfrm>
          <a:prstGeom prst="rect">
            <a:avLst/>
          </a:prstGeom>
          <a:noFill/>
        </p:spPr>
        <p:txBody>
          <a:bodyPr wrap="square" anchor="t" lIns="0" rIns="0" tIns="0" bIns="0">
            <a:spAutoFit/>
          </a:bodyPr>
          <a:lstStyle/>
          <a:p>
            <a:pPr algn="l">
              <a:lnSpc>
                <a:spcPct val="115000"/>
              </a:lnSpc>
              <a:spcAft>
                <a:spcPts val="0"/>
              </a:spcAft>
            </a:pPr>
            <a:r>
              <a:rPr sz="1550" b="0" i="0">
                <a:solidFill>
                  <a:srgbClr val="1A1A1A"/>
                </a:solidFill>
                <a:latin typeface="Georgia"/>
              </a:rPr>
              <a:t>The churn label leaks its own input</a:t>
            </a:r>
          </a:p>
        </p:txBody>
      </p:sp>
      <p:sp>
        <p:nvSpPr>
          <p:cNvPr id="8" name="TextBox 7"/>
          <p:cNvSpPr txBox="1"/>
          <p:nvPr/>
        </p:nvSpPr>
        <p:spPr>
          <a:xfrm>
            <a:off x="5715000" y="2011680"/>
            <a:ext cx="5623560" cy="640080"/>
          </a:xfrm>
          <a:prstGeom prst="rect">
            <a:avLst/>
          </a:prstGeom>
          <a:noFill/>
        </p:spPr>
        <p:txBody>
          <a:bodyPr wrap="square" anchor="t" lIns="0" rIns="0" tIns="0" bIns="0">
            <a:spAutoFit/>
          </a:bodyPr>
          <a:lstStyle/>
          <a:p>
            <a:pPr algn="l">
              <a:lnSpc>
                <a:spcPct val="130000"/>
              </a:lnSpc>
              <a:spcAft>
                <a:spcPts val="0"/>
              </a:spcAft>
            </a:pPr>
            <a:r>
              <a:rPr sz="1250" b="0" i="0">
                <a:solidFill>
                  <a:srgbClr val="6B6B6B"/>
                </a:solidFill>
                <a:latin typeface="Calibri"/>
              </a:rPr>
              <a:t>Churn is defined from Recency, which is also a feature, so the reported 100% accuracy measures label construction rather than predictive power.</a:t>
            </a:r>
          </a:p>
        </p:txBody>
      </p:sp>
      <p:cxnSp>
        <p:nvCxnSpPr>
          <p:cNvPr id="9" name="Connector 8"/>
          <p:cNvCxnSpPr/>
          <p:nvPr/>
        </p:nvCxnSpPr>
        <p:spPr>
          <a:xfrm>
            <a:off x="777240" y="2688336"/>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77240" y="2852928"/>
            <a:ext cx="457200" cy="274320"/>
          </a:xfrm>
          <a:prstGeom prst="rect">
            <a:avLst/>
          </a:prstGeom>
          <a:noFill/>
        </p:spPr>
        <p:txBody>
          <a:bodyPr wrap="square" anchor="t" lIns="0" rIns="0" tIns="0" bIns="0">
            <a:spAutoFit/>
          </a:bodyPr>
          <a:lstStyle/>
          <a:p>
            <a:pPr algn="l">
              <a:lnSpc>
                <a:spcPct val="125000"/>
              </a:lnSpc>
              <a:spcAft>
                <a:spcPts val="0"/>
              </a:spcAft>
            </a:pPr>
            <a:r>
              <a:rPr sz="1200" b="1" i="0">
                <a:solidFill>
                  <a:srgbClr val="B91C1C"/>
                </a:solidFill>
                <a:latin typeface="Consolas"/>
              </a:rPr>
              <a:t>02</a:t>
            </a:r>
          </a:p>
        </p:txBody>
      </p:sp>
      <p:sp>
        <p:nvSpPr>
          <p:cNvPr id="11" name="TextBox 10"/>
          <p:cNvSpPr txBox="1"/>
          <p:nvPr/>
        </p:nvSpPr>
        <p:spPr>
          <a:xfrm>
            <a:off x="1344168" y="2816352"/>
            <a:ext cx="4114800" cy="548640"/>
          </a:xfrm>
          <a:prstGeom prst="rect">
            <a:avLst/>
          </a:prstGeom>
          <a:noFill/>
        </p:spPr>
        <p:txBody>
          <a:bodyPr wrap="square" anchor="t" lIns="0" rIns="0" tIns="0" bIns="0">
            <a:spAutoFit/>
          </a:bodyPr>
          <a:lstStyle/>
          <a:p>
            <a:pPr algn="l">
              <a:lnSpc>
                <a:spcPct val="115000"/>
              </a:lnSpc>
              <a:spcAft>
                <a:spcPts val="0"/>
              </a:spcAft>
            </a:pPr>
            <a:r>
              <a:rPr sz="1550" b="0" i="0">
                <a:solidFill>
                  <a:srgbClr val="1A1A1A"/>
                </a:solidFill>
                <a:latin typeface="Georgia"/>
              </a:rPr>
              <a:t>A quarter of the data was discarded</a:t>
            </a:r>
          </a:p>
        </p:txBody>
      </p:sp>
      <p:sp>
        <p:nvSpPr>
          <p:cNvPr id="12" name="TextBox 11"/>
          <p:cNvSpPr txBox="1"/>
          <p:nvPr/>
        </p:nvSpPr>
        <p:spPr>
          <a:xfrm>
            <a:off x="5715000" y="2834640"/>
            <a:ext cx="5623560" cy="640080"/>
          </a:xfrm>
          <a:prstGeom prst="rect">
            <a:avLst/>
          </a:prstGeom>
          <a:noFill/>
        </p:spPr>
        <p:txBody>
          <a:bodyPr wrap="square" anchor="t" lIns="0" rIns="0" tIns="0" bIns="0">
            <a:spAutoFit/>
          </a:bodyPr>
          <a:lstStyle/>
          <a:p>
            <a:pPr algn="l">
              <a:lnSpc>
                <a:spcPct val="130000"/>
              </a:lnSpc>
              <a:spcAft>
                <a:spcPts val="0"/>
              </a:spcAft>
            </a:pPr>
            <a:r>
              <a:rPr sz="1250" b="0" i="0">
                <a:solidFill>
                  <a:srgbClr val="6B6B6B"/>
                </a:solidFill>
                <a:latin typeface="Calibri"/>
              </a:rPr>
              <a:t>135,080 rows had no CustomerID. That is real revenue excluded from the analysis simply because it cannot be attributed to a person.</a:t>
            </a:r>
          </a:p>
        </p:txBody>
      </p:sp>
      <p:cxnSp>
        <p:nvCxnSpPr>
          <p:cNvPr id="13" name="Connector 12"/>
          <p:cNvCxnSpPr/>
          <p:nvPr/>
        </p:nvCxnSpPr>
        <p:spPr>
          <a:xfrm>
            <a:off x="777240" y="3511296"/>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77240" y="3675888"/>
            <a:ext cx="457200" cy="274320"/>
          </a:xfrm>
          <a:prstGeom prst="rect">
            <a:avLst/>
          </a:prstGeom>
          <a:noFill/>
        </p:spPr>
        <p:txBody>
          <a:bodyPr wrap="square" anchor="t" lIns="0" rIns="0" tIns="0" bIns="0">
            <a:spAutoFit/>
          </a:bodyPr>
          <a:lstStyle/>
          <a:p>
            <a:pPr algn="l">
              <a:lnSpc>
                <a:spcPct val="125000"/>
              </a:lnSpc>
              <a:spcAft>
                <a:spcPts val="0"/>
              </a:spcAft>
            </a:pPr>
            <a:r>
              <a:rPr sz="1200" b="1" i="0">
                <a:solidFill>
                  <a:srgbClr val="B91C1C"/>
                </a:solidFill>
                <a:latin typeface="Consolas"/>
              </a:rPr>
              <a:t>03</a:t>
            </a:r>
          </a:p>
        </p:txBody>
      </p:sp>
      <p:sp>
        <p:nvSpPr>
          <p:cNvPr id="15" name="TextBox 14"/>
          <p:cNvSpPr txBox="1"/>
          <p:nvPr/>
        </p:nvSpPr>
        <p:spPr>
          <a:xfrm>
            <a:off x="1344168" y="3639312"/>
            <a:ext cx="4114800" cy="548640"/>
          </a:xfrm>
          <a:prstGeom prst="rect">
            <a:avLst/>
          </a:prstGeom>
          <a:noFill/>
        </p:spPr>
        <p:txBody>
          <a:bodyPr wrap="square" anchor="t" lIns="0" rIns="0" tIns="0" bIns="0">
            <a:spAutoFit/>
          </a:bodyPr>
          <a:lstStyle/>
          <a:p>
            <a:pPr algn="l">
              <a:lnSpc>
                <a:spcPct val="115000"/>
              </a:lnSpc>
              <a:spcAft>
                <a:spcPts val="0"/>
              </a:spcAft>
            </a:pPr>
            <a:r>
              <a:rPr sz="1550" b="0" i="0">
                <a:solidFill>
                  <a:srgbClr val="1A1A1A"/>
                </a:solidFill>
                <a:latin typeface="Georgia"/>
              </a:rPr>
              <a:t>K = 4 overrides the silhouette score</a:t>
            </a:r>
          </a:p>
        </p:txBody>
      </p:sp>
      <p:sp>
        <p:nvSpPr>
          <p:cNvPr id="16" name="TextBox 15"/>
          <p:cNvSpPr txBox="1"/>
          <p:nvPr/>
        </p:nvSpPr>
        <p:spPr>
          <a:xfrm>
            <a:off x="5715000" y="3657600"/>
            <a:ext cx="5623560" cy="640080"/>
          </a:xfrm>
          <a:prstGeom prst="rect">
            <a:avLst/>
          </a:prstGeom>
          <a:noFill/>
        </p:spPr>
        <p:txBody>
          <a:bodyPr wrap="square" anchor="t" lIns="0" rIns="0" tIns="0" bIns="0">
            <a:spAutoFit/>
          </a:bodyPr>
          <a:lstStyle/>
          <a:p>
            <a:pPr algn="l">
              <a:lnSpc>
                <a:spcPct val="130000"/>
              </a:lnSpc>
              <a:spcAft>
                <a:spcPts val="0"/>
              </a:spcAft>
            </a:pPr>
            <a:r>
              <a:rPr sz="1250" b="0" i="0">
                <a:solidFill>
                  <a:srgbClr val="6B6B6B"/>
                </a:solidFill>
                <a:latin typeface="Calibri"/>
              </a:rPr>
              <a:t>Silhouette prefers K = 2 (0.432 vs 0.337). We chose K = 4 for business interpretability — defensible, but a judgement call.</a:t>
            </a:r>
          </a:p>
        </p:txBody>
      </p:sp>
      <p:cxnSp>
        <p:nvCxnSpPr>
          <p:cNvPr id="17" name="Connector 16"/>
          <p:cNvCxnSpPr/>
          <p:nvPr/>
        </p:nvCxnSpPr>
        <p:spPr>
          <a:xfrm>
            <a:off x="777240" y="4334256"/>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77240" y="4498848"/>
            <a:ext cx="457200" cy="274320"/>
          </a:xfrm>
          <a:prstGeom prst="rect">
            <a:avLst/>
          </a:prstGeom>
          <a:noFill/>
        </p:spPr>
        <p:txBody>
          <a:bodyPr wrap="square" anchor="t" lIns="0" rIns="0" tIns="0" bIns="0">
            <a:spAutoFit/>
          </a:bodyPr>
          <a:lstStyle/>
          <a:p>
            <a:pPr algn="l">
              <a:lnSpc>
                <a:spcPct val="125000"/>
              </a:lnSpc>
              <a:spcAft>
                <a:spcPts val="0"/>
              </a:spcAft>
            </a:pPr>
            <a:r>
              <a:rPr sz="1200" b="1" i="0">
                <a:solidFill>
                  <a:srgbClr val="B91C1C"/>
                </a:solidFill>
                <a:latin typeface="Consolas"/>
              </a:rPr>
              <a:t>04</a:t>
            </a:r>
          </a:p>
        </p:txBody>
      </p:sp>
      <p:sp>
        <p:nvSpPr>
          <p:cNvPr id="19" name="TextBox 18"/>
          <p:cNvSpPr txBox="1"/>
          <p:nvPr/>
        </p:nvSpPr>
        <p:spPr>
          <a:xfrm>
            <a:off x="1344168" y="4462272"/>
            <a:ext cx="4114800" cy="548640"/>
          </a:xfrm>
          <a:prstGeom prst="rect">
            <a:avLst/>
          </a:prstGeom>
          <a:noFill/>
        </p:spPr>
        <p:txBody>
          <a:bodyPr wrap="square" anchor="t" lIns="0" rIns="0" tIns="0" bIns="0">
            <a:spAutoFit/>
          </a:bodyPr>
          <a:lstStyle/>
          <a:p>
            <a:pPr algn="l">
              <a:lnSpc>
                <a:spcPct val="115000"/>
              </a:lnSpc>
              <a:spcAft>
                <a:spcPts val="0"/>
              </a:spcAft>
            </a:pPr>
            <a:r>
              <a:rPr sz="1550" b="0" i="0">
                <a:solidFill>
                  <a:srgbClr val="1A1A1A"/>
                </a:solidFill>
                <a:latin typeface="Georgia"/>
              </a:rPr>
              <a:t>RFM ignores what customers buy</a:t>
            </a:r>
          </a:p>
        </p:txBody>
      </p:sp>
      <p:sp>
        <p:nvSpPr>
          <p:cNvPr id="20" name="TextBox 19"/>
          <p:cNvSpPr txBox="1"/>
          <p:nvPr/>
        </p:nvSpPr>
        <p:spPr>
          <a:xfrm>
            <a:off x="5715000" y="4480560"/>
            <a:ext cx="5623560" cy="640080"/>
          </a:xfrm>
          <a:prstGeom prst="rect">
            <a:avLst/>
          </a:prstGeom>
          <a:noFill/>
        </p:spPr>
        <p:txBody>
          <a:bodyPr wrap="square" anchor="t" lIns="0" rIns="0" tIns="0" bIns="0">
            <a:spAutoFit/>
          </a:bodyPr>
          <a:lstStyle/>
          <a:p>
            <a:pPr algn="l">
              <a:lnSpc>
                <a:spcPct val="130000"/>
              </a:lnSpc>
              <a:spcAft>
                <a:spcPts val="0"/>
              </a:spcAft>
            </a:pPr>
            <a:r>
              <a:rPr sz="1250" b="0" i="0">
                <a:solidFill>
                  <a:srgbClr val="6B6B6B"/>
                </a:solidFill>
                <a:latin typeface="Calibri"/>
              </a:rPr>
              <a:t>Only how recently, how often and how much. Two customers with identical RFM but completely different baskets are treated as identical.</a:t>
            </a:r>
          </a:p>
        </p:txBody>
      </p:sp>
      <p:cxnSp>
        <p:nvCxnSpPr>
          <p:cNvPr id="21" name="Connector 20"/>
          <p:cNvCxnSpPr/>
          <p:nvPr/>
        </p:nvCxnSpPr>
        <p:spPr>
          <a:xfrm>
            <a:off x="777240" y="5157216"/>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777240" y="5321808"/>
            <a:ext cx="457200" cy="274320"/>
          </a:xfrm>
          <a:prstGeom prst="rect">
            <a:avLst/>
          </a:prstGeom>
          <a:noFill/>
        </p:spPr>
        <p:txBody>
          <a:bodyPr wrap="square" anchor="t" lIns="0" rIns="0" tIns="0" bIns="0">
            <a:spAutoFit/>
          </a:bodyPr>
          <a:lstStyle/>
          <a:p>
            <a:pPr algn="l">
              <a:lnSpc>
                <a:spcPct val="125000"/>
              </a:lnSpc>
              <a:spcAft>
                <a:spcPts val="0"/>
              </a:spcAft>
            </a:pPr>
            <a:r>
              <a:rPr sz="1200" b="1" i="0">
                <a:solidFill>
                  <a:srgbClr val="B91C1C"/>
                </a:solidFill>
                <a:latin typeface="Consolas"/>
              </a:rPr>
              <a:t>05</a:t>
            </a:r>
          </a:p>
        </p:txBody>
      </p:sp>
      <p:sp>
        <p:nvSpPr>
          <p:cNvPr id="23" name="TextBox 22"/>
          <p:cNvSpPr txBox="1"/>
          <p:nvPr/>
        </p:nvSpPr>
        <p:spPr>
          <a:xfrm>
            <a:off x="1344168" y="5285232"/>
            <a:ext cx="4114800" cy="548640"/>
          </a:xfrm>
          <a:prstGeom prst="rect">
            <a:avLst/>
          </a:prstGeom>
          <a:noFill/>
        </p:spPr>
        <p:txBody>
          <a:bodyPr wrap="square" anchor="t" lIns="0" rIns="0" tIns="0" bIns="0">
            <a:spAutoFit/>
          </a:bodyPr>
          <a:lstStyle/>
          <a:p>
            <a:pPr algn="l">
              <a:lnSpc>
                <a:spcPct val="115000"/>
              </a:lnSpc>
              <a:spcAft>
                <a:spcPts val="0"/>
              </a:spcAft>
            </a:pPr>
            <a:r>
              <a:rPr sz="1550" b="0" i="0">
                <a:solidFill>
                  <a:srgbClr val="1A1A1A"/>
                </a:solidFill>
                <a:latin typeface="Georgia"/>
              </a:rPr>
              <a:t>The saving is modelled, not measured</a:t>
            </a:r>
          </a:p>
        </p:txBody>
      </p:sp>
      <p:sp>
        <p:nvSpPr>
          <p:cNvPr id="24" name="TextBox 23"/>
          <p:cNvSpPr txBox="1"/>
          <p:nvPr/>
        </p:nvSpPr>
        <p:spPr>
          <a:xfrm>
            <a:off x="5715000" y="5303520"/>
            <a:ext cx="5623560" cy="640080"/>
          </a:xfrm>
          <a:prstGeom prst="rect">
            <a:avLst/>
          </a:prstGeom>
          <a:noFill/>
        </p:spPr>
        <p:txBody>
          <a:bodyPr wrap="square" anchor="t" lIns="0" rIns="0" tIns="0" bIns="0">
            <a:spAutoFit/>
          </a:bodyPr>
          <a:lstStyle/>
          <a:p>
            <a:pPr algn="l">
              <a:lnSpc>
                <a:spcPct val="130000"/>
              </a:lnSpc>
              <a:spcAft>
                <a:spcPts val="0"/>
              </a:spcAft>
            </a:pPr>
            <a:r>
              <a:rPr sz="1250" b="0" i="0">
                <a:solidFill>
                  <a:srgbClr val="6B6B6B"/>
                </a:solidFill>
                <a:latin typeface="Calibri"/>
              </a:rPr>
              <a:t>The 56% figure is arithmetic over real segment sizes. Proving campaign uplift needs an A/B test against a randomised holdout group.</a:t>
            </a:r>
          </a:p>
        </p:txBody>
      </p:sp>
      <p:cxnSp>
        <p:nvCxnSpPr>
          <p:cNvPr id="25" name="Connector 24"/>
          <p:cNvCxnSpPr/>
          <p:nvPr/>
        </p:nvCxnSpPr>
        <p:spPr>
          <a:xfrm>
            <a:off x="777240" y="6291072"/>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777240" y="6400800"/>
            <a:ext cx="6400800" cy="228600"/>
          </a:xfrm>
          <a:prstGeom prst="rect">
            <a:avLst/>
          </a:prstGeom>
          <a:noFill/>
        </p:spPr>
        <p:txBody>
          <a:bodyPr wrap="square" anchor="t" lIns="0" rIns="0" tIns="0" bIns="0">
            <a:spAutoFit/>
          </a:bodyPr>
          <a:lstStyle/>
          <a:p>
            <a:pPr algn="l">
              <a:lnSpc>
                <a:spcPct val="125000"/>
              </a:lnSpc>
              <a:spcAft>
                <a:spcPts val="0"/>
              </a:spcAft>
            </a:pPr>
            <a:r>
              <a:rPr sz="850" b="0" i="0" spc="120">
                <a:solidFill>
                  <a:srgbClr val="6B6B6B"/>
                </a:solidFill>
                <a:latin typeface="Consolas"/>
              </a:rPr>
              <a:t>CUSTOMER SEGMENTATION FOR TARGETED E-COMMERCE MARKETING</a:t>
            </a:r>
          </a:p>
        </p:txBody>
      </p:sp>
      <p:sp>
        <p:nvSpPr>
          <p:cNvPr id="27" name="TextBox 26"/>
          <p:cNvSpPr txBox="1"/>
          <p:nvPr/>
        </p:nvSpPr>
        <p:spPr>
          <a:xfrm>
            <a:off x="9585655" y="6400800"/>
            <a:ext cx="1828800" cy="228600"/>
          </a:xfrm>
          <a:prstGeom prst="rect">
            <a:avLst/>
          </a:prstGeom>
          <a:noFill/>
        </p:spPr>
        <p:txBody>
          <a:bodyPr wrap="square" anchor="t" lIns="0" rIns="0" tIns="0" bIns="0">
            <a:spAutoFit/>
          </a:bodyPr>
          <a:lstStyle/>
          <a:p>
            <a:pPr algn="r">
              <a:lnSpc>
                <a:spcPct val="125000"/>
              </a:lnSpc>
              <a:spcAft>
                <a:spcPts val="0"/>
              </a:spcAft>
            </a:pPr>
            <a:r>
              <a:rPr sz="850" b="0" i="0" spc="120">
                <a:solidFill>
                  <a:srgbClr val="6B6B6B"/>
                </a:solidFill>
                <a:latin typeface="Consolas"/>
              </a:rPr>
              <a:t>23 / 27</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77240" y="566928"/>
            <a:ext cx="10637215" cy="274320"/>
          </a:xfrm>
          <a:prstGeom prst="rect">
            <a:avLst/>
          </a:prstGeom>
          <a:noFill/>
        </p:spPr>
        <p:txBody>
          <a:bodyPr wrap="none" lIns="0" rIns="0" tIns="0" bIns="0">
            <a:spAutoFit/>
          </a:bodyPr>
          <a:lstStyle/>
          <a:p>
            <a:r>
              <a:rPr sz="1050" b="1" spc="200">
                <a:solidFill>
                  <a:srgbClr val="B45309"/>
                </a:solidFill>
                <a:latin typeface="Consolas"/>
              </a:rPr>
              <a:t>06  </a:t>
            </a:r>
            <a:r>
              <a:rPr sz="1050" spc="200">
                <a:solidFill>
                  <a:srgbClr val="6B6B6B"/>
                </a:solidFill>
                <a:latin typeface="Consolas"/>
              </a:rPr>
              <a:t>FUTURE WORK</a:t>
            </a:r>
            <a:r>
              <a:rPr sz="1050" spc="200">
                <a:solidFill>
                  <a:srgbClr val="6B6B6B"/>
                </a:solidFill>
                <a:latin typeface="Consolas"/>
              </a:rPr>
              <a:t>   ·   IN PRIORITY ORDER</a:t>
            </a:r>
          </a:p>
        </p:txBody>
      </p:sp>
      <p:sp>
        <p:nvSpPr>
          <p:cNvPr id="4" name="TextBox 3"/>
          <p:cNvSpPr txBox="1"/>
          <p:nvPr/>
        </p:nvSpPr>
        <p:spPr>
          <a:xfrm>
            <a:off x="777240" y="932688"/>
            <a:ext cx="10637215" cy="685800"/>
          </a:xfrm>
          <a:prstGeom prst="rect">
            <a:avLst/>
          </a:prstGeom>
          <a:noFill/>
        </p:spPr>
        <p:txBody>
          <a:bodyPr wrap="square" anchor="t" lIns="0" rIns="0" tIns="0" bIns="0">
            <a:spAutoFit/>
          </a:bodyPr>
          <a:lstStyle/>
          <a:p>
            <a:pPr algn="l">
              <a:lnSpc>
                <a:spcPct val="100000"/>
              </a:lnSpc>
              <a:spcAft>
                <a:spcPts val="0"/>
              </a:spcAft>
            </a:pPr>
            <a:r>
              <a:rPr sz="3200" b="0" i="0">
                <a:solidFill>
                  <a:srgbClr val="1A1A1A"/>
                </a:solidFill>
                <a:latin typeface="Georgia"/>
              </a:rPr>
              <a:t>Where this goes next</a:t>
            </a:r>
          </a:p>
        </p:txBody>
      </p:sp>
      <p:cxnSp>
        <p:nvCxnSpPr>
          <p:cNvPr id="5" name="Connector 4"/>
          <p:cNvCxnSpPr/>
          <p:nvPr/>
        </p:nvCxnSpPr>
        <p:spPr>
          <a:xfrm>
            <a:off x="777240" y="1664208"/>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984248"/>
            <a:ext cx="658368" cy="256032"/>
          </a:xfrm>
          <a:prstGeom prst="rect">
            <a:avLst/>
          </a:prstGeom>
          <a:noFill/>
          <a:ln w="952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77240" y="2016252"/>
            <a:ext cx="658368" cy="228600"/>
          </a:xfrm>
          <a:prstGeom prst="rect">
            <a:avLst/>
          </a:prstGeom>
          <a:noFill/>
        </p:spPr>
        <p:txBody>
          <a:bodyPr wrap="square" anchor="t" lIns="0" rIns="0" tIns="0" bIns="0">
            <a:spAutoFit/>
          </a:bodyPr>
          <a:lstStyle/>
          <a:p>
            <a:pPr algn="ctr">
              <a:lnSpc>
                <a:spcPct val="125000"/>
              </a:lnSpc>
              <a:spcAft>
                <a:spcPts val="0"/>
              </a:spcAft>
            </a:pPr>
            <a:r>
              <a:rPr sz="800" b="0" i="0" spc="90">
                <a:solidFill>
                  <a:srgbClr val="B45309"/>
                </a:solidFill>
                <a:latin typeface="Consolas"/>
              </a:rPr>
              <a:t>HIGH</a:t>
            </a:r>
          </a:p>
        </p:txBody>
      </p:sp>
      <p:sp>
        <p:nvSpPr>
          <p:cNvPr id="8" name="TextBox 7"/>
          <p:cNvSpPr txBox="1"/>
          <p:nvPr/>
        </p:nvSpPr>
        <p:spPr>
          <a:xfrm>
            <a:off x="1645920" y="1947672"/>
            <a:ext cx="3840480" cy="365760"/>
          </a:xfrm>
          <a:prstGeom prst="rect">
            <a:avLst/>
          </a:prstGeom>
          <a:noFill/>
        </p:spPr>
        <p:txBody>
          <a:bodyPr wrap="square" anchor="t" lIns="0" rIns="0" tIns="0" bIns="0">
            <a:spAutoFit/>
          </a:bodyPr>
          <a:lstStyle/>
          <a:p>
            <a:pPr algn="l">
              <a:lnSpc>
                <a:spcPct val="125000"/>
              </a:lnSpc>
              <a:spcAft>
                <a:spcPts val="0"/>
              </a:spcAft>
            </a:pPr>
            <a:r>
              <a:rPr sz="1500" b="0" i="0">
                <a:solidFill>
                  <a:srgbClr val="1A1A1A"/>
                </a:solidFill>
                <a:latin typeface="Georgia"/>
              </a:rPr>
              <a:t>Rebuild churn as a real forecast</a:t>
            </a:r>
          </a:p>
        </p:txBody>
      </p:sp>
      <p:sp>
        <p:nvSpPr>
          <p:cNvPr id="9" name="TextBox 8"/>
          <p:cNvSpPr txBox="1"/>
          <p:nvPr/>
        </p:nvSpPr>
        <p:spPr>
          <a:xfrm>
            <a:off x="5715000" y="1965960"/>
            <a:ext cx="5623560" cy="548640"/>
          </a:xfrm>
          <a:prstGeom prst="rect">
            <a:avLst/>
          </a:prstGeom>
          <a:noFill/>
        </p:spPr>
        <p:txBody>
          <a:bodyPr wrap="square" anchor="t" lIns="0" rIns="0" tIns="0" bIns="0">
            <a:spAutoFit/>
          </a:bodyPr>
          <a:lstStyle/>
          <a:p>
            <a:pPr algn="l">
              <a:lnSpc>
                <a:spcPct val="128000"/>
              </a:lnSpc>
              <a:spcAft>
                <a:spcPts val="0"/>
              </a:spcAft>
            </a:pPr>
            <a:r>
              <a:rPr sz="1200" b="0" i="0">
                <a:solidFill>
                  <a:srgbClr val="6B6B6B"/>
                </a:solidFill>
                <a:latin typeface="Calibri"/>
              </a:rPr>
              <a:t>Define the label on a forward window — did the customer purchase in the next 90 days — and train only on features observed before it, with Recency excluded.</a:t>
            </a:r>
          </a:p>
        </p:txBody>
      </p:sp>
      <p:cxnSp>
        <p:nvCxnSpPr>
          <p:cNvPr id="10" name="Connector 9"/>
          <p:cNvCxnSpPr/>
          <p:nvPr/>
        </p:nvCxnSpPr>
        <p:spPr>
          <a:xfrm>
            <a:off x="777240" y="2532888"/>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777240" y="2670048"/>
            <a:ext cx="658368" cy="256032"/>
          </a:xfrm>
          <a:prstGeom prst="rect">
            <a:avLst/>
          </a:prstGeom>
          <a:noFill/>
          <a:ln w="952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777240" y="2702052"/>
            <a:ext cx="658368" cy="228600"/>
          </a:xfrm>
          <a:prstGeom prst="rect">
            <a:avLst/>
          </a:prstGeom>
          <a:noFill/>
        </p:spPr>
        <p:txBody>
          <a:bodyPr wrap="square" anchor="t" lIns="0" rIns="0" tIns="0" bIns="0">
            <a:spAutoFit/>
          </a:bodyPr>
          <a:lstStyle/>
          <a:p>
            <a:pPr algn="ctr">
              <a:lnSpc>
                <a:spcPct val="125000"/>
              </a:lnSpc>
              <a:spcAft>
                <a:spcPts val="0"/>
              </a:spcAft>
            </a:pPr>
            <a:r>
              <a:rPr sz="800" b="0" i="0" spc="90">
                <a:solidFill>
                  <a:srgbClr val="B45309"/>
                </a:solidFill>
                <a:latin typeface="Consolas"/>
              </a:rPr>
              <a:t>HIGH</a:t>
            </a:r>
          </a:p>
        </p:txBody>
      </p:sp>
      <p:sp>
        <p:nvSpPr>
          <p:cNvPr id="13" name="TextBox 12"/>
          <p:cNvSpPr txBox="1"/>
          <p:nvPr/>
        </p:nvSpPr>
        <p:spPr>
          <a:xfrm>
            <a:off x="1645920" y="2633472"/>
            <a:ext cx="3840480" cy="365760"/>
          </a:xfrm>
          <a:prstGeom prst="rect">
            <a:avLst/>
          </a:prstGeom>
          <a:noFill/>
        </p:spPr>
        <p:txBody>
          <a:bodyPr wrap="square" anchor="t" lIns="0" rIns="0" tIns="0" bIns="0">
            <a:spAutoFit/>
          </a:bodyPr>
          <a:lstStyle/>
          <a:p>
            <a:pPr algn="l">
              <a:lnSpc>
                <a:spcPct val="125000"/>
              </a:lnSpc>
              <a:spcAft>
                <a:spcPts val="0"/>
              </a:spcAft>
            </a:pPr>
            <a:r>
              <a:rPr sz="1500" b="0" i="0">
                <a:solidFill>
                  <a:srgbClr val="1A1A1A"/>
                </a:solidFill>
                <a:latin typeface="Georgia"/>
              </a:rPr>
              <a:t>Measure uplift with an A/B test</a:t>
            </a:r>
          </a:p>
        </p:txBody>
      </p:sp>
      <p:sp>
        <p:nvSpPr>
          <p:cNvPr id="14" name="TextBox 13"/>
          <p:cNvSpPr txBox="1"/>
          <p:nvPr/>
        </p:nvSpPr>
        <p:spPr>
          <a:xfrm>
            <a:off x="5715000" y="2651760"/>
            <a:ext cx="5623560" cy="548640"/>
          </a:xfrm>
          <a:prstGeom prst="rect">
            <a:avLst/>
          </a:prstGeom>
          <a:noFill/>
        </p:spPr>
        <p:txBody>
          <a:bodyPr wrap="square" anchor="t" lIns="0" rIns="0" tIns="0" bIns="0">
            <a:spAutoFit/>
          </a:bodyPr>
          <a:lstStyle/>
          <a:p>
            <a:pPr algn="l">
              <a:lnSpc>
                <a:spcPct val="128000"/>
              </a:lnSpc>
              <a:spcAft>
                <a:spcPts val="0"/>
              </a:spcAft>
            </a:pPr>
            <a:r>
              <a:rPr sz="1200" b="0" i="0">
                <a:solidFill>
                  <a:srgbClr val="6B6B6B"/>
                </a:solidFill>
                <a:latin typeface="Calibri"/>
              </a:rPr>
              <a:t>Run the targeted campaign against a randomised holdout to convert the modelled cost saving into an evidenced revenue result.</a:t>
            </a:r>
          </a:p>
        </p:txBody>
      </p:sp>
      <p:cxnSp>
        <p:nvCxnSpPr>
          <p:cNvPr id="15" name="Connector 14"/>
          <p:cNvCxnSpPr/>
          <p:nvPr/>
        </p:nvCxnSpPr>
        <p:spPr>
          <a:xfrm>
            <a:off x="777240" y="3218688"/>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777240" y="3355848"/>
            <a:ext cx="658368" cy="256032"/>
          </a:xfrm>
          <a:prstGeom prst="rect">
            <a:avLst/>
          </a:prstGeom>
          <a:noFill/>
          <a:ln w="9525">
            <a:solidFill>
              <a:srgbClr val="6B6B6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777240" y="3387852"/>
            <a:ext cx="658368" cy="228600"/>
          </a:xfrm>
          <a:prstGeom prst="rect">
            <a:avLst/>
          </a:prstGeom>
          <a:noFill/>
        </p:spPr>
        <p:txBody>
          <a:bodyPr wrap="square" anchor="t" lIns="0" rIns="0" tIns="0" bIns="0">
            <a:spAutoFit/>
          </a:bodyPr>
          <a:lstStyle/>
          <a:p>
            <a:pPr algn="ctr">
              <a:lnSpc>
                <a:spcPct val="125000"/>
              </a:lnSpc>
              <a:spcAft>
                <a:spcPts val="0"/>
              </a:spcAft>
            </a:pPr>
            <a:r>
              <a:rPr sz="800" b="0" i="0" spc="90">
                <a:solidFill>
                  <a:srgbClr val="6B6B6B"/>
                </a:solidFill>
                <a:latin typeface="Consolas"/>
              </a:rPr>
              <a:t>MEDIUM</a:t>
            </a:r>
          </a:p>
        </p:txBody>
      </p:sp>
      <p:sp>
        <p:nvSpPr>
          <p:cNvPr id="18" name="TextBox 17"/>
          <p:cNvSpPr txBox="1"/>
          <p:nvPr/>
        </p:nvSpPr>
        <p:spPr>
          <a:xfrm>
            <a:off x="1645920" y="3319272"/>
            <a:ext cx="3840480" cy="365760"/>
          </a:xfrm>
          <a:prstGeom prst="rect">
            <a:avLst/>
          </a:prstGeom>
          <a:noFill/>
        </p:spPr>
        <p:txBody>
          <a:bodyPr wrap="square" anchor="t" lIns="0" rIns="0" tIns="0" bIns="0">
            <a:spAutoFit/>
          </a:bodyPr>
          <a:lstStyle/>
          <a:p>
            <a:pPr algn="l">
              <a:lnSpc>
                <a:spcPct val="125000"/>
              </a:lnSpc>
              <a:spcAft>
                <a:spcPts val="0"/>
              </a:spcAft>
            </a:pPr>
            <a:r>
              <a:rPr sz="1500" b="0" i="0">
                <a:solidFill>
                  <a:srgbClr val="1A1A1A"/>
                </a:solidFill>
                <a:latin typeface="Georgia"/>
              </a:rPr>
              <a:t>Add product-affinity features</a:t>
            </a:r>
          </a:p>
        </p:txBody>
      </p:sp>
      <p:sp>
        <p:nvSpPr>
          <p:cNvPr id="19" name="TextBox 18"/>
          <p:cNvSpPr txBox="1"/>
          <p:nvPr/>
        </p:nvSpPr>
        <p:spPr>
          <a:xfrm>
            <a:off x="5715000" y="3337560"/>
            <a:ext cx="5623560" cy="548640"/>
          </a:xfrm>
          <a:prstGeom prst="rect">
            <a:avLst/>
          </a:prstGeom>
          <a:noFill/>
        </p:spPr>
        <p:txBody>
          <a:bodyPr wrap="square" anchor="t" lIns="0" rIns="0" tIns="0" bIns="0">
            <a:spAutoFit/>
          </a:bodyPr>
          <a:lstStyle/>
          <a:p>
            <a:pPr algn="l">
              <a:lnSpc>
                <a:spcPct val="128000"/>
              </a:lnSpc>
              <a:spcAft>
                <a:spcPts val="0"/>
              </a:spcAft>
            </a:pPr>
            <a:r>
              <a:rPr sz="1200" b="0" i="0">
                <a:solidFill>
                  <a:srgbClr val="6B6B6B"/>
                </a:solidFill>
                <a:latin typeface="Calibri"/>
              </a:rPr>
              <a:t>Extend RFM with category mix and basket composition so segments capture what people buy, not only how much and how often.</a:t>
            </a:r>
          </a:p>
        </p:txBody>
      </p:sp>
      <p:cxnSp>
        <p:nvCxnSpPr>
          <p:cNvPr id="20" name="Connector 19"/>
          <p:cNvCxnSpPr/>
          <p:nvPr/>
        </p:nvCxnSpPr>
        <p:spPr>
          <a:xfrm>
            <a:off x="777240" y="3904488"/>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777240" y="4041648"/>
            <a:ext cx="658368" cy="256032"/>
          </a:xfrm>
          <a:prstGeom prst="rect">
            <a:avLst/>
          </a:prstGeom>
          <a:noFill/>
          <a:ln w="9525">
            <a:solidFill>
              <a:srgbClr val="6B6B6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77240" y="4073652"/>
            <a:ext cx="658368" cy="228600"/>
          </a:xfrm>
          <a:prstGeom prst="rect">
            <a:avLst/>
          </a:prstGeom>
          <a:noFill/>
        </p:spPr>
        <p:txBody>
          <a:bodyPr wrap="square" anchor="t" lIns="0" rIns="0" tIns="0" bIns="0">
            <a:spAutoFit/>
          </a:bodyPr>
          <a:lstStyle/>
          <a:p>
            <a:pPr algn="ctr">
              <a:lnSpc>
                <a:spcPct val="125000"/>
              </a:lnSpc>
              <a:spcAft>
                <a:spcPts val="0"/>
              </a:spcAft>
            </a:pPr>
            <a:r>
              <a:rPr sz="800" b="0" i="0" spc="90">
                <a:solidFill>
                  <a:srgbClr val="6B6B6B"/>
                </a:solidFill>
                <a:latin typeface="Consolas"/>
              </a:rPr>
              <a:t>MEDIUM</a:t>
            </a:r>
          </a:p>
        </p:txBody>
      </p:sp>
      <p:sp>
        <p:nvSpPr>
          <p:cNvPr id="23" name="TextBox 22"/>
          <p:cNvSpPr txBox="1"/>
          <p:nvPr/>
        </p:nvSpPr>
        <p:spPr>
          <a:xfrm>
            <a:off x="1645920" y="4005072"/>
            <a:ext cx="3840480" cy="365760"/>
          </a:xfrm>
          <a:prstGeom prst="rect">
            <a:avLst/>
          </a:prstGeom>
          <a:noFill/>
        </p:spPr>
        <p:txBody>
          <a:bodyPr wrap="square" anchor="t" lIns="0" rIns="0" tIns="0" bIns="0">
            <a:spAutoFit/>
          </a:bodyPr>
          <a:lstStyle/>
          <a:p>
            <a:pPr algn="l">
              <a:lnSpc>
                <a:spcPct val="125000"/>
              </a:lnSpc>
              <a:spcAft>
                <a:spcPts val="0"/>
              </a:spcAft>
            </a:pPr>
            <a:r>
              <a:rPr sz="1500" b="0" i="0">
                <a:solidFill>
                  <a:srgbClr val="1A1A1A"/>
                </a:solidFill>
                <a:latin typeface="Georgia"/>
              </a:rPr>
              <a:t>Benchmark alternative clustering</a:t>
            </a:r>
          </a:p>
        </p:txBody>
      </p:sp>
      <p:sp>
        <p:nvSpPr>
          <p:cNvPr id="24" name="TextBox 23"/>
          <p:cNvSpPr txBox="1"/>
          <p:nvPr/>
        </p:nvSpPr>
        <p:spPr>
          <a:xfrm>
            <a:off x="5715000" y="4023360"/>
            <a:ext cx="5623560" cy="548640"/>
          </a:xfrm>
          <a:prstGeom prst="rect">
            <a:avLst/>
          </a:prstGeom>
          <a:noFill/>
        </p:spPr>
        <p:txBody>
          <a:bodyPr wrap="square" anchor="t" lIns="0" rIns="0" tIns="0" bIns="0">
            <a:spAutoFit/>
          </a:bodyPr>
          <a:lstStyle/>
          <a:p>
            <a:pPr algn="l">
              <a:lnSpc>
                <a:spcPct val="128000"/>
              </a:lnSpc>
              <a:spcAft>
                <a:spcPts val="0"/>
              </a:spcAft>
            </a:pPr>
            <a:r>
              <a:rPr sz="1200" b="0" i="0">
                <a:solidFill>
                  <a:srgbClr val="6B6B6B"/>
                </a:solidFill>
                <a:latin typeface="Calibri"/>
              </a:rPr>
              <a:t>Evaluate DBSCAN and hierarchical clustering against K-Means, with Davies–Bouldin and Calinski–Harabasz alongside silhouette.</a:t>
            </a:r>
          </a:p>
        </p:txBody>
      </p:sp>
      <p:cxnSp>
        <p:nvCxnSpPr>
          <p:cNvPr id="25" name="Connector 24"/>
          <p:cNvCxnSpPr/>
          <p:nvPr/>
        </p:nvCxnSpPr>
        <p:spPr>
          <a:xfrm>
            <a:off x="777240" y="4590288"/>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777240" y="4727448"/>
            <a:ext cx="658368" cy="256032"/>
          </a:xfrm>
          <a:prstGeom prst="rect">
            <a:avLst/>
          </a:prstGeom>
          <a:noFill/>
          <a:ln w="9525">
            <a:solidFill>
              <a:srgbClr val="6B6B6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777240" y="4759452"/>
            <a:ext cx="658368" cy="228600"/>
          </a:xfrm>
          <a:prstGeom prst="rect">
            <a:avLst/>
          </a:prstGeom>
          <a:noFill/>
        </p:spPr>
        <p:txBody>
          <a:bodyPr wrap="square" anchor="t" lIns="0" rIns="0" tIns="0" bIns="0">
            <a:spAutoFit/>
          </a:bodyPr>
          <a:lstStyle/>
          <a:p>
            <a:pPr algn="ctr">
              <a:lnSpc>
                <a:spcPct val="125000"/>
              </a:lnSpc>
              <a:spcAft>
                <a:spcPts val="0"/>
              </a:spcAft>
            </a:pPr>
            <a:r>
              <a:rPr sz="800" b="0" i="0" spc="90">
                <a:solidFill>
                  <a:srgbClr val="6B6B6B"/>
                </a:solidFill>
                <a:latin typeface="Consolas"/>
              </a:rPr>
              <a:t>MEDIUM</a:t>
            </a:r>
          </a:p>
        </p:txBody>
      </p:sp>
      <p:sp>
        <p:nvSpPr>
          <p:cNvPr id="28" name="TextBox 27"/>
          <p:cNvSpPr txBox="1"/>
          <p:nvPr/>
        </p:nvSpPr>
        <p:spPr>
          <a:xfrm>
            <a:off x="1645920" y="4690872"/>
            <a:ext cx="3840480" cy="365760"/>
          </a:xfrm>
          <a:prstGeom prst="rect">
            <a:avLst/>
          </a:prstGeom>
          <a:noFill/>
        </p:spPr>
        <p:txBody>
          <a:bodyPr wrap="square" anchor="t" lIns="0" rIns="0" tIns="0" bIns="0">
            <a:spAutoFit/>
          </a:bodyPr>
          <a:lstStyle/>
          <a:p>
            <a:pPr algn="l">
              <a:lnSpc>
                <a:spcPct val="125000"/>
              </a:lnSpc>
              <a:spcAft>
                <a:spcPts val="0"/>
              </a:spcAft>
            </a:pPr>
            <a:r>
              <a:rPr sz="1500" b="0" i="0">
                <a:solidFill>
                  <a:srgbClr val="1A1A1A"/>
                </a:solidFill>
                <a:latin typeface="Georgia"/>
              </a:rPr>
              <a:t>Model customer lifetime value</a:t>
            </a:r>
          </a:p>
        </p:txBody>
      </p:sp>
      <p:sp>
        <p:nvSpPr>
          <p:cNvPr id="29" name="TextBox 28"/>
          <p:cNvSpPr txBox="1"/>
          <p:nvPr/>
        </p:nvSpPr>
        <p:spPr>
          <a:xfrm>
            <a:off x="5715000" y="4709160"/>
            <a:ext cx="5623560" cy="548640"/>
          </a:xfrm>
          <a:prstGeom prst="rect">
            <a:avLst/>
          </a:prstGeom>
          <a:noFill/>
        </p:spPr>
        <p:txBody>
          <a:bodyPr wrap="square" anchor="t" lIns="0" rIns="0" tIns="0" bIns="0">
            <a:spAutoFit/>
          </a:bodyPr>
          <a:lstStyle/>
          <a:p>
            <a:pPr algn="l">
              <a:lnSpc>
                <a:spcPct val="128000"/>
              </a:lnSpc>
              <a:spcAft>
                <a:spcPts val="0"/>
              </a:spcAft>
            </a:pPr>
            <a:r>
              <a:rPr sz="1200" b="0" i="0">
                <a:solidFill>
                  <a:srgbClr val="6B6B6B"/>
                </a:solidFill>
                <a:latin typeface="Calibri"/>
              </a:rPr>
              <a:t>Move from historical spend to predicted future value so segments can be prioritised by what they will be worth.</a:t>
            </a:r>
          </a:p>
        </p:txBody>
      </p:sp>
      <p:cxnSp>
        <p:nvCxnSpPr>
          <p:cNvPr id="30" name="Connector 29"/>
          <p:cNvCxnSpPr/>
          <p:nvPr/>
        </p:nvCxnSpPr>
        <p:spPr>
          <a:xfrm>
            <a:off x="777240" y="5276088"/>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777240" y="5413248"/>
            <a:ext cx="658368" cy="256032"/>
          </a:xfrm>
          <a:prstGeom prst="rect">
            <a:avLst/>
          </a:prstGeom>
          <a:noFill/>
          <a:ln w="9525">
            <a:solidFill>
              <a:srgbClr val="6B6B6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777240" y="5445252"/>
            <a:ext cx="658368" cy="228600"/>
          </a:xfrm>
          <a:prstGeom prst="rect">
            <a:avLst/>
          </a:prstGeom>
          <a:noFill/>
        </p:spPr>
        <p:txBody>
          <a:bodyPr wrap="square" anchor="t" lIns="0" rIns="0" tIns="0" bIns="0">
            <a:spAutoFit/>
          </a:bodyPr>
          <a:lstStyle/>
          <a:p>
            <a:pPr algn="ctr">
              <a:lnSpc>
                <a:spcPct val="125000"/>
              </a:lnSpc>
              <a:spcAft>
                <a:spcPts val="0"/>
              </a:spcAft>
            </a:pPr>
            <a:r>
              <a:rPr sz="800" b="0" i="0" spc="90">
                <a:solidFill>
                  <a:srgbClr val="6B6B6B"/>
                </a:solidFill>
                <a:latin typeface="Consolas"/>
              </a:rPr>
              <a:t>LOW</a:t>
            </a:r>
          </a:p>
        </p:txBody>
      </p:sp>
      <p:sp>
        <p:nvSpPr>
          <p:cNvPr id="33" name="TextBox 32"/>
          <p:cNvSpPr txBox="1"/>
          <p:nvPr/>
        </p:nvSpPr>
        <p:spPr>
          <a:xfrm>
            <a:off x="1645920" y="5376672"/>
            <a:ext cx="3840480" cy="365760"/>
          </a:xfrm>
          <a:prstGeom prst="rect">
            <a:avLst/>
          </a:prstGeom>
          <a:noFill/>
        </p:spPr>
        <p:txBody>
          <a:bodyPr wrap="square" anchor="t" lIns="0" rIns="0" tIns="0" bIns="0">
            <a:spAutoFit/>
          </a:bodyPr>
          <a:lstStyle/>
          <a:p>
            <a:pPr algn="l">
              <a:lnSpc>
                <a:spcPct val="125000"/>
              </a:lnSpc>
              <a:spcAft>
                <a:spcPts val="0"/>
              </a:spcAft>
            </a:pPr>
            <a:r>
              <a:rPr sz="1500" b="0" i="0">
                <a:solidFill>
                  <a:srgbClr val="1A1A1A"/>
                </a:solidFill>
                <a:latin typeface="Georgia"/>
              </a:rPr>
              <a:t>Connect to a campaign platform</a:t>
            </a:r>
          </a:p>
        </p:txBody>
      </p:sp>
      <p:sp>
        <p:nvSpPr>
          <p:cNvPr id="34" name="TextBox 33"/>
          <p:cNvSpPr txBox="1"/>
          <p:nvPr/>
        </p:nvSpPr>
        <p:spPr>
          <a:xfrm>
            <a:off x="5715000" y="5394960"/>
            <a:ext cx="5623560" cy="548640"/>
          </a:xfrm>
          <a:prstGeom prst="rect">
            <a:avLst/>
          </a:prstGeom>
          <a:noFill/>
        </p:spPr>
        <p:txBody>
          <a:bodyPr wrap="square" anchor="t" lIns="0" rIns="0" tIns="0" bIns="0">
            <a:spAutoFit/>
          </a:bodyPr>
          <a:lstStyle/>
          <a:p>
            <a:pPr algn="l">
              <a:lnSpc>
                <a:spcPct val="128000"/>
              </a:lnSpc>
              <a:spcAft>
                <a:spcPts val="0"/>
              </a:spcAft>
            </a:pPr>
            <a:r>
              <a:rPr sz="1200" b="0" i="0">
                <a:solidFill>
                  <a:srgbClr val="6B6B6B"/>
                </a:solidFill>
                <a:latin typeface="Calibri"/>
              </a:rPr>
              <a:t>Push a selected segment straight into an email or ads tool so the dashboard becomes operational rather than analytical.</a:t>
            </a:r>
          </a:p>
        </p:txBody>
      </p:sp>
      <p:cxnSp>
        <p:nvCxnSpPr>
          <p:cNvPr id="35" name="Connector 34"/>
          <p:cNvCxnSpPr/>
          <p:nvPr/>
        </p:nvCxnSpPr>
        <p:spPr>
          <a:xfrm>
            <a:off x="777240" y="5961888"/>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777240" y="6291072"/>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777240" y="6400800"/>
            <a:ext cx="6400800" cy="228600"/>
          </a:xfrm>
          <a:prstGeom prst="rect">
            <a:avLst/>
          </a:prstGeom>
          <a:noFill/>
        </p:spPr>
        <p:txBody>
          <a:bodyPr wrap="square" anchor="t" lIns="0" rIns="0" tIns="0" bIns="0">
            <a:spAutoFit/>
          </a:bodyPr>
          <a:lstStyle/>
          <a:p>
            <a:pPr algn="l">
              <a:lnSpc>
                <a:spcPct val="125000"/>
              </a:lnSpc>
              <a:spcAft>
                <a:spcPts val="0"/>
              </a:spcAft>
            </a:pPr>
            <a:r>
              <a:rPr sz="850" b="0" i="0" spc="120">
                <a:solidFill>
                  <a:srgbClr val="6B6B6B"/>
                </a:solidFill>
                <a:latin typeface="Consolas"/>
              </a:rPr>
              <a:t>CUSTOMER SEGMENTATION FOR TARGETED E-COMMERCE MARKETING</a:t>
            </a:r>
          </a:p>
        </p:txBody>
      </p:sp>
      <p:sp>
        <p:nvSpPr>
          <p:cNvPr id="38" name="TextBox 37"/>
          <p:cNvSpPr txBox="1"/>
          <p:nvPr/>
        </p:nvSpPr>
        <p:spPr>
          <a:xfrm>
            <a:off x="9585655" y="6400800"/>
            <a:ext cx="1828800" cy="228600"/>
          </a:xfrm>
          <a:prstGeom prst="rect">
            <a:avLst/>
          </a:prstGeom>
          <a:noFill/>
        </p:spPr>
        <p:txBody>
          <a:bodyPr wrap="square" anchor="t" lIns="0" rIns="0" tIns="0" bIns="0">
            <a:spAutoFit/>
          </a:bodyPr>
          <a:lstStyle/>
          <a:p>
            <a:pPr algn="r">
              <a:lnSpc>
                <a:spcPct val="125000"/>
              </a:lnSpc>
              <a:spcAft>
                <a:spcPts val="0"/>
              </a:spcAft>
            </a:pPr>
            <a:r>
              <a:rPr sz="850" b="0" i="0" spc="120">
                <a:solidFill>
                  <a:srgbClr val="6B6B6B"/>
                </a:solidFill>
                <a:latin typeface="Consolas"/>
              </a:rPr>
              <a:t>24 / 27</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77240" y="566928"/>
            <a:ext cx="10637215" cy="274320"/>
          </a:xfrm>
          <a:prstGeom prst="rect">
            <a:avLst/>
          </a:prstGeom>
          <a:noFill/>
        </p:spPr>
        <p:txBody>
          <a:bodyPr wrap="none" lIns="0" rIns="0" tIns="0" bIns="0">
            <a:spAutoFit/>
          </a:bodyPr>
          <a:lstStyle/>
          <a:p>
            <a:r>
              <a:rPr sz="1050" b="1" spc="200">
                <a:solidFill>
                  <a:srgbClr val="B45309"/>
                </a:solidFill>
                <a:latin typeface="Consolas"/>
              </a:rPr>
              <a:t>06  </a:t>
            </a:r>
            <a:r>
              <a:rPr sz="1050" spc="200">
                <a:solidFill>
                  <a:srgbClr val="6B6B6B"/>
                </a:solidFill>
                <a:latin typeface="Consolas"/>
              </a:rPr>
              <a:t>CONCLUSION</a:t>
            </a:r>
            <a:r>
              <a:rPr sz="1050" spc="200">
                <a:solidFill>
                  <a:srgbClr val="6B6B6B"/>
                </a:solidFill>
                <a:latin typeface="Consolas"/>
              </a:rPr>
              <a:t>   ·   SUMMARY OF CONTRIBUTION</a:t>
            </a:r>
          </a:p>
        </p:txBody>
      </p:sp>
      <p:sp>
        <p:nvSpPr>
          <p:cNvPr id="4" name="TextBox 3"/>
          <p:cNvSpPr txBox="1"/>
          <p:nvPr/>
        </p:nvSpPr>
        <p:spPr>
          <a:xfrm>
            <a:off x="777240" y="932688"/>
            <a:ext cx="10637215" cy="685800"/>
          </a:xfrm>
          <a:prstGeom prst="rect">
            <a:avLst/>
          </a:prstGeom>
          <a:noFill/>
        </p:spPr>
        <p:txBody>
          <a:bodyPr wrap="square" anchor="t" lIns="0" rIns="0" tIns="0" bIns="0">
            <a:spAutoFit/>
          </a:bodyPr>
          <a:lstStyle/>
          <a:p>
            <a:pPr algn="l">
              <a:lnSpc>
                <a:spcPct val="100000"/>
              </a:lnSpc>
              <a:spcAft>
                <a:spcPts val="0"/>
              </a:spcAft>
            </a:pPr>
            <a:r>
              <a:rPr sz="3200" b="0" i="0">
                <a:solidFill>
                  <a:srgbClr val="1A1A1A"/>
                </a:solidFill>
                <a:latin typeface="Georgia"/>
              </a:rPr>
              <a:t>What we delivered</a:t>
            </a:r>
          </a:p>
        </p:txBody>
      </p:sp>
      <p:cxnSp>
        <p:nvCxnSpPr>
          <p:cNvPr id="5" name="Connector 4"/>
          <p:cNvCxnSpPr/>
          <p:nvPr/>
        </p:nvCxnSpPr>
        <p:spPr>
          <a:xfrm>
            <a:off x="777240" y="1664208"/>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965960"/>
            <a:ext cx="2549575" cy="1115568"/>
          </a:xfrm>
          <a:prstGeom prst="rect">
            <a:avLst/>
          </a:prstGeom>
          <a:solidFill>
            <a:srgbClr val="F0EC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7" name="Connector 6"/>
          <p:cNvCxnSpPr/>
          <p:nvPr/>
        </p:nvCxnSpPr>
        <p:spPr>
          <a:xfrm>
            <a:off x="777240" y="1965960"/>
            <a:ext cx="2549575" cy="0"/>
          </a:xfrm>
          <a:prstGeom prst="line">
            <a:avLst/>
          </a:prstGeom>
          <a:ln w="28575">
            <a:solidFill>
              <a:srgbClr val="1A1A1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978408" y="2203704"/>
            <a:ext cx="2147239" cy="457200"/>
          </a:xfrm>
          <a:prstGeom prst="rect">
            <a:avLst/>
          </a:prstGeom>
          <a:noFill/>
        </p:spPr>
        <p:txBody>
          <a:bodyPr wrap="square" anchor="t" lIns="0" rIns="0" tIns="0" bIns="0">
            <a:spAutoFit/>
          </a:bodyPr>
          <a:lstStyle/>
          <a:p>
            <a:pPr algn="l">
              <a:lnSpc>
                <a:spcPct val="100000"/>
              </a:lnSpc>
              <a:spcAft>
                <a:spcPts val="0"/>
              </a:spcAft>
            </a:pPr>
            <a:r>
              <a:rPr sz="2700" b="0" i="0">
                <a:solidFill>
                  <a:srgbClr val="1A1A1A"/>
                </a:solidFill>
                <a:latin typeface="Georgia"/>
              </a:rPr>
              <a:t>541k</a:t>
            </a:r>
          </a:p>
        </p:txBody>
      </p:sp>
      <p:sp>
        <p:nvSpPr>
          <p:cNvPr id="9" name="TextBox 8"/>
          <p:cNvSpPr txBox="1"/>
          <p:nvPr/>
        </p:nvSpPr>
        <p:spPr>
          <a:xfrm>
            <a:off x="978408" y="2697480"/>
            <a:ext cx="2147239" cy="274320"/>
          </a:xfrm>
          <a:prstGeom prst="rect">
            <a:avLst/>
          </a:prstGeom>
          <a:noFill/>
        </p:spPr>
        <p:txBody>
          <a:bodyPr wrap="square" anchor="t" lIns="0" rIns="0" tIns="0" bIns="0">
            <a:spAutoFit/>
          </a:bodyPr>
          <a:lstStyle/>
          <a:p>
            <a:pPr algn="l">
              <a:lnSpc>
                <a:spcPct val="125000"/>
              </a:lnSpc>
              <a:spcAft>
                <a:spcPts val="0"/>
              </a:spcAft>
            </a:pPr>
            <a:r>
              <a:rPr sz="900" b="0" i="0" spc="110">
                <a:solidFill>
                  <a:srgbClr val="6B6B6B"/>
                </a:solidFill>
                <a:latin typeface="Consolas"/>
              </a:rPr>
              <a:t>TRANSACTIONS PROCESSED</a:t>
            </a:r>
          </a:p>
        </p:txBody>
      </p:sp>
      <p:sp>
        <p:nvSpPr>
          <p:cNvPr id="10" name="Rectangle 9"/>
          <p:cNvSpPr/>
          <p:nvPr/>
        </p:nvSpPr>
        <p:spPr>
          <a:xfrm>
            <a:off x="3473119" y="1965960"/>
            <a:ext cx="2549575" cy="1115568"/>
          </a:xfrm>
          <a:prstGeom prst="rect">
            <a:avLst/>
          </a:prstGeom>
          <a:solidFill>
            <a:srgbClr val="F0EC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11" name="Connector 10"/>
          <p:cNvCxnSpPr/>
          <p:nvPr/>
        </p:nvCxnSpPr>
        <p:spPr>
          <a:xfrm>
            <a:off x="3473119" y="1965960"/>
            <a:ext cx="2549575" cy="0"/>
          </a:xfrm>
          <a:prstGeom prst="line">
            <a:avLst/>
          </a:prstGeom>
          <a:ln w="28575">
            <a:solidFill>
              <a:srgbClr val="B45309"/>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674287" y="2203704"/>
            <a:ext cx="2147239" cy="457200"/>
          </a:xfrm>
          <a:prstGeom prst="rect">
            <a:avLst/>
          </a:prstGeom>
          <a:noFill/>
        </p:spPr>
        <p:txBody>
          <a:bodyPr wrap="square" anchor="t" lIns="0" rIns="0" tIns="0" bIns="0">
            <a:spAutoFit/>
          </a:bodyPr>
          <a:lstStyle/>
          <a:p>
            <a:pPr algn="l">
              <a:lnSpc>
                <a:spcPct val="100000"/>
              </a:lnSpc>
              <a:spcAft>
                <a:spcPts val="0"/>
              </a:spcAft>
            </a:pPr>
            <a:r>
              <a:rPr sz="2700" b="0" i="0">
                <a:solidFill>
                  <a:srgbClr val="B45309"/>
                </a:solidFill>
                <a:latin typeface="Georgia"/>
              </a:rPr>
              <a:t>4</a:t>
            </a:r>
          </a:p>
        </p:txBody>
      </p:sp>
      <p:sp>
        <p:nvSpPr>
          <p:cNvPr id="13" name="TextBox 12"/>
          <p:cNvSpPr txBox="1"/>
          <p:nvPr/>
        </p:nvSpPr>
        <p:spPr>
          <a:xfrm>
            <a:off x="3674287" y="2697480"/>
            <a:ext cx="2147239" cy="274320"/>
          </a:xfrm>
          <a:prstGeom prst="rect">
            <a:avLst/>
          </a:prstGeom>
          <a:noFill/>
        </p:spPr>
        <p:txBody>
          <a:bodyPr wrap="square" anchor="t" lIns="0" rIns="0" tIns="0" bIns="0">
            <a:spAutoFit/>
          </a:bodyPr>
          <a:lstStyle/>
          <a:p>
            <a:pPr algn="l">
              <a:lnSpc>
                <a:spcPct val="125000"/>
              </a:lnSpc>
              <a:spcAft>
                <a:spcPts val="0"/>
              </a:spcAft>
            </a:pPr>
            <a:r>
              <a:rPr sz="900" b="0" i="0" spc="110">
                <a:solidFill>
                  <a:srgbClr val="6B6B6B"/>
                </a:solidFill>
                <a:latin typeface="Consolas"/>
              </a:rPr>
              <a:t>ACTIONABLE SEGMENTS</a:t>
            </a:r>
          </a:p>
        </p:txBody>
      </p:sp>
      <p:sp>
        <p:nvSpPr>
          <p:cNvPr id="14" name="Rectangle 13"/>
          <p:cNvSpPr/>
          <p:nvPr/>
        </p:nvSpPr>
        <p:spPr>
          <a:xfrm>
            <a:off x="6168998" y="1965960"/>
            <a:ext cx="2549575" cy="1115568"/>
          </a:xfrm>
          <a:prstGeom prst="rect">
            <a:avLst/>
          </a:prstGeom>
          <a:solidFill>
            <a:srgbClr val="F0EC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15" name="Connector 14"/>
          <p:cNvCxnSpPr/>
          <p:nvPr/>
        </p:nvCxnSpPr>
        <p:spPr>
          <a:xfrm>
            <a:off x="6168998" y="1965960"/>
            <a:ext cx="2549575" cy="0"/>
          </a:xfrm>
          <a:prstGeom prst="line">
            <a:avLst/>
          </a:prstGeom>
          <a:ln w="28575">
            <a:solidFill>
              <a:srgbClr val="B45309"/>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370166" y="2203704"/>
            <a:ext cx="2147239" cy="457200"/>
          </a:xfrm>
          <a:prstGeom prst="rect">
            <a:avLst/>
          </a:prstGeom>
          <a:noFill/>
        </p:spPr>
        <p:txBody>
          <a:bodyPr wrap="square" anchor="t" lIns="0" rIns="0" tIns="0" bIns="0">
            <a:spAutoFit/>
          </a:bodyPr>
          <a:lstStyle/>
          <a:p>
            <a:pPr algn="l">
              <a:lnSpc>
                <a:spcPct val="100000"/>
              </a:lnSpc>
              <a:spcAft>
                <a:spcPts val="0"/>
              </a:spcAft>
            </a:pPr>
            <a:r>
              <a:rPr sz="2700" b="0" i="0">
                <a:solidFill>
                  <a:srgbClr val="B45309"/>
                </a:solidFill>
                <a:latin typeface="Georgia"/>
              </a:rPr>
              <a:t>65%</a:t>
            </a:r>
          </a:p>
        </p:txBody>
      </p:sp>
      <p:sp>
        <p:nvSpPr>
          <p:cNvPr id="17" name="TextBox 16"/>
          <p:cNvSpPr txBox="1"/>
          <p:nvPr/>
        </p:nvSpPr>
        <p:spPr>
          <a:xfrm>
            <a:off x="6370166" y="2697480"/>
            <a:ext cx="2147239" cy="274320"/>
          </a:xfrm>
          <a:prstGeom prst="rect">
            <a:avLst/>
          </a:prstGeom>
          <a:noFill/>
        </p:spPr>
        <p:txBody>
          <a:bodyPr wrap="square" anchor="t" lIns="0" rIns="0" tIns="0" bIns="0">
            <a:spAutoFit/>
          </a:bodyPr>
          <a:lstStyle/>
          <a:p>
            <a:pPr algn="l">
              <a:lnSpc>
                <a:spcPct val="125000"/>
              </a:lnSpc>
              <a:spcAft>
                <a:spcPts val="0"/>
              </a:spcAft>
            </a:pPr>
            <a:r>
              <a:rPr sz="900" b="0" i="0" spc="110">
                <a:solidFill>
                  <a:srgbClr val="6B6B6B"/>
                </a:solidFill>
                <a:latin typeface="Consolas"/>
              </a:rPr>
              <a:t>OF REVENUE IN ONE SEGMENT</a:t>
            </a:r>
          </a:p>
        </p:txBody>
      </p:sp>
      <p:sp>
        <p:nvSpPr>
          <p:cNvPr id="18" name="Rectangle 17"/>
          <p:cNvSpPr/>
          <p:nvPr/>
        </p:nvSpPr>
        <p:spPr>
          <a:xfrm>
            <a:off x="8864877" y="1965960"/>
            <a:ext cx="2549575" cy="1115568"/>
          </a:xfrm>
          <a:prstGeom prst="rect">
            <a:avLst/>
          </a:prstGeom>
          <a:solidFill>
            <a:srgbClr val="F0EC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19" name="Connector 18"/>
          <p:cNvCxnSpPr/>
          <p:nvPr/>
        </p:nvCxnSpPr>
        <p:spPr>
          <a:xfrm>
            <a:off x="8864877" y="1965960"/>
            <a:ext cx="2549575" cy="0"/>
          </a:xfrm>
          <a:prstGeom prst="line">
            <a:avLst/>
          </a:prstGeom>
          <a:ln w="28575">
            <a:solidFill>
              <a:srgbClr val="1A1A1A"/>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9066045" y="2203704"/>
            <a:ext cx="2147239" cy="457200"/>
          </a:xfrm>
          <a:prstGeom prst="rect">
            <a:avLst/>
          </a:prstGeom>
          <a:noFill/>
        </p:spPr>
        <p:txBody>
          <a:bodyPr wrap="square" anchor="t" lIns="0" rIns="0" tIns="0" bIns="0">
            <a:spAutoFit/>
          </a:bodyPr>
          <a:lstStyle/>
          <a:p>
            <a:pPr algn="l">
              <a:lnSpc>
                <a:spcPct val="100000"/>
              </a:lnSpc>
              <a:spcAft>
                <a:spcPts val="0"/>
              </a:spcAft>
            </a:pPr>
            <a:r>
              <a:rPr sz="2700" b="0" i="0">
                <a:solidFill>
                  <a:srgbClr val="1A1A1A"/>
                </a:solidFill>
                <a:latin typeface="Georgia"/>
              </a:rPr>
              <a:t>56%</a:t>
            </a:r>
          </a:p>
        </p:txBody>
      </p:sp>
      <p:sp>
        <p:nvSpPr>
          <p:cNvPr id="21" name="TextBox 20"/>
          <p:cNvSpPr txBox="1"/>
          <p:nvPr/>
        </p:nvSpPr>
        <p:spPr>
          <a:xfrm>
            <a:off x="9066045" y="2697480"/>
            <a:ext cx="2147239" cy="274320"/>
          </a:xfrm>
          <a:prstGeom prst="rect">
            <a:avLst/>
          </a:prstGeom>
          <a:noFill/>
        </p:spPr>
        <p:txBody>
          <a:bodyPr wrap="square" anchor="t" lIns="0" rIns="0" tIns="0" bIns="0">
            <a:spAutoFit/>
          </a:bodyPr>
          <a:lstStyle/>
          <a:p>
            <a:pPr algn="l">
              <a:lnSpc>
                <a:spcPct val="125000"/>
              </a:lnSpc>
              <a:spcAft>
                <a:spcPts val="0"/>
              </a:spcAft>
            </a:pPr>
            <a:r>
              <a:rPr sz="900" b="0" i="0" spc="110">
                <a:solidFill>
                  <a:srgbClr val="6B6B6B"/>
                </a:solidFill>
                <a:latin typeface="Consolas"/>
              </a:rPr>
              <a:t>MODELLED CUT IN CAMPAIGN SPEND</a:t>
            </a:r>
          </a:p>
        </p:txBody>
      </p:sp>
      <p:sp>
        <p:nvSpPr>
          <p:cNvPr id="22" name="TextBox 21"/>
          <p:cNvSpPr txBox="1"/>
          <p:nvPr/>
        </p:nvSpPr>
        <p:spPr>
          <a:xfrm>
            <a:off x="777240" y="3520440"/>
            <a:ext cx="5120640" cy="365760"/>
          </a:xfrm>
          <a:prstGeom prst="rect">
            <a:avLst/>
          </a:prstGeom>
          <a:noFill/>
        </p:spPr>
        <p:txBody>
          <a:bodyPr wrap="square" lIns="0" rIns="0" tIns="0" bIns="0">
            <a:spAutoFit/>
          </a:bodyPr>
          <a:lstStyle/>
          <a:p>
            <a:pPr>
              <a:lnSpc>
                <a:spcPct val="130000"/>
              </a:lnSpc>
              <a:spcAft>
                <a:spcPts val="800"/>
              </a:spcAft>
            </a:pPr>
            <a:r>
              <a:rPr sz="1300" b="1">
                <a:solidFill>
                  <a:srgbClr val="B45309"/>
                </a:solidFill>
                <a:latin typeface="Calibri"/>
              </a:rPr>
              <a:t>— </a:t>
            </a:r>
            <a:r>
              <a:rPr sz="1300" b="1">
                <a:solidFill>
                  <a:srgbClr val="1A1A1A"/>
                </a:solidFill>
                <a:latin typeface="Calibri"/>
              </a:rPr>
              <a:t>Segmentation. </a:t>
            </a:r>
            <a:r>
              <a:rPr sz="1300">
                <a:solidFill>
                  <a:srgbClr val="1A1A1A"/>
                </a:solidFill>
                <a:latin typeface="Calibri"/>
              </a:rPr>
              <a:t>541,909 transactions reduced to four behavioural segments, each with a persona, a revenue share and a concrete marketing action.</a:t>
            </a:r>
          </a:p>
          <a:p>
            <a:pPr>
              <a:lnSpc>
                <a:spcPct val="130000"/>
              </a:lnSpc>
              <a:spcAft>
                <a:spcPts val="800"/>
              </a:spcAft>
            </a:pPr>
            <a:r>
              <a:rPr sz="1300" b="1">
                <a:solidFill>
                  <a:srgbClr val="B45309"/>
                </a:solidFill>
                <a:latin typeface="Calibri"/>
              </a:rPr>
              <a:t>— </a:t>
            </a:r>
            <a:r>
              <a:rPr sz="1300" b="1">
                <a:solidFill>
                  <a:srgbClr val="1A1A1A"/>
                </a:solidFill>
                <a:latin typeface="Calibri"/>
              </a:rPr>
              <a:t>Prediction. </a:t>
            </a:r>
            <a:r>
              <a:rPr sz="1300">
                <a:solidFill>
                  <a:srgbClr val="1A1A1A"/>
                </a:solidFill>
                <a:latin typeface="Calibri"/>
              </a:rPr>
              <a:t>A churn indicator on every customer, with the leakage in its construction identified and documented rather than glossed over.</a:t>
            </a:r>
          </a:p>
          <a:p>
            <a:pPr>
              <a:lnSpc>
                <a:spcPct val="130000"/>
              </a:lnSpc>
              <a:spcAft>
                <a:spcPts val="800"/>
              </a:spcAft>
            </a:pPr>
            <a:r>
              <a:rPr sz="1300" b="1">
                <a:solidFill>
                  <a:srgbClr val="B45309"/>
                </a:solidFill>
                <a:latin typeface="Calibri"/>
              </a:rPr>
              <a:t>— </a:t>
            </a:r>
            <a:r>
              <a:rPr sz="1300" b="1">
                <a:solidFill>
                  <a:srgbClr val="1A1A1A"/>
                </a:solidFill>
                <a:latin typeface="Calibri"/>
              </a:rPr>
              <a:t>Delivery. </a:t>
            </a:r>
            <a:r>
              <a:rPr sz="1300">
                <a:solidFill>
                  <a:srgbClr val="1A1A1A"/>
                </a:solidFill>
                <a:latin typeface="Calibri"/>
              </a:rPr>
              <a:t>A FastAPI backend and React dashboard sharing the notebook's exact pipeline — usable by a non-technical marketer.</a:t>
            </a:r>
          </a:p>
        </p:txBody>
      </p:sp>
      <p:sp>
        <p:nvSpPr>
          <p:cNvPr id="23" name="Rectangle 22"/>
          <p:cNvSpPr/>
          <p:nvPr/>
        </p:nvSpPr>
        <p:spPr>
          <a:xfrm>
            <a:off x="6355080" y="3520440"/>
            <a:ext cx="5029200" cy="2286000"/>
          </a:xfrm>
          <a:prstGeom prst="rect">
            <a:avLst/>
          </a:prstGeom>
          <a:solidFill>
            <a:srgbClr val="1C1B1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675120" y="3767328"/>
            <a:ext cx="4114800" cy="274320"/>
          </a:xfrm>
          <a:prstGeom prst="rect">
            <a:avLst/>
          </a:prstGeom>
          <a:noFill/>
        </p:spPr>
        <p:txBody>
          <a:bodyPr wrap="square" anchor="t" lIns="0" rIns="0" tIns="0" bIns="0">
            <a:spAutoFit/>
          </a:bodyPr>
          <a:lstStyle/>
          <a:p>
            <a:pPr algn="l">
              <a:lnSpc>
                <a:spcPct val="125000"/>
              </a:lnSpc>
              <a:spcAft>
                <a:spcPts val="0"/>
              </a:spcAft>
            </a:pPr>
            <a:r>
              <a:rPr sz="950" b="0" i="0" spc="140">
                <a:solidFill>
                  <a:srgbClr val="B45309"/>
                </a:solidFill>
                <a:latin typeface="Consolas"/>
              </a:rPr>
              <a:t>THE HEADLINE FINDING</a:t>
            </a:r>
          </a:p>
        </p:txBody>
      </p:sp>
      <p:sp>
        <p:nvSpPr>
          <p:cNvPr id="25" name="TextBox 24"/>
          <p:cNvSpPr txBox="1"/>
          <p:nvPr/>
        </p:nvSpPr>
        <p:spPr>
          <a:xfrm>
            <a:off x="6675120" y="4160520"/>
            <a:ext cx="4434840" cy="1463040"/>
          </a:xfrm>
          <a:prstGeom prst="rect">
            <a:avLst/>
          </a:prstGeom>
          <a:noFill/>
        </p:spPr>
        <p:txBody>
          <a:bodyPr wrap="square" anchor="t" lIns="0" rIns="0" tIns="0" bIns="0">
            <a:spAutoFit/>
          </a:bodyPr>
          <a:lstStyle/>
          <a:p>
            <a:pPr algn="l">
              <a:lnSpc>
                <a:spcPct val="140000"/>
              </a:lnSpc>
              <a:spcAft>
                <a:spcPts val="0"/>
              </a:spcAft>
            </a:pPr>
            <a:r>
              <a:rPr sz="1500" b="0" i="1">
                <a:solidFill>
                  <a:srgbClr val="FAF8F4"/>
                </a:solidFill>
                <a:latin typeface="Georgia"/>
              </a:rPr>
              <a:t>16% of customers generate 65% of revenue. Marketing to them as though they were the same as the other 84% is the single largest avoidable cost in the campaign budget.</a:t>
            </a:r>
          </a:p>
        </p:txBody>
      </p:sp>
      <p:cxnSp>
        <p:nvCxnSpPr>
          <p:cNvPr id="26" name="Connector 25"/>
          <p:cNvCxnSpPr/>
          <p:nvPr/>
        </p:nvCxnSpPr>
        <p:spPr>
          <a:xfrm>
            <a:off x="777240" y="6291072"/>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77240" y="6400800"/>
            <a:ext cx="6400800" cy="228600"/>
          </a:xfrm>
          <a:prstGeom prst="rect">
            <a:avLst/>
          </a:prstGeom>
          <a:noFill/>
        </p:spPr>
        <p:txBody>
          <a:bodyPr wrap="square" anchor="t" lIns="0" rIns="0" tIns="0" bIns="0">
            <a:spAutoFit/>
          </a:bodyPr>
          <a:lstStyle/>
          <a:p>
            <a:pPr algn="l">
              <a:lnSpc>
                <a:spcPct val="125000"/>
              </a:lnSpc>
              <a:spcAft>
                <a:spcPts val="0"/>
              </a:spcAft>
            </a:pPr>
            <a:r>
              <a:rPr sz="850" b="0" i="0" spc="120">
                <a:solidFill>
                  <a:srgbClr val="6B6B6B"/>
                </a:solidFill>
                <a:latin typeface="Consolas"/>
              </a:rPr>
              <a:t>CUSTOMER SEGMENTATION FOR TARGETED E-COMMERCE MARKETING</a:t>
            </a:r>
          </a:p>
        </p:txBody>
      </p:sp>
      <p:sp>
        <p:nvSpPr>
          <p:cNvPr id="28" name="TextBox 27"/>
          <p:cNvSpPr txBox="1"/>
          <p:nvPr/>
        </p:nvSpPr>
        <p:spPr>
          <a:xfrm>
            <a:off x="9585655" y="6400800"/>
            <a:ext cx="1828800" cy="228600"/>
          </a:xfrm>
          <a:prstGeom prst="rect">
            <a:avLst/>
          </a:prstGeom>
          <a:noFill/>
        </p:spPr>
        <p:txBody>
          <a:bodyPr wrap="square" anchor="t" lIns="0" rIns="0" tIns="0" bIns="0">
            <a:spAutoFit/>
          </a:bodyPr>
          <a:lstStyle/>
          <a:p>
            <a:pPr algn="r">
              <a:lnSpc>
                <a:spcPct val="125000"/>
              </a:lnSpc>
              <a:spcAft>
                <a:spcPts val="0"/>
              </a:spcAft>
            </a:pPr>
            <a:r>
              <a:rPr sz="850" b="0" i="0" spc="120">
                <a:solidFill>
                  <a:srgbClr val="6B6B6B"/>
                </a:solidFill>
                <a:latin typeface="Consolas"/>
              </a:rPr>
              <a:t>25 / 27</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77240" y="566928"/>
            <a:ext cx="10637215" cy="274320"/>
          </a:xfrm>
          <a:prstGeom prst="rect">
            <a:avLst/>
          </a:prstGeom>
          <a:noFill/>
        </p:spPr>
        <p:txBody>
          <a:bodyPr wrap="none" lIns="0" rIns="0" tIns="0" bIns="0">
            <a:spAutoFit/>
          </a:bodyPr>
          <a:lstStyle/>
          <a:p>
            <a:r>
              <a:rPr sz="1050" b="1" spc="200">
                <a:solidFill>
                  <a:srgbClr val="B45309"/>
                </a:solidFill>
                <a:latin typeface="Consolas"/>
              </a:rPr>
              <a:t>07  </a:t>
            </a:r>
            <a:r>
              <a:rPr sz="1050" spc="200">
                <a:solidFill>
                  <a:srgbClr val="6B6B6B"/>
                </a:solidFill>
                <a:latin typeface="Consolas"/>
              </a:rPr>
              <a:t>APPENDIX</a:t>
            </a:r>
            <a:r>
              <a:rPr sz="1050" spc="200">
                <a:solidFill>
                  <a:srgbClr val="6B6B6B"/>
                </a:solidFill>
                <a:latin typeface="Consolas"/>
              </a:rPr>
              <a:t>   ·   PREPARATION NOTES — NOT FOR PRESENTATION</a:t>
            </a:r>
          </a:p>
        </p:txBody>
      </p:sp>
      <p:sp>
        <p:nvSpPr>
          <p:cNvPr id="4" name="TextBox 3"/>
          <p:cNvSpPr txBox="1"/>
          <p:nvPr/>
        </p:nvSpPr>
        <p:spPr>
          <a:xfrm>
            <a:off x="777240" y="932688"/>
            <a:ext cx="10637215" cy="685800"/>
          </a:xfrm>
          <a:prstGeom prst="rect">
            <a:avLst/>
          </a:prstGeom>
          <a:noFill/>
        </p:spPr>
        <p:txBody>
          <a:bodyPr wrap="square" anchor="t" lIns="0" rIns="0" tIns="0" bIns="0">
            <a:spAutoFit/>
          </a:bodyPr>
          <a:lstStyle/>
          <a:p>
            <a:pPr algn="l">
              <a:lnSpc>
                <a:spcPct val="100000"/>
              </a:lnSpc>
              <a:spcAft>
                <a:spcPts val="0"/>
              </a:spcAft>
            </a:pPr>
            <a:r>
              <a:rPr sz="3200" b="0" i="0">
                <a:solidFill>
                  <a:srgbClr val="1A1A1A"/>
                </a:solidFill>
                <a:latin typeface="Georgia"/>
              </a:rPr>
              <a:t>Anticipated questions</a:t>
            </a:r>
          </a:p>
        </p:txBody>
      </p:sp>
      <p:cxnSp>
        <p:nvCxnSpPr>
          <p:cNvPr id="5" name="Connector 4"/>
          <p:cNvCxnSpPr/>
          <p:nvPr/>
        </p:nvCxnSpPr>
        <p:spPr>
          <a:xfrm>
            <a:off x="777240" y="1664208"/>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77240" y="1847088"/>
            <a:ext cx="4343400" cy="457200"/>
          </a:xfrm>
          <a:prstGeom prst="rect">
            <a:avLst/>
          </a:prstGeom>
          <a:noFill/>
        </p:spPr>
        <p:txBody>
          <a:bodyPr wrap="square" anchor="t" lIns="0" rIns="0" tIns="0" bIns="0">
            <a:spAutoFit/>
          </a:bodyPr>
          <a:lstStyle/>
          <a:p>
            <a:pPr algn="l">
              <a:lnSpc>
                <a:spcPct val="118000"/>
              </a:lnSpc>
              <a:spcAft>
                <a:spcPts val="0"/>
              </a:spcAft>
            </a:pPr>
            <a:r>
              <a:rPr sz="1200" b="0" i="0">
                <a:solidFill>
                  <a:srgbClr val="B45309"/>
                </a:solidFill>
                <a:latin typeface="Georgia"/>
              </a:rPr>
              <a:t>Why K-Means and not DBSCAN or hierarchical?</a:t>
            </a:r>
          </a:p>
        </p:txBody>
      </p:sp>
      <p:sp>
        <p:nvSpPr>
          <p:cNvPr id="7" name="TextBox 6"/>
          <p:cNvSpPr txBox="1"/>
          <p:nvPr/>
        </p:nvSpPr>
        <p:spPr>
          <a:xfrm>
            <a:off x="5394960" y="1847088"/>
            <a:ext cx="5989320" cy="548640"/>
          </a:xfrm>
          <a:prstGeom prst="rect">
            <a:avLst/>
          </a:prstGeom>
          <a:noFill/>
        </p:spPr>
        <p:txBody>
          <a:bodyPr wrap="square" anchor="t" lIns="0" rIns="0" tIns="0" bIns="0">
            <a:spAutoFit/>
          </a:bodyPr>
          <a:lstStyle/>
          <a:p>
            <a:pPr algn="l">
              <a:lnSpc>
                <a:spcPct val="124000"/>
              </a:lnSpc>
              <a:spcAft>
                <a:spcPts val="0"/>
              </a:spcAft>
            </a:pPr>
            <a:r>
              <a:rPr sz="1050" b="0" i="0">
                <a:solidFill>
                  <a:srgbClr val="6B6B6B"/>
                </a:solidFill>
                <a:latin typeface="Calibri"/>
              </a:rPr>
              <a:t>K-Means is efficient at this scale, produces centroids that are directly interpretable as segment profiles, and is the established choice for RFM. DBSCAN assumes density-separated groups, which RFM does not have — it would label most customers as noise.</a:t>
            </a:r>
          </a:p>
        </p:txBody>
      </p:sp>
      <p:cxnSp>
        <p:nvCxnSpPr>
          <p:cNvPr id="8" name="Connector 7"/>
          <p:cNvCxnSpPr/>
          <p:nvPr/>
        </p:nvCxnSpPr>
        <p:spPr>
          <a:xfrm>
            <a:off x="777240" y="2295144"/>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777240" y="2395728"/>
            <a:ext cx="4343400" cy="457200"/>
          </a:xfrm>
          <a:prstGeom prst="rect">
            <a:avLst/>
          </a:prstGeom>
          <a:noFill/>
        </p:spPr>
        <p:txBody>
          <a:bodyPr wrap="square" anchor="t" lIns="0" rIns="0" tIns="0" bIns="0">
            <a:spAutoFit/>
          </a:bodyPr>
          <a:lstStyle/>
          <a:p>
            <a:pPr algn="l">
              <a:lnSpc>
                <a:spcPct val="118000"/>
              </a:lnSpc>
              <a:spcAft>
                <a:spcPts val="0"/>
              </a:spcAft>
            </a:pPr>
            <a:r>
              <a:rPr sz="1200" b="0" i="0">
                <a:solidFill>
                  <a:srgbClr val="B45309"/>
                </a:solidFill>
                <a:latin typeface="Georgia"/>
              </a:rPr>
              <a:t>Your silhouette is highest at K = 2. Why K = 4?</a:t>
            </a:r>
          </a:p>
        </p:txBody>
      </p:sp>
      <p:sp>
        <p:nvSpPr>
          <p:cNvPr id="10" name="TextBox 9"/>
          <p:cNvSpPr txBox="1"/>
          <p:nvPr/>
        </p:nvSpPr>
        <p:spPr>
          <a:xfrm>
            <a:off x="5394960" y="2395728"/>
            <a:ext cx="5989320" cy="548640"/>
          </a:xfrm>
          <a:prstGeom prst="rect">
            <a:avLst/>
          </a:prstGeom>
          <a:noFill/>
        </p:spPr>
        <p:txBody>
          <a:bodyPr wrap="square" anchor="t" lIns="0" rIns="0" tIns="0" bIns="0">
            <a:spAutoFit/>
          </a:bodyPr>
          <a:lstStyle/>
          <a:p>
            <a:pPr algn="l">
              <a:lnSpc>
                <a:spcPct val="124000"/>
              </a:lnSpc>
              <a:spcAft>
                <a:spcPts val="0"/>
              </a:spcAft>
            </a:pPr>
            <a:r>
              <a:rPr sz="1050" b="0" i="0">
                <a:solidFill>
                  <a:srgbClr val="6B6B6B"/>
                </a:solidFill>
                <a:latin typeface="Calibri"/>
              </a:rPr>
              <a:t>Silhouette favours few well-separated blobs and RFM is a continuum, so it biases toward small K. K = 2 gives only active/inactive, which is not actionable. K = 4 retains a reasonable score (0.337) and recovers the standard RFM segments.</a:t>
            </a:r>
          </a:p>
        </p:txBody>
      </p:sp>
      <p:cxnSp>
        <p:nvCxnSpPr>
          <p:cNvPr id="11" name="Connector 10"/>
          <p:cNvCxnSpPr/>
          <p:nvPr/>
        </p:nvCxnSpPr>
        <p:spPr>
          <a:xfrm>
            <a:off x="777240" y="2843784"/>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77240" y="2944368"/>
            <a:ext cx="4343400" cy="457200"/>
          </a:xfrm>
          <a:prstGeom prst="rect">
            <a:avLst/>
          </a:prstGeom>
          <a:noFill/>
        </p:spPr>
        <p:txBody>
          <a:bodyPr wrap="square" anchor="t" lIns="0" rIns="0" tIns="0" bIns="0">
            <a:spAutoFit/>
          </a:bodyPr>
          <a:lstStyle/>
          <a:p>
            <a:pPr algn="l">
              <a:lnSpc>
                <a:spcPct val="118000"/>
              </a:lnSpc>
              <a:spcAft>
                <a:spcPts val="0"/>
              </a:spcAft>
            </a:pPr>
            <a:r>
              <a:rPr sz="1200" b="0" i="0">
                <a:solidFill>
                  <a:srgbClr val="B45309"/>
                </a:solidFill>
                <a:latin typeface="Georgia"/>
              </a:rPr>
              <a:t>Why is your churn accuracy 100%?</a:t>
            </a:r>
          </a:p>
        </p:txBody>
      </p:sp>
      <p:sp>
        <p:nvSpPr>
          <p:cNvPr id="13" name="TextBox 12"/>
          <p:cNvSpPr txBox="1"/>
          <p:nvPr/>
        </p:nvSpPr>
        <p:spPr>
          <a:xfrm>
            <a:off x="5394960" y="2944368"/>
            <a:ext cx="5989320" cy="548640"/>
          </a:xfrm>
          <a:prstGeom prst="rect">
            <a:avLst/>
          </a:prstGeom>
          <a:noFill/>
        </p:spPr>
        <p:txBody>
          <a:bodyPr wrap="square" anchor="t" lIns="0" rIns="0" tIns="0" bIns="0">
            <a:spAutoFit/>
          </a:bodyPr>
          <a:lstStyle/>
          <a:p>
            <a:pPr algn="l">
              <a:lnSpc>
                <a:spcPct val="124000"/>
              </a:lnSpc>
              <a:spcAft>
                <a:spcPts val="0"/>
              </a:spcAft>
            </a:pPr>
            <a:r>
              <a:rPr sz="1050" b="0" i="0">
                <a:solidFill>
                  <a:srgbClr val="6B6B6B"/>
                </a:solidFill>
                <a:latin typeface="Calibri"/>
              </a:rPr>
              <a:t>Because the label leaks. Churn = Recency &gt; 90 and Recency is an input, so the model learns a threshold on a given feature. We identified this ourselves; the fix is a forward-window label with Recency excluded from the inputs.</a:t>
            </a:r>
          </a:p>
        </p:txBody>
      </p:sp>
      <p:cxnSp>
        <p:nvCxnSpPr>
          <p:cNvPr id="14" name="Connector 13"/>
          <p:cNvCxnSpPr/>
          <p:nvPr/>
        </p:nvCxnSpPr>
        <p:spPr>
          <a:xfrm>
            <a:off x="777240" y="3392424"/>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777240" y="3493008"/>
            <a:ext cx="4343400" cy="457200"/>
          </a:xfrm>
          <a:prstGeom prst="rect">
            <a:avLst/>
          </a:prstGeom>
          <a:noFill/>
        </p:spPr>
        <p:txBody>
          <a:bodyPr wrap="square" anchor="t" lIns="0" rIns="0" tIns="0" bIns="0">
            <a:spAutoFit/>
          </a:bodyPr>
          <a:lstStyle/>
          <a:p>
            <a:pPr algn="l">
              <a:lnSpc>
                <a:spcPct val="118000"/>
              </a:lnSpc>
              <a:spcAft>
                <a:spcPts val="0"/>
              </a:spcAft>
            </a:pPr>
            <a:r>
              <a:rPr sz="1200" b="0" i="0">
                <a:solidFill>
                  <a:srgbClr val="B45309"/>
                </a:solidFill>
                <a:latin typeface="Georgia"/>
              </a:rPr>
              <a:t>Why drop 25% of the rows?</a:t>
            </a:r>
          </a:p>
        </p:txBody>
      </p:sp>
      <p:sp>
        <p:nvSpPr>
          <p:cNvPr id="16" name="TextBox 15"/>
          <p:cNvSpPr txBox="1"/>
          <p:nvPr/>
        </p:nvSpPr>
        <p:spPr>
          <a:xfrm>
            <a:off x="5394960" y="3493008"/>
            <a:ext cx="5989320" cy="548640"/>
          </a:xfrm>
          <a:prstGeom prst="rect">
            <a:avLst/>
          </a:prstGeom>
          <a:noFill/>
        </p:spPr>
        <p:txBody>
          <a:bodyPr wrap="square" anchor="t" lIns="0" rIns="0" tIns="0" bIns="0">
            <a:spAutoFit/>
          </a:bodyPr>
          <a:lstStyle/>
          <a:p>
            <a:pPr algn="l">
              <a:lnSpc>
                <a:spcPct val="124000"/>
              </a:lnSpc>
              <a:spcAft>
                <a:spcPts val="0"/>
              </a:spcAft>
            </a:pPr>
            <a:r>
              <a:rPr sz="1050" b="0" i="0">
                <a:solidFill>
                  <a:srgbClr val="6B6B6B"/>
                </a:solidFill>
                <a:latin typeface="Calibri"/>
              </a:rPr>
              <a:t>Those rows have no CustomerID — they are guest checkouts. Per-customer analysis is impossible without an identifier. We record it as a limitation, not a fix.</a:t>
            </a:r>
          </a:p>
        </p:txBody>
      </p:sp>
      <p:cxnSp>
        <p:nvCxnSpPr>
          <p:cNvPr id="17" name="Connector 16"/>
          <p:cNvCxnSpPr/>
          <p:nvPr/>
        </p:nvCxnSpPr>
        <p:spPr>
          <a:xfrm>
            <a:off x="777240" y="3941064"/>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77240" y="4041648"/>
            <a:ext cx="4343400" cy="457200"/>
          </a:xfrm>
          <a:prstGeom prst="rect">
            <a:avLst/>
          </a:prstGeom>
          <a:noFill/>
        </p:spPr>
        <p:txBody>
          <a:bodyPr wrap="square" anchor="t" lIns="0" rIns="0" tIns="0" bIns="0">
            <a:spAutoFit/>
          </a:bodyPr>
          <a:lstStyle/>
          <a:p>
            <a:pPr algn="l">
              <a:lnSpc>
                <a:spcPct val="118000"/>
              </a:lnSpc>
              <a:spcAft>
                <a:spcPts val="0"/>
              </a:spcAft>
            </a:pPr>
            <a:r>
              <a:rPr sz="1200" b="0" i="0">
                <a:solidFill>
                  <a:srgbClr val="B45309"/>
                </a:solidFill>
                <a:latin typeface="Georgia"/>
              </a:rPr>
              <a:t>Why log-transform before scaling?</a:t>
            </a:r>
          </a:p>
        </p:txBody>
      </p:sp>
      <p:sp>
        <p:nvSpPr>
          <p:cNvPr id="19" name="TextBox 18"/>
          <p:cNvSpPr txBox="1"/>
          <p:nvPr/>
        </p:nvSpPr>
        <p:spPr>
          <a:xfrm>
            <a:off x="5394960" y="4041648"/>
            <a:ext cx="5989320" cy="548640"/>
          </a:xfrm>
          <a:prstGeom prst="rect">
            <a:avLst/>
          </a:prstGeom>
          <a:noFill/>
        </p:spPr>
        <p:txBody>
          <a:bodyPr wrap="square" anchor="t" lIns="0" rIns="0" tIns="0" bIns="0">
            <a:spAutoFit/>
          </a:bodyPr>
          <a:lstStyle/>
          <a:p>
            <a:pPr algn="l">
              <a:lnSpc>
                <a:spcPct val="124000"/>
              </a:lnSpc>
              <a:spcAft>
                <a:spcPts val="0"/>
              </a:spcAft>
            </a:pPr>
            <a:r>
              <a:rPr sz="1050" b="0" i="0">
                <a:solidFill>
                  <a:srgbClr val="6B6B6B"/>
                </a:solidFill>
                <a:latin typeface="Calibri"/>
              </a:rPr>
              <a:t>Monetary skew is 19.3; StandardScaler alone leaves extreme spenders far from the mass, and K-Means then wastes clusters isolating them. log1p brings skew to 0.36.</a:t>
            </a:r>
          </a:p>
        </p:txBody>
      </p:sp>
      <p:cxnSp>
        <p:nvCxnSpPr>
          <p:cNvPr id="20" name="Connector 19"/>
          <p:cNvCxnSpPr/>
          <p:nvPr/>
        </p:nvCxnSpPr>
        <p:spPr>
          <a:xfrm>
            <a:off x="777240" y="4489704"/>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777240" y="4590288"/>
            <a:ext cx="4343400" cy="457200"/>
          </a:xfrm>
          <a:prstGeom prst="rect">
            <a:avLst/>
          </a:prstGeom>
          <a:noFill/>
        </p:spPr>
        <p:txBody>
          <a:bodyPr wrap="square" anchor="t" lIns="0" rIns="0" tIns="0" bIns="0">
            <a:spAutoFit/>
          </a:bodyPr>
          <a:lstStyle/>
          <a:p>
            <a:pPr algn="l">
              <a:lnSpc>
                <a:spcPct val="118000"/>
              </a:lnSpc>
              <a:spcAft>
                <a:spcPts val="0"/>
              </a:spcAft>
            </a:pPr>
            <a:r>
              <a:rPr sz="1200" b="0" i="0">
                <a:solidFill>
                  <a:srgbClr val="B45309"/>
                </a:solidFill>
                <a:latin typeface="Georgia"/>
              </a:rPr>
              <a:t>You clustered on scaled data — how can you label segments from raw RFM?</a:t>
            </a:r>
          </a:p>
        </p:txBody>
      </p:sp>
      <p:sp>
        <p:nvSpPr>
          <p:cNvPr id="22" name="TextBox 21"/>
          <p:cNvSpPr txBox="1"/>
          <p:nvPr/>
        </p:nvSpPr>
        <p:spPr>
          <a:xfrm>
            <a:off x="5394960" y="4590288"/>
            <a:ext cx="5989320" cy="548640"/>
          </a:xfrm>
          <a:prstGeom prst="rect">
            <a:avLst/>
          </a:prstGeom>
          <a:noFill/>
        </p:spPr>
        <p:txBody>
          <a:bodyPr wrap="square" anchor="t" lIns="0" rIns="0" tIns="0" bIns="0">
            <a:spAutoFit/>
          </a:bodyPr>
          <a:lstStyle/>
          <a:p>
            <a:pPr algn="l">
              <a:lnSpc>
                <a:spcPct val="124000"/>
              </a:lnSpc>
              <a:spcAft>
                <a:spcPts val="0"/>
              </a:spcAft>
            </a:pPr>
            <a:r>
              <a:rPr sz="1050" b="0" i="0">
                <a:solidFill>
                  <a:srgbClr val="6B6B6B"/>
                </a:solidFill>
                <a:latin typeface="Calibri"/>
              </a:rPr>
              <a:t>K-Means returns a membership label per customer, not a value; we join it back to the untouched table, so nothing is back-transformed. log1p and StandardScaler are strictly increasing, so per-feature rank order is preserved exactly — 0 inversions across all 4,339 customers, and each cluster ranks identically in both spaces.</a:t>
            </a:r>
          </a:p>
        </p:txBody>
      </p:sp>
      <p:cxnSp>
        <p:nvCxnSpPr>
          <p:cNvPr id="23" name="Connector 22"/>
          <p:cNvCxnSpPr/>
          <p:nvPr/>
        </p:nvCxnSpPr>
        <p:spPr>
          <a:xfrm>
            <a:off x="777240" y="5038344"/>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77240" y="5138928"/>
            <a:ext cx="4343400" cy="457200"/>
          </a:xfrm>
          <a:prstGeom prst="rect">
            <a:avLst/>
          </a:prstGeom>
          <a:noFill/>
        </p:spPr>
        <p:txBody>
          <a:bodyPr wrap="square" anchor="t" lIns="0" rIns="0" tIns="0" bIns="0">
            <a:spAutoFit/>
          </a:bodyPr>
          <a:lstStyle/>
          <a:p>
            <a:pPr algn="l">
              <a:lnSpc>
                <a:spcPct val="118000"/>
              </a:lnSpc>
              <a:spcAft>
                <a:spcPts val="0"/>
              </a:spcAft>
            </a:pPr>
            <a:r>
              <a:rPr sz="1200" b="0" i="0">
                <a:solidFill>
                  <a:srgbClr val="B45309"/>
                </a:solidFill>
                <a:latin typeface="Georgia"/>
              </a:rPr>
              <a:t>Aren't those means inflated by a few large accounts?</a:t>
            </a:r>
          </a:p>
        </p:txBody>
      </p:sp>
      <p:sp>
        <p:nvSpPr>
          <p:cNvPr id="25" name="TextBox 24"/>
          <p:cNvSpPr txBox="1"/>
          <p:nvPr/>
        </p:nvSpPr>
        <p:spPr>
          <a:xfrm>
            <a:off x="5394960" y="5138928"/>
            <a:ext cx="5989320" cy="548640"/>
          </a:xfrm>
          <a:prstGeom prst="rect">
            <a:avLst/>
          </a:prstGeom>
          <a:noFill/>
        </p:spPr>
        <p:txBody>
          <a:bodyPr wrap="square" anchor="t" lIns="0" rIns="0" tIns="0" bIns="0">
            <a:spAutoFit/>
          </a:bodyPr>
          <a:lstStyle/>
          <a:p>
            <a:pPr algn="l">
              <a:lnSpc>
                <a:spcPct val="124000"/>
              </a:lnSpc>
              <a:spcAft>
                <a:spcPts val="0"/>
              </a:spcAft>
            </a:pPr>
            <a:r>
              <a:rPr sz="1050" b="0" i="0">
                <a:solidFill>
                  <a:srgbClr val="6B6B6B"/>
                </a:solidFill>
                <a:latin typeface="Calibri"/>
              </a:rPr>
              <a:t>Partly — which is why the median is shown beside every mean. Champions mean £8,083, median £3,738. Note also that the cluster NUMBERS are seed-dependent: we name segments from the profile, never from the integer.</a:t>
            </a:r>
          </a:p>
        </p:txBody>
      </p:sp>
      <p:cxnSp>
        <p:nvCxnSpPr>
          <p:cNvPr id="26" name="Connector 25"/>
          <p:cNvCxnSpPr/>
          <p:nvPr/>
        </p:nvCxnSpPr>
        <p:spPr>
          <a:xfrm>
            <a:off x="777240" y="5586984"/>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77240" y="5687568"/>
            <a:ext cx="4343400" cy="457200"/>
          </a:xfrm>
          <a:prstGeom prst="rect">
            <a:avLst/>
          </a:prstGeom>
          <a:noFill/>
        </p:spPr>
        <p:txBody>
          <a:bodyPr wrap="square" anchor="t" lIns="0" rIns="0" tIns="0" bIns="0">
            <a:spAutoFit/>
          </a:bodyPr>
          <a:lstStyle/>
          <a:p>
            <a:pPr algn="l">
              <a:lnSpc>
                <a:spcPct val="118000"/>
              </a:lnSpc>
              <a:spcAft>
                <a:spcPts val="0"/>
              </a:spcAft>
            </a:pPr>
            <a:r>
              <a:rPr sz="1200" b="0" i="0">
                <a:solidFill>
                  <a:srgbClr val="B45309"/>
                </a:solidFill>
                <a:latin typeface="Georgia"/>
              </a:rPr>
              <a:t>Is the 56% saving proven?</a:t>
            </a:r>
          </a:p>
        </p:txBody>
      </p:sp>
      <p:sp>
        <p:nvSpPr>
          <p:cNvPr id="28" name="TextBox 27"/>
          <p:cNvSpPr txBox="1"/>
          <p:nvPr/>
        </p:nvSpPr>
        <p:spPr>
          <a:xfrm>
            <a:off x="5394960" y="5687568"/>
            <a:ext cx="5989320" cy="548640"/>
          </a:xfrm>
          <a:prstGeom prst="rect">
            <a:avLst/>
          </a:prstGeom>
          <a:noFill/>
        </p:spPr>
        <p:txBody>
          <a:bodyPr wrap="square" anchor="t" lIns="0" rIns="0" tIns="0" bIns="0">
            <a:spAutoFit/>
          </a:bodyPr>
          <a:lstStyle/>
          <a:p>
            <a:pPr algn="l">
              <a:lnSpc>
                <a:spcPct val="124000"/>
              </a:lnSpc>
              <a:spcAft>
                <a:spcPts val="0"/>
              </a:spcAft>
            </a:pPr>
            <a:r>
              <a:rPr sz="1050" b="0" i="0">
                <a:solidFill>
                  <a:srgbClr val="6B6B6B"/>
                </a:solidFill>
                <a:latin typeface="Calibri"/>
              </a:rPr>
              <a:t>No — it is arithmetic over our real segment sizes and revenue shares. Proving uplift requires an A/B test against a holdout, which is our first future-work item.</a:t>
            </a:r>
          </a:p>
        </p:txBody>
      </p:sp>
      <p:cxnSp>
        <p:nvCxnSpPr>
          <p:cNvPr id="29" name="Connector 28"/>
          <p:cNvCxnSpPr/>
          <p:nvPr/>
        </p:nvCxnSpPr>
        <p:spPr>
          <a:xfrm>
            <a:off x="777240" y="6135624"/>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777240" y="6291072"/>
            <a:ext cx="10637215"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777240" y="6400800"/>
            <a:ext cx="6400800" cy="228600"/>
          </a:xfrm>
          <a:prstGeom prst="rect">
            <a:avLst/>
          </a:prstGeom>
          <a:noFill/>
        </p:spPr>
        <p:txBody>
          <a:bodyPr wrap="square" anchor="t" lIns="0" rIns="0" tIns="0" bIns="0">
            <a:spAutoFit/>
          </a:bodyPr>
          <a:lstStyle/>
          <a:p>
            <a:pPr algn="l">
              <a:lnSpc>
                <a:spcPct val="125000"/>
              </a:lnSpc>
              <a:spcAft>
                <a:spcPts val="0"/>
              </a:spcAft>
            </a:pPr>
            <a:r>
              <a:rPr sz="850" b="0" i="0" spc="120">
                <a:solidFill>
                  <a:srgbClr val="6B6B6B"/>
                </a:solidFill>
                <a:latin typeface="Consolas"/>
              </a:rPr>
              <a:t>CUSTOMER SEGMENTATION FOR TARGETED E-COMMERCE MARKETING</a:t>
            </a:r>
          </a:p>
        </p:txBody>
      </p:sp>
      <p:sp>
        <p:nvSpPr>
          <p:cNvPr id="32" name="TextBox 31"/>
          <p:cNvSpPr txBox="1"/>
          <p:nvPr/>
        </p:nvSpPr>
        <p:spPr>
          <a:xfrm>
            <a:off x="9585655" y="6400800"/>
            <a:ext cx="1828800" cy="228600"/>
          </a:xfrm>
          <a:prstGeom prst="rect">
            <a:avLst/>
          </a:prstGeom>
          <a:noFill/>
        </p:spPr>
        <p:txBody>
          <a:bodyPr wrap="square" anchor="t" lIns="0" rIns="0" tIns="0" bIns="0">
            <a:spAutoFit/>
          </a:bodyPr>
          <a:lstStyle/>
          <a:p>
            <a:pPr algn="r">
              <a:lnSpc>
                <a:spcPct val="125000"/>
              </a:lnSpc>
              <a:spcAft>
                <a:spcPts val="0"/>
              </a:spcAft>
            </a:pPr>
            <a:r>
              <a:rPr sz="850" b="0" i="0" spc="120">
                <a:solidFill>
                  <a:srgbClr val="6B6B6B"/>
                </a:solidFill>
                <a:latin typeface="Consolas"/>
              </a:rPr>
              <a:t>26 / 27</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1B1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00584" cy="685800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2514600"/>
            <a:ext cx="8686800" cy="1097280"/>
          </a:xfrm>
          <a:prstGeom prst="rect">
            <a:avLst/>
          </a:prstGeom>
          <a:noFill/>
        </p:spPr>
        <p:txBody>
          <a:bodyPr wrap="square" anchor="t" lIns="0" rIns="0" tIns="0" bIns="0">
            <a:spAutoFit/>
          </a:bodyPr>
          <a:lstStyle/>
          <a:p>
            <a:pPr algn="l">
              <a:lnSpc>
                <a:spcPct val="100000"/>
              </a:lnSpc>
              <a:spcAft>
                <a:spcPts val="0"/>
              </a:spcAft>
            </a:pPr>
            <a:r>
              <a:rPr sz="5400" b="0" i="0">
                <a:solidFill>
                  <a:srgbClr val="FAF8F4"/>
                </a:solidFill>
                <a:latin typeface="Georgia"/>
              </a:rPr>
              <a:t>Thank you</a:t>
            </a:r>
          </a:p>
        </p:txBody>
      </p:sp>
      <p:cxnSp>
        <p:nvCxnSpPr>
          <p:cNvPr id="5" name="Connector 4"/>
          <p:cNvCxnSpPr/>
          <p:nvPr/>
        </p:nvCxnSpPr>
        <p:spPr>
          <a:xfrm>
            <a:off x="777240" y="3794760"/>
            <a:ext cx="2194560" cy="0"/>
          </a:xfrm>
          <a:prstGeom prst="line">
            <a:avLst/>
          </a:prstGeom>
          <a:ln w="28575">
            <a:solidFill>
              <a:srgbClr val="B4530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77240" y="4114800"/>
            <a:ext cx="7315200" cy="457200"/>
          </a:xfrm>
          <a:prstGeom prst="rect">
            <a:avLst/>
          </a:prstGeom>
          <a:noFill/>
        </p:spPr>
        <p:txBody>
          <a:bodyPr wrap="square" anchor="t" lIns="0" rIns="0" tIns="0" bIns="0">
            <a:spAutoFit/>
          </a:bodyPr>
          <a:lstStyle/>
          <a:p>
            <a:pPr algn="l">
              <a:lnSpc>
                <a:spcPct val="125000"/>
              </a:lnSpc>
              <a:spcAft>
                <a:spcPts val="0"/>
              </a:spcAft>
            </a:pPr>
            <a:r>
              <a:rPr sz="1600" b="0" i="0">
                <a:solidFill>
                  <a:srgbClr val="C8C2B6"/>
                </a:solidFill>
                <a:latin typeface="Calibri"/>
              </a:rPr>
              <a:t>Questions welcome</a:t>
            </a:r>
          </a:p>
        </p:txBody>
      </p:sp>
      <p:sp>
        <p:nvSpPr>
          <p:cNvPr id="7" name="TextBox 6"/>
          <p:cNvSpPr txBox="1"/>
          <p:nvPr/>
        </p:nvSpPr>
        <p:spPr>
          <a:xfrm>
            <a:off x="777240" y="5120640"/>
            <a:ext cx="10058400" cy="731520"/>
          </a:xfrm>
          <a:prstGeom prst="rect">
            <a:avLst/>
          </a:prstGeom>
          <a:noFill/>
        </p:spPr>
        <p:txBody>
          <a:bodyPr wrap="square" anchor="t" lIns="0" rIns="0" tIns="0" bIns="0">
            <a:spAutoFit/>
          </a:bodyPr>
          <a:lstStyle/>
          <a:p>
            <a:pPr algn="l">
              <a:lnSpc>
                <a:spcPct val="180000"/>
              </a:lnSpc>
              <a:spcAft>
                <a:spcPts val="0"/>
              </a:spcAft>
            </a:pPr>
            <a:r>
              <a:rPr sz="1050" b="0" i="0" spc="140">
                <a:solidFill>
                  <a:srgbClr val="8A8478"/>
                </a:solidFill>
                <a:latin typeface="Consolas"/>
              </a:rPr>
              <a:t>CUSTOMER SEGMENTATION FOR TARGETED E-COMMERCE MARKETING</a:t>
            </a:r>
          </a:p>
          <a:p>
            <a:pPr algn="l">
              <a:lnSpc>
                <a:spcPct val="180000"/>
              </a:lnSpc>
              <a:spcAft>
                <a:spcPts val="0"/>
              </a:spcAft>
            </a:pPr>
            <a:r>
              <a:rPr sz="1050" b="0" i="0" spc="140">
                <a:solidFill>
                  <a:srgbClr val="8A8478"/>
                </a:solidFill>
                <a:latin typeface="Consolas"/>
              </a:rPr>
              <a:t>RFM · K-MEANS · CHURN PREDICTION · FASTAPI · REACT</a:t>
            </a:r>
          </a:p>
        </p:txBody>
      </p:sp>
      <p:sp>
        <p:nvSpPr>
          <p:cNvPr id="8" name="TextBox 7"/>
          <p:cNvSpPr txBox="1"/>
          <p:nvPr/>
        </p:nvSpPr>
        <p:spPr>
          <a:xfrm>
            <a:off x="7756855" y="5120640"/>
            <a:ext cx="3657600" cy="731520"/>
          </a:xfrm>
          <a:prstGeom prst="rect">
            <a:avLst/>
          </a:prstGeom>
          <a:noFill/>
        </p:spPr>
        <p:txBody>
          <a:bodyPr wrap="square" anchor="t" lIns="0" rIns="0" tIns="0" bIns="0">
            <a:spAutoFit/>
          </a:bodyPr>
          <a:lstStyle/>
          <a:p>
            <a:pPr algn="r">
              <a:lnSpc>
                <a:spcPct val="180000"/>
              </a:lnSpc>
              <a:spcAft>
                <a:spcPts val="0"/>
              </a:spcAft>
            </a:pPr>
            <a:r>
              <a:rPr sz="1000" b="0" i="0">
                <a:solidFill>
                  <a:srgbClr val="6A6458"/>
                </a:solidFill>
                <a:latin typeface="Consolas"/>
              </a:rPr>
              <a:t>S.M. Tahmidul Islam  ·  Hasan Al Mamun  ·  Mahbubul Alam Marin  ·  Mahbubur Raman Mahfuj  ·  Aminul Islam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