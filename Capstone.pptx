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83" r:id="rId34"/>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9953320ad_2_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f9953320ad_2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Good morning. Our project is Customer Segmentation for Targeted E-Commerce Marketing. In one line: we take a year of raw transaction data, group the customers by how they actually behave, and turn that into a live dashboard a marketing team can act on. I'll cover the problem, the method, the results, the system we built, and the limitations.</a:t>
            </a:r>
            <a:endParaRPr/>
          </a:p>
        </p:txBody>
      </p:sp>
      <p:sp>
        <p:nvSpPr>
          <p:cNvPr id="128" name="Google Shape;128;g3f9953320ad_2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9953320ad_2_9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g3f9953320ad_2_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Here is the route. Six parts. I'll spend most of the time on parts three and four — the method and what the segments actually say — because that is where the contribution is.</a:t>
            </a:r>
            <a:endParaRPr/>
          </a:p>
        </p:txBody>
      </p:sp>
      <p:sp>
        <p:nvSpPr>
          <p:cNvPr id="153" name="Google Shape;153;g3f9953320ad_2_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9953320ad_2_13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g3f9953320ad_2_1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problem is simple to state. An online retailer has thousands of customers and treats them as one undifferentiated list. Every campaign goes to everybody. But the customers are not the same: in our data the top ten percent of customers generate sixty-one percent of the revenue. Sending the same twenty-percent-off coupon to a loyal high spender and to someone who bought once a year ago is wasteful in two directions — you discount revenue you would have earned anyway, and you spend on people who will not come back.</a:t>
            </a:r>
            <a:endParaRPr/>
          </a:p>
        </p:txBody>
      </p:sp>
      <p:sp>
        <p:nvSpPr>
          <p:cNvPr id="189" name="Google Shape;189;g3f9953320ad_2_1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9953320ad_2_15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g3f9953320ad_2_1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From that problem we set five objectives. Note the fifth one — we did not want this to end as a notebook full of plots. A marketing team cannot run Jupyter, so part of the objective was delivering it as a working web application.</a:t>
            </a:r>
            <a:endParaRPr/>
          </a:p>
        </p:txBody>
      </p:sp>
      <p:sp>
        <p:nvSpPr>
          <p:cNvPr id="212" name="Google Shape;212;g3f9953320ad_2_1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9953320ad_2_18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g3f9953320ad_2_1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used the UCI Online Retail dataset — a real transaction log from a UK-based online gift retailer, about 542,000 rows covering roughly one year. It is a standard benchmark for this task, which means our results are comparable to published work. Note the dates shown here: we shifted the original 2010–2011 window forward so the live dashboard demo has recent activity to react to. The behaviour and the relative gaps between purchases are unchanged.</a:t>
            </a:r>
            <a:endParaRPr/>
          </a:p>
        </p:txBody>
      </p:sp>
      <p:sp>
        <p:nvSpPr>
          <p:cNvPr id="243" name="Google Shape;243;g3f9953320ad_2_1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9953320ad_2_21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g3f9953320ad_2_2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Before any modelling, the data had to be cleaned. Two decisions matter and the examiner may push on both. First, we dropped 135,080 rows with no CustomerID — roughly a quarter of the file. These are guest checkouts; without an ID we cannot attribute behaviour to a person, and per-customer analysis is the entire point. Second, we removed rows with quantity less than or equal to zero — these are returns and cancellations. We keep them out because a return is not purchase behaviour. We acknowledge in our limitations that a returns-heavy customer is itself a useful signal we are discarding.</a:t>
            </a:r>
            <a:endParaRPr/>
          </a:p>
        </p:txBody>
      </p:sp>
      <p:sp>
        <p:nvSpPr>
          <p:cNvPr id="275" name="Google Shape;275;g3f9953320ad_2_2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9953320ad_2_25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g3f9953320ad_2_2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heart of the feature engineering. RFM is a long-established marketing framework that describes a customer with three numbers. Recency: how many days since their last order — measured against a snapshot date one day after the last transaction in the data, so no customer has a recency of zero. Frequency: how many distinct invoices they placed. Monetary: total money spent. The key transformation is that 398,000 transaction rows collapse to 4,339 customer rows. We are no longer modelling purchases; we are modelling people.</a:t>
            </a:r>
            <a:endParaRPr/>
          </a:p>
        </p:txBody>
      </p:sp>
      <p:sp>
        <p:nvSpPr>
          <p:cNvPr id="312" name="Google Shape;312;g3f9953320ad_2_2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f9953320ad_2_28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g3f9953320ad_2_2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Scaling is where a lot of RFM projects go wrong, so we want to show our working. K-Means uses Euclidean distance, so a feature with a bigger numeric range dominates. Monetary ranges from a few pounds to two hundred and eighty thousand; recency ranges nought to about three seventy. Worse, monetary is extremely right-skewed — a skewness of over nineteen. If we only standardise, a handful of whales sit so far out that K-Means spends clusters isolating them. So we apply log1p first, which compresses the long tail and brings skewness down to zero point three six, and then StandardScaler. One convention we kept throughout: we model on the scaled data but always report and interpret using the original pounds and days.</a:t>
            </a:r>
            <a:endParaRPr/>
          </a:p>
        </p:txBody>
      </p:sp>
      <p:sp>
        <p:nvSpPr>
          <p:cNvPr id="346" name="Google Shape;346;g3f9953320ad_2_2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9953320ad_2_30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g3f9953320ad_2_30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Choosing K is the question an examiner is most likely to press on, so we will be direct about it. The elbow curve bends between three and five — it is a soft elbow, not a sharp one. Silhouette actually peaks at K equals two, with zero point four three. We did not take K equals two, and here is the defence. Silhouette rewards few, well-separated blobs, and RFM behaviour is a continuum, not naturally separated islands — so silhouette will almost always favour the smallest K. K equals two only tells us 'active versus inactive', which marketing already knows and cannot act on. K equals four still scores zero point three four, which indicates real structure, and it recovers the four segments the marketing literature recognises: champions, loyal, new, and hibernating. We chose K by actionability, with the statistics as a sanity check, and we are stating that openly rather than hiding it.</a:t>
            </a:r>
            <a:endParaRPr/>
          </a:p>
        </p:txBody>
      </p:sp>
      <p:sp>
        <p:nvSpPr>
          <p:cNvPr id="362" name="Google Shape;362;g3f9953320ad_2_30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f9953320ad_2_31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g3f9953320ad_2_3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That is the method. Now the results.</a:t>
            </a:r>
            <a:endParaRPr/>
          </a:p>
        </p:txBody>
      </p:sp>
      <p:sp>
        <p:nvSpPr>
          <p:cNvPr id="381" name="Google Shape;381;g3f9953320ad_2_3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9953320ad_2_33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g3f9953320ad_2_3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Here are the four clusters in original units — days and pounds, not scaled numbers. Read the extremes first. Cluster 2 is 715 customers, bought 12 days ago on average, nearly 14 orders each, over eight thousand pounds apiece — these are the champions. Cluster 3 is the opposite: 1,624 customers, last seen 180 days ago, barely more than one order, about three hundred and forty pounds — dormant. Cluster 0 is recent but low-volume: new or occasional buyers. Cluster 1 sits in the middle and is the interesting one — decent spend, but seventy days since their last order. That is a segment actively cooling down, and it is the one where intervention pays.</a:t>
            </a:r>
            <a:endParaRPr/>
          </a:p>
        </p:txBody>
      </p:sp>
      <p:sp>
        <p:nvSpPr>
          <p:cNvPr id="395" name="Google Shape;395;g3f9953320ad_2_3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f9953320ad_2_39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g3f9953320ad_2_39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visual check. We ran PCA to project the three-dimensional scaled RFM space down to two so it can be plotted; the first two components retain ninety-four percent of the variance, so this picture is a fair representation. Two things to say before anyone asks. First, PCA is used purely for visualisation — the clustering itself happens in the full three-dimensional scaled space, not on these coordinates. Second, the clusters touch at the boundaries. That is expected and correct: customer behaviour is a continuum, so perfectly separated circles would actually be a sign of something artificial. The centroids are clearly distinct and the gradient runs cleanly from dormant to champion.</a:t>
            </a:r>
            <a:endParaRPr/>
          </a:p>
        </p:txBody>
      </p:sp>
      <p:sp>
        <p:nvSpPr>
          <p:cNvPr id="456" name="Google Shape;456;g3f9953320ad_2_39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f9953320ad_2_4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g3f9953320ad_2_4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single most important slide for the business argument, so I will pause on it. Look at the mismatch between the grey bars and the orange bars. Cluster 2 is sixteen percent of the customer base but sixty-five percent of the revenue. Cluster 3 is thirty-seven percent of the base — the biggest group — and six percent of the revenue. Under blanket marketing those two groups receive identical treatment and identical budget. That is precisely the waste we set out to remove. Segmentation makes the mismatch visible, and once it is visible it can be acted on.</a:t>
            </a:r>
            <a:endParaRPr/>
          </a:p>
        </p:txBody>
      </p:sp>
      <p:sp>
        <p:nvSpPr>
          <p:cNvPr id="470" name="Google Shape;470;g3f9953320ad_2_4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f9953320ad_2_43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g3f9953320ad_2_4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 cluster number is not a deliverable. This slide is the translation layer — for each segment, who they are and what marketing should actually do. Champions get recognition, not discounts; discounting them destroys margin on revenue you were going to receive anyway. At-risk customers get the win-back offer, because that is where a pound of spend changes an outcome. New buyers get a second-purchase nudge. And the hibernating group gets one cheap reactivation attempt, then goes to a low-cost channel — we deliberately do not recommend abandoning them, but we do not recommend spending premium budget on them either.</a:t>
            </a:r>
            <a:endParaRPr/>
          </a:p>
        </p:txBody>
      </p:sp>
      <p:sp>
        <p:nvSpPr>
          <p:cNvPr id="496" name="Google Shape;496;g3f9953320ad_2_4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f9953320ad_2_46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g3f9953320ad_2_4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money slide — the answer to 'so what?'. Take a campaign costing two pounds per contact. Blanket: 4,339 contacts, £8,678. Targeted at the two segments where spend actually changes behaviour — champions and at-risk — that is 1,890 contacts, £3,780. A fifty-six percent reduction in campaign cost, while still addressing the customers who account for eighty-nine percent of revenue. To be clear about what this claim is: it is a cost-efficiency argument computed from our real segment sizes, not a measured uplift. Proving uplift needs an A/B test against a holdout group, which is the first thing we would do next.</a:t>
            </a:r>
            <a:endParaRPr/>
          </a:p>
        </p:txBody>
      </p:sp>
      <p:sp>
        <p:nvSpPr>
          <p:cNvPr id="536" name="Google Shape;536;g3f9953320ad_2_4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f9953320ad_2_50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g3f9953320ad_2_50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second half of the project moves from description to prediction. Clustering tells us who a customer is today; we also wanted a forward-looking risk score. We defined churn as recency greater than ninety days, then trained a logistic regression on recency, frequency and monetary to output a churn probability per customer. Thirty-three percent of the base is flagged as churned under that definition. The really useful output is the breakdown by cluster on the right — churn risk is near zero in champions and seventy-one percent in the hibernating group, which independently confirms the segmentation is capturing something real.</a:t>
            </a:r>
            <a:endParaRPr/>
          </a:p>
        </p:txBody>
      </p:sp>
      <p:sp>
        <p:nvSpPr>
          <p:cNvPr id="570" name="Google Shape;570;g3f9953320ad_2_50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f9953320ad_2_53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g3f9953320ad_2_5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Now the slide we expect to be questioned on, so we are raising it ourselves. The classifier reports one hundred percent accuracy, precision and recall. That is not a good result — it is a warning sign, and we understand exactly why it happens. Our churn label is defined as recency greater than ninety, and recency is also one of the three inputs. The model only has to learn a threshold on a feature it has already been given. It is a tautology, not predictive power. The histogram shows the symptom: probabilities pile up at zero and one with nothing in between, because there is no genuine uncertainty to express. What would fix it: define churn on a future window — for example, did this customer buy in the next ninety days — and train only on features observed before that window, excluding recency. We did not have time to rebuild the pipeline for that, and we would rather state the flaw plainly than present a perfect score as a success.</a:t>
            </a:r>
            <a:endParaRPr/>
          </a:p>
        </p:txBody>
      </p:sp>
      <p:sp>
        <p:nvSpPr>
          <p:cNvPr id="600" name="Google Shape;600;g3f9953320ad_2_5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f9953320ad_2_56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3" name="Google Shape;633;g3f9953320ad_2_5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far this is analysis. The last part of the project was making it usable.</a:t>
            </a:r>
            <a:endParaRPr/>
          </a:p>
        </p:txBody>
      </p:sp>
      <p:sp>
        <p:nvSpPr>
          <p:cNvPr id="634" name="Google Shape;634;g3f9953320ad_2_56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f9953320ad_2_57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g3f9953320ad_2_5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system architecture. Three layers. The data layer is the raw CSV plus a SQLite database holding the product catalogue and any simulated purchases. The application layer is a FastAPI service in Python; critically it imports the exact same pipeline module the notebook uses, so there is no risk of the dashboard and the analysis disagreeing. It runs the pipeline once at startup, holds the results in memory, and serves cached JSON. The presentation layer is a React and TypeScript single-page app using Recharts, which fetches from those endpoints. The whole thing is deployed on Render.</a:t>
            </a:r>
            <a:endParaRPr/>
          </a:p>
        </p:txBody>
      </p:sp>
      <p:sp>
        <p:nvSpPr>
          <p:cNvPr id="648" name="Google Shape;648;g3f9953320ad_2_57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9953320ad_2_63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g3f9953320ad_2_6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Briefly, the API surface. Nine endpoints. Summary and clusters give the headline figures; customers is a paginated, filterable directory; the three chart endpoints return pre-binned data so the browser never has to process four thousand rows; and the demo endpoints drive the live re-segmentation I will show in a moment. Every response is a typed Pydantic model, so the frontend's TypeScript types match the backend contract exactly.</a:t>
            </a:r>
            <a:endParaRPr/>
          </a:p>
        </p:txBody>
      </p:sp>
      <p:sp>
        <p:nvSpPr>
          <p:cNvPr id="702" name="Google Shape;702;g3f9953320ad_2_6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f9953320ad_2_67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2" name="Google Shape;742;g3f9953320ad_2_6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dashboard is laid out as a report in six sections, so a manager reads it top to bottom rather than hunting through a menu. Overview gives the four headline numbers. The segments section is the cluster table. Distribution has the PCA scatter and the churn density. Directory is the searchable per-customer list — this is the part a marketer actually exports. Method exposes the elbow plot and RFM distributions so the analysis is auditable rather than a black box. One control worth pointing out: the churn threshold selector in the header recomputes the entire dashboard for 30, 60, 90, 120 or 180 days, so the definition of churn is the user's to set, not hard-coded by us.</a:t>
            </a:r>
            <a:endParaRPr/>
          </a:p>
        </p:txBody>
      </p:sp>
      <p:sp>
        <p:nvSpPr>
          <p:cNvPr id="743" name="Google Shape;743;g3f9953320ad_2_67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f9953320ad_2_707: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0" name="Google Shape;780;g3f9953320ad_2_7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what we would like to show live, because it demonstrates that the system is not a static report. A customer logs in with real credentials, buys a product, and the backend immediately recomputes that customer's recency to zero, increments frequency, adds to monetary value, re-runs the scaler and K-Means prediction, and reassigns them to a cluster. The panel shows the before and after side by side, so you can watch a customer move segment in real time. There is also a reset endpoint that restores the original state, so the demo can be run repeatedly.</a:t>
            </a:r>
            <a:endParaRPr/>
          </a:p>
        </p:txBody>
      </p:sp>
      <p:sp>
        <p:nvSpPr>
          <p:cNvPr id="781" name="Google Shape;781;g3f9953320ad_2_7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f9953320ad_2_74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5" name="Google Shape;815;g3f9953320ad_2_7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would rather state the limitations than be caught by them. Five. One, the churn label leaks — already covered. Two, we discarded a quarter of the file with the null CustomerID rows; those are real revenue we cannot attribute. Three, the silhouette score genuinely prefers K equals two and we overrode it on business grounds — a defensible choice, but a choice. Four, RFM ignores what people buy, only how much and how often; product affinity would add a lot. Five, the cost saving is arithmetic from our segment sizes, not a measured uplift — that needs a controlled trial.</a:t>
            </a:r>
            <a:endParaRPr/>
          </a:p>
        </p:txBody>
      </p:sp>
      <p:sp>
        <p:nvSpPr>
          <p:cNvPr id="816" name="Google Shape;816;g3f9953320ad_2_7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f9953320ad_2_77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6" name="Google Shape;846;g3f9953320ad_2_7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Future work maps directly onto those limitations, in priority order. Rebuild churn on a forward window so it becomes a genuine prediction. Run an A/B test to measure real uplift. Add product-affinity features so segments know what people buy, not just how much. Compare against alternative clustering — DBSCAN and hierarchical, which we imported but did not have time to evaluate properly. Add customer lifetime value so segments can be ranked by future worth. And wire the dashboard directly into an email platform so a segment becomes a campaign in one click.</a:t>
            </a:r>
            <a:endParaRPr/>
          </a:p>
        </p:txBody>
      </p:sp>
      <p:sp>
        <p:nvSpPr>
          <p:cNvPr id="847" name="Google Shape;847;g3f9953320ad_2_7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f9953320ad_2_81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8" name="Google Shape;888;g3f9953320ad_2_8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To conclude. We took 542,000 raw transactions and turned them into four behavioural segments, each with a persona, a revenue share and a recommended marketing action. We attached a churn indicator to every customer. And we delivered it as a working web application rather than a notebook, so a marketing team can use it without writing code. The headline finding is the concentration: sixteen percent of customers carry sixty-five percent of revenue — and targeting on that basis cuts campaign cost by fifty-six percent while still addressing eighty-nine percent of revenue. Thank you. We are happy to take questions.</a:t>
            </a:r>
            <a:endParaRPr/>
          </a:p>
        </p:txBody>
      </p:sp>
      <p:sp>
        <p:nvSpPr>
          <p:cNvPr id="889" name="Google Shape;889;g3f9953320ad_2_8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f9953320ad_2_84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0" name="Google Shape;920;g3f9953320ad_2_8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APPENDIX — do not present this slide; it is your preparation crib. Keep it in the deck so you can jump to it if a question lands, or delete it before submitting.</a:t>
            </a:r>
            <a:endParaRPr/>
          </a:p>
        </p:txBody>
      </p:sp>
      <p:sp>
        <p:nvSpPr>
          <p:cNvPr id="921" name="Google Shape;921;g3f9953320ad_2_8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f9953320ad_2_87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g3f9953320ad_2_8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Thank you. We are ready for questions.</a:t>
            </a:r>
            <a:endParaRPr/>
          </a:p>
        </p:txBody>
      </p:sp>
      <p:sp>
        <p:nvSpPr>
          <p:cNvPr id="950" name="Google Shape;950;g3f9953320ad_2_8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single slide is the whole project in one picture — worth pausing on, because everything that follows is a detail of one of these boxes.</a:t>
            </a:r>
          </a:p>
          <a:p/>
          <a:p>
            <a:r>
              <a:t>Read it left to right. We start with the raw e-commerce dataset, 541,909 rows. Preprocessing is two decisions: drop rows with no customer ID, because a guest checkout cannot be attributed to a person, and filter out returns where quantity is not positive. That leaves roughly 398,000 clean transaction rows.</a:t>
            </a:r>
          </a:p>
          <a:p/>
          <a:p>
            <a:r>
              <a:t>Feature engineering collapses those transactions into one row per customer with three numbers — Recency, Frequency, Monetary. Because monetary value is severely skewed we apply log1p and then StandardScaler before any modelling.</a:t>
            </a:r>
          </a:p>
          <a:p/>
          <a:p>
            <a:r>
              <a:t>That feeds two branches. Downward, clustering: we use the elbow method and silhouette analysis to settle on K equals four, giving Champions, At-Risk Mid-Value, New or Occasional, and Hibernating. Rightward, churn prediction: we label a customer churned if recency exceeds ninety days and fit a logistic regression that outputs a churn probability between zero and one.</a:t>
            </a:r>
          </a:p>
          <a:p/>
          <a:p>
            <a:r>
              <a:t>Both outputs land in the delivery layer at the bottom — the FastAPI backend, which serves the results as JSON, and the React dashboard that consumes them. Keep the spoken summary to those two; there is no need to walk through the mobile client unless someone asks about it directly.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push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spd="med">
    <p:push dir="r"/>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2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p:nvPr/>
        </p:nvSpPr>
        <p:spPr>
          <a:xfrm>
            <a:off x="0" y="0"/>
            <a:ext cx="9144015" cy="514350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0" y="0"/>
            <a:ext cx="75440" cy="5143500"/>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txBox="1"/>
          <p:nvPr/>
        </p:nvSpPr>
        <p:spPr>
          <a:xfrm>
            <a:off x="582946" y="788670"/>
            <a:ext cx="7978200" cy="1230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800" u="none" cap="none" strike="noStrike">
                <a:solidFill>
                  <a:srgbClr val="A8A296"/>
                </a:solidFill>
                <a:latin typeface="Consolas"/>
                <a:ea typeface="Consolas"/>
                <a:cs typeface="Consolas"/>
                <a:sym typeface="Consolas"/>
              </a:rPr>
              <a:t>FINAL YEAR CAPSTONE PROJECT  · Intake </a:t>
            </a:r>
            <a:r>
              <a:rPr lang="en" sz="800">
                <a:solidFill>
                  <a:srgbClr val="A8A296"/>
                </a:solidFill>
                <a:latin typeface="Consolas"/>
                <a:ea typeface="Consolas"/>
                <a:cs typeface="Consolas"/>
                <a:sym typeface="Consolas"/>
              </a:rPr>
              <a:t>42nd</a:t>
            </a:r>
            <a:r>
              <a:rPr b="0" i="0" lang="en" sz="800" u="none" cap="none" strike="noStrike">
                <a:solidFill>
                  <a:srgbClr val="A8A296"/>
                </a:solidFill>
                <a:latin typeface="Consolas"/>
                <a:ea typeface="Consolas"/>
                <a:cs typeface="Consolas"/>
                <a:sym typeface="Consolas"/>
              </a:rPr>
              <a:t> </a:t>
            </a:r>
            <a:r>
              <a:rPr lang="en" sz="800">
                <a:solidFill>
                  <a:srgbClr val="A8A296"/>
                </a:solidFill>
                <a:latin typeface="Consolas"/>
                <a:ea typeface="Consolas"/>
                <a:cs typeface="Consolas"/>
                <a:sym typeface="Consolas"/>
              </a:rPr>
              <a:t>· </a:t>
            </a:r>
            <a:r>
              <a:rPr b="0" i="0" lang="en" sz="800" u="none" cap="none" strike="noStrike">
                <a:solidFill>
                  <a:srgbClr val="A8A296"/>
                </a:solidFill>
                <a:latin typeface="Consolas"/>
                <a:ea typeface="Consolas"/>
                <a:cs typeface="Consolas"/>
                <a:sym typeface="Consolas"/>
              </a:rPr>
              <a:t> B.SC. IN CSE </a:t>
            </a:r>
            <a:r>
              <a:rPr lang="en" sz="800">
                <a:solidFill>
                  <a:srgbClr val="A8A296"/>
                </a:solidFill>
                <a:latin typeface="Consolas"/>
                <a:ea typeface="Consolas"/>
                <a:cs typeface="Consolas"/>
                <a:sym typeface="Consolas"/>
              </a:rPr>
              <a:t>·  BUBT</a:t>
            </a:r>
            <a:endParaRPr sz="1100"/>
          </a:p>
        </p:txBody>
      </p:sp>
      <p:sp>
        <p:nvSpPr>
          <p:cNvPr id="133" name="Google Shape;133;p25"/>
          <p:cNvSpPr txBox="1"/>
          <p:nvPr/>
        </p:nvSpPr>
        <p:spPr>
          <a:xfrm>
            <a:off x="582949" y="1268725"/>
            <a:ext cx="5715000" cy="14997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lang="en" sz="2400">
                <a:solidFill>
                  <a:srgbClr val="FAF8F4"/>
                </a:solidFill>
                <a:latin typeface="Georgia"/>
                <a:ea typeface="Georgia"/>
                <a:cs typeface="Georgia"/>
                <a:sym typeface="Georgia"/>
              </a:rPr>
              <a:t>Development of a Data-Driven Customer Segmentation Model to Enhance Marketing Strategies and Customer Satisfaction</a:t>
            </a:r>
            <a:endParaRPr sz="2400"/>
          </a:p>
        </p:txBody>
      </p:sp>
      <p:cxnSp>
        <p:nvCxnSpPr>
          <p:cNvPr id="134" name="Google Shape;134;p25"/>
          <p:cNvCxnSpPr/>
          <p:nvPr/>
        </p:nvCxnSpPr>
        <p:spPr>
          <a:xfrm>
            <a:off x="582946" y="3168396"/>
            <a:ext cx="1645964"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135" name="Google Shape;135;p25"/>
          <p:cNvSpPr txBox="1"/>
          <p:nvPr/>
        </p:nvSpPr>
        <p:spPr>
          <a:xfrm>
            <a:off x="582946" y="3374136"/>
            <a:ext cx="5623800" cy="406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1100" u="none" cap="none" strike="noStrike">
                <a:solidFill>
                  <a:srgbClr val="C8C2B6"/>
                </a:solidFill>
                <a:latin typeface="Calibri"/>
                <a:ea typeface="Calibri"/>
                <a:cs typeface="Calibri"/>
                <a:sym typeface="Calibri"/>
              </a:rPr>
              <a:t>Spend the marketing budget on the customers who will actually </a:t>
            </a:r>
            <a:r>
              <a:rPr lang="en" sz="1100">
                <a:solidFill>
                  <a:srgbClr val="C8C2B6"/>
                </a:solidFill>
                <a:latin typeface="Calibri"/>
                <a:ea typeface="Calibri"/>
                <a:cs typeface="Calibri"/>
                <a:sym typeface="Calibri"/>
              </a:rPr>
              <a:t>respond—identified</a:t>
            </a:r>
            <a:r>
              <a:rPr b="0" i="0" lang="en" sz="1100" u="none" cap="none" strike="noStrike">
                <a:solidFill>
                  <a:srgbClr val="C8C2B6"/>
                </a:solidFill>
                <a:latin typeface="Calibri"/>
                <a:ea typeface="Calibri"/>
                <a:cs typeface="Calibri"/>
                <a:sym typeface="Calibri"/>
              </a:rPr>
              <a:t> from </a:t>
            </a:r>
            <a:r>
              <a:rPr lang="en" sz="1100">
                <a:solidFill>
                  <a:srgbClr val="C8C2B6"/>
                </a:solidFill>
                <a:latin typeface="Calibri"/>
                <a:ea typeface="Calibri"/>
                <a:cs typeface="Calibri"/>
                <a:sym typeface="Calibri"/>
              </a:rPr>
              <a:t>behavior,</a:t>
            </a:r>
            <a:r>
              <a:rPr b="0" i="0" lang="en" sz="1100" u="none" cap="none" strike="noStrike">
                <a:solidFill>
                  <a:srgbClr val="C8C2B6"/>
                </a:solidFill>
                <a:latin typeface="Calibri"/>
                <a:ea typeface="Calibri"/>
                <a:cs typeface="Calibri"/>
                <a:sym typeface="Calibri"/>
              </a:rPr>
              <a:t> not guesswork.</a:t>
            </a:r>
            <a:endParaRPr sz="1100"/>
          </a:p>
        </p:txBody>
      </p:sp>
      <p:sp>
        <p:nvSpPr>
          <p:cNvPr id="136" name="Google Shape;136;p25"/>
          <p:cNvSpPr txBox="1"/>
          <p:nvPr/>
        </p:nvSpPr>
        <p:spPr>
          <a:xfrm>
            <a:off x="582946" y="4217670"/>
            <a:ext cx="3703419" cy="617220"/>
          </a:xfrm>
          <a:prstGeom prst="rect">
            <a:avLst/>
          </a:prstGeom>
          <a:noFill/>
          <a:ln>
            <a:noFill/>
          </a:ln>
        </p:spPr>
        <p:txBody>
          <a:bodyPr anchorCtr="0" anchor="t" bIns="0" lIns="0" spcFirstLastPara="1" rIns="0" wrap="square" tIns="0">
            <a:spAutoFit/>
          </a:bodyPr>
          <a:lstStyle/>
          <a:p>
            <a:pPr indent="0" lvl="0" marL="0" marR="0" rtl="0" algn="l">
              <a:lnSpc>
                <a:spcPct val="170000"/>
              </a:lnSpc>
              <a:spcBef>
                <a:spcPts val="0"/>
              </a:spcBef>
              <a:spcAft>
                <a:spcPts val="0"/>
              </a:spcAft>
              <a:buNone/>
            </a:pPr>
            <a:r>
              <a:rPr b="0" i="0" lang="en" sz="800" u="none" cap="none" strike="noStrike">
                <a:solidFill>
                  <a:srgbClr val="8A8478"/>
                </a:solidFill>
                <a:latin typeface="Consolas"/>
                <a:ea typeface="Consolas"/>
                <a:cs typeface="Consolas"/>
                <a:sym typeface="Consolas"/>
              </a:rPr>
              <a:t>RFM Analysis  ·  K-Means Clustering  ·  Churn Prediction</a:t>
            </a:r>
            <a:endParaRPr sz="1100"/>
          </a:p>
          <a:p>
            <a:pPr indent="0" lvl="0" marL="0" marR="0" rtl="0" algn="l">
              <a:lnSpc>
                <a:spcPct val="170000"/>
              </a:lnSpc>
              <a:spcBef>
                <a:spcPts val="0"/>
              </a:spcBef>
              <a:spcAft>
                <a:spcPts val="0"/>
              </a:spcAft>
              <a:buNone/>
            </a:pPr>
            <a:r>
              <a:rPr b="0" i="0" lang="en" sz="800" u="none" cap="none" strike="noStrike">
                <a:solidFill>
                  <a:srgbClr val="8A8478"/>
                </a:solidFill>
                <a:latin typeface="Consolas"/>
                <a:ea typeface="Consolas"/>
                <a:cs typeface="Consolas"/>
                <a:sym typeface="Consolas"/>
              </a:rPr>
              <a:t>FastAPI  ·  React  ·  Live Analytics Dashboard</a:t>
            </a:r>
            <a:endParaRPr sz="1100"/>
          </a:p>
        </p:txBody>
      </p:sp>
      <p:sp>
        <p:nvSpPr>
          <p:cNvPr id="137" name="Google Shape;137;p25"/>
          <p:cNvSpPr/>
          <p:nvPr/>
        </p:nvSpPr>
        <p:spPr>
          <a:xfrm>
            <a:off x="6297875" y="962549"/>
            <a:ext cx="2263200" cy="3657300"/>
          </a:xfrm>
          <a:prstGeom prst="rect">
            <a:avLst/>
          </a:prstGeom>
          <a:noFill/>
          <a:ln cap="flat" cmpd="sng" w="9525">
            <a:solidFill>
              <a:srgbClr val="3A383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8" name="Google Shape;138;p25"/>
          <p:cNvSpPr txBox="1"/>
          <p:nvPr/>
        </p:nvSpPr>
        <p:spPr>
          <a:xfrm>
            <a:off x="6469324" y="1100705"/>
            <a:ext cx="1920300" cy="1077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u="none" cap="none" strike="noStrike">
                <a:solidFill>
                  <a:srgbClr val="8A8478"/>
                </a:solidFill>
                <a:latin typeface="Consolas"/>
                <a:ea typeface="Consolas"/>
                <a:cs typeface="Consolas"/>
                <a:sym typeface="Consolas"/>
              </a:rPr>
              <a:t>PRESENTED BY</a:t>
            </a:r>
            <a:endParaRPr sz="1100"/>
          </a:p>
        </p:txBody>
      </p:sp>
      <p:sp>
        <p:nvSpPr>
          <p:cNvPr id="139" name="Google Shape;139;p25"/>
          <p:cNvSpPr txBox="1"/>
          <p:nvPr/>
        </p:nvSpPr>
        <p:spPr>
          <a:xfrm>
            <a:off x="6469324" y="1314690"/>
            <a:ext cx="19203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u="none" cap="none" strike="noStrike">
                <a:solidFill>
                  <a:srgbClr val="FAF8F4"/>
                </a:solidFill>
                <a:latin typeface="Calibri"/>
                <a:ea typeface="Calibri"/>
                <a:cs typeface="Calibri"/>
                <a:sym typeface="Calibri"/>
              </a:rPr>
              <a:t>S.M. Tahmidul Islam</a:t>
            </a:r>
            <a:endParaRPr sz="1100"/>
          </a:p>
        </p:txBody>
      </p:sp>
      <p:sp>
        <p:nvSpPr>
          <p:cNvPr id="140" name="Google Shape;140;p25"/>
          <p:cNvSpPr txBox="1"/>
          <p:nvPr/>
        </p:nvSpPr>
        <p:spPr>
          <a:xfrm>
            <a:off x="6469324" y="1475853"/>
            <a:ext cx="1920300" cy="92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u="none" cap="none" strike="noStrike">
                <a:solidFill>
                  <a:srgbClr val="8A8478"/>
                </a:solidFill>
                <a:latin typeface="Consolas"/>
                <a:ea typeface="Consolas"/>
                <a:cs typeface="Consolas"/>
                <a:sym typeface="Consolas"/>
              </a:rPr>
              <a:t>21223203044</a:t>
            </a:r>
            <a:endParaRPr sz="1100"/>
          </a:p>
        </p:txBody>
      </p:sp>
      <p:sp>
        <p:nvSpPr>
          <p:cNvPr id="141" name="Google Shape;141;p25"/>
          <p:cNvSpPr txBox="1"/>
          <p:nvPr/>
        </p:nvSpPr>
        <p:spPr>
          <a:xfrm>
            <a:off x="6469324" y="1615050"/>
            <a:ext cx="19203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u="none" cap="none" strike="noStrike">
                <a:solidFill>
                  <a:srgbClr val="FAF8F4"/>
                </a:solidFill>
                <a:latin typeface="Calibri"/>
                <a:ea typeface="Calibri"/>
                <a:cs typeface="Calibri"/>
                <a:sym typeface="Calibri"/>
              </a:rPr>
              <a:t>Hasan Al Mamun</a:t>
            </a:r>
            <a:endParaRPr sz="1100"/>
          </a:p>
        </p:txBody>
      </p:sp>
      <p:sp>
        <p:nvSpPr>
          <p:cNvPr id="142" name="Google Shape;142;p25"/>
          <p:cNvSpPr txBox="1"/>
          <p:nvPr/>
        </p:nvSpPr>
        <p:spPr>
          <a:xfrm>
            <a:off x="6469324" y="1776213"/>
            <a:ext cx="1920300" cy="92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u="none" cap="none" strike="noStrike">
                <a:solidFill>
                  <a:srgbClr val="8A8478"/>
                </a:solidFill>
                <a:latin typeface="Consolas"/>
                <a:ea typeface="Consolas"/>
                <a:cs typeface="Consolas"/>
                <a:sym typeface="Consolas"/>
              </a:rPr>
              <a:t>21223203037</a:t>
            </a:r>
            <a:endParaRPr sz="1100"/>
          </a:p>
        </p:txBody>
      </p:sp>
      <p:sp>
        <p:nvSpPr>
          <p:cNvPr id="143" name="Google Shape;143;p25"/>
          <p:cNvSpPr txBox="1"/>
          <p:nvPr/>
        </p:nvSpPr>
        <p:spPr>
          <a:xfrm>
            <a:off x="6469324" y="1942535"/>
            <a:ext cx="19203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u="none" cap="none" strike="noStrike">
                <a:solidFill>
                  <a:srgbClr val="FAF8F4"/>
                </a:solidFill>
                <a:latin typeface="Calibri"/>
                <a:ea typeface="Calibri"/>
                <a:cs typeface="Calibri"/>
                <a:sym typeface="Calibri"/>
              </a:rPr>
              <a:t>Mahbubul Alam Marin</a:t>
            </a:r>
            <a:endParaRPr sz="1100"/>
          </a:p>
        </p:txBody>
      </p:sp>
      <p:sp>
        <p:nvSpPr>
          <p:cNvPr id="144" name="Google Shape;144;p25"/>
          <p:cNvSpPr txBox="1"/>
          <p:nvPr/>
        </p:nvSpPr>
        <p:spPr>
          <a:xfrm>
            <a:off x="6469324" y="2103698"/>
            <a:ext cx="1920300" cy="92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u="none" cap="none" strike="noStrike">
                <a:solidFill>
                  <a:srgbClr val="8A8478"/>
                </a:solidFill>
                <a:latin typeface="Consolas"/>
                <a:ea typeface="Consolas"/>
                <a:cs typeface="Consolas"/>
                <a:sym typeface="Consolas"/>
              </a:rPr>
              <a:t>21223</a:t>
            </a:r>
            <a:r>
              <a:rPr lang="en" sz="600">
                <a:solidFill>
                  <a:srgbClr val="8A8478"/>
                </a:solidFill>
                <a:latin typeface="Consolas"/>
                <a:ea typeface="Consolas"/>
                <a:cs typeface="Consolas"/>
                <a:sym typeface="Consolas"/>
              </a:rPr>
              <a:t>20</a:t>
            </a:r>
            <a:r>
              <a:rPr b="0" i="0" lang="en" sz="600" u="none" cap="none" strike="noStrike">
                <a:solidFill>
                  <a:srgbClr val="8A8478"/>
                </a:solidFill>
                <a:latin typeface="Consolas"/>
                <a:ea typeface="Consolas"/>
                <a:cs typeface="Consolas"/>
                <a:sym typeface="Consolas"/>
              </a:rPr>
              <a:t>3026</a:t>
            </a:r>
            <a:endParaRPr sz="1100"/>
          </a:p>
        </p:txBody>
      </p:sp>
      <p:sp>
        <p:nvSpPr>
          <p:cNvPr id="145" name="Google Shape;145;p25"/>
          <p:cNvSpPr txBox="1"/>
          <p:nvPr/>
        </p:nvSpPr>
        <p:spPr>
          <a:xfrm>
            <a:off x="6469324" y="2289545"/>
            <a:ext cx="19203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u="none" cap="none" strike="noStrike">
                <a:solidFill>
                  <a:srgbClr val="FAF8F4"/>
                </a:solidFill>
                <a:latin typeface="Calibri"/>
                <a:ea typeface="Calibri"/>
                <a:cs typeface="Calibri"/>
                <a:sym typeface="Calibri"/>
              </a:rPr>
              <a:t>Mahbubur Raman Mahfuj</a:t>
            </a:r>
            <a:endParaRPr sz="1100"/>
          </a:p>
        </p:txBody>
      </p:sp>
      <p:sp>
        <p:nvSpPr>
          <p:cNvPr id="146" name="Google Shape;146;p25"/>
          <p:cNvSpPr txBox="1"/>
          <p:nvPr/>
        </p:nvSpPr>
        <p:spPr>
          <a:xfrm>
            <a:off x="6469324" y="2450708"/>
            <a:ext cx="1920300" cy="92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u="none" cap="none" strike="noStrike">
                <a:solidFill>
                  <a:srgbClr val="8A8478"/>
                </a:solidFill>
                <a:latin typeface="Consolas"/>
                <a:ea typeface="Consolas"/>
                <a:cs typeface="Consolas"/>
                <a:sym typeface="Consolas"/>
              </a:rPr>
              <a:t>21223203036</a:t>
            </a:r>
            <a:endParaRPr sz="1100"/>
          </a:p>
        </p:txBody>
      </p:sp>
      <p:sp>
        <p:nvSpPr>
          <p:cNvPr id="147" name="Google Shape;147;p25"/>
          <p:cNvSpPr txBox="1"/>
          <p:nvPr/>
        </p:nvSpPr>
        <p:spPr>
          <a:xfrm>
            <a:off x="6469324" y="2636580"/>
            <a:ext cx="19203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u="none" cap="none" strike="noStrike">
                <a:solidFill>
                  <a:srgbClr val="FAF8F4"/>
                </a:solidFill>
                <a:latin typeface="Calibri"/>
                <a:ea typeface="Calibri"/>
                <a:cs typeface="Calibri"/>
                <a:sym typeface="Calibri"/>
              </a:rPr>
              <a:t>Aminul Islam</a:t>
            </a:r>
            <a:endParaRPr sz="1100"/>
          </a:p>
        </p:txBody>
      </p:sp>
      <p:sp>
        <p:nvSpPr>
          <p:cNvPr id="148" name="Google Shape;148;p25"/>
          <p:cNvSpPr txBox="1"/>
          <p:nvPr/>
        </p:nvSpPr>
        <p:spPr>
          <a:xfrm>
            <a:off x="6469324" y="2797743"/>
            <a:ext cx="1920300" cy="924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u="none" cap="none" strike="noStrike">
                <a:solidFill>
                  <a:srgbClr val="8A8478"/>
                </a:solidFill>
                <a:latin typeface="Consolas"/>
                <a:ea typeface="Consolas"/>
                <a:cs typeface="Consolas"/>
                <a:sym typeface="Consolas"/>
              </a:rPr>
              <a:t>21223203025</a:t>
            </a:r>
            <a:endParaRPr sz="1100"/>
          </a:p>
        </p:txBody>
      </p:sp>
      <p:sp>
        <p:nvSpPr>
          <p:cNvPr id="149" name="Google Shape;149;p25"/>
          <p:cNvSpPr txBox="1"/>
          <p:nvPr/>
        </p:nvSpPr>
        <p:spPr>
          <a:xfrm>
            <a:off x="6401425" y="3144800"/>
            <a:ext cx="1920300" cy="138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8A8478"/>
                </a:solidFill>
                <a:latin typeface="Calibri"/>
                <a:ea typeface="Calibri"/>
                <a:cs typeface="Calibri"/>
                <a:sym typeface="Calibri"/>
              </a:rPr>
              <a:t>Supervised By</a:t>
            </a:r>
            <a:endParaRPr sz="800">
              <a:solidFill>
                <a:srgbClr val="8A8478"/>
              </a:solidFill>
              <a:latin typeface="Calibri"/>
              <a:ea typeface="Calibri"/>
              <a:cs typeface="Calibri"/>
              <a:sym typeface="Calibri"/>
            </a:endParaRPr>
          </a:p>
          <a:p>
            <a:pPr indent="0" lvl="0" marL="0" rtl="0" algn="l">
              <a:spcBef>
                <a:spcPts val="0"/>
              </a:spcBef>
              <a:spcAft>
                <a:spcPts val="0"/>
              </a:spcAft>
              <a:buNone/>
            </a:pPr>
            <a:r>
              <a:t/>
            </a:r>
            <a:endParaRPr sz="800">
              <a:solidFill>
                <a:srgbClr val="8A8478"/>
              </a:solidFill>
              <a:latin typeface="Calibri"/>
              <a:ea typeface="Calibri"/>
              <a:cs typeface="Calibri"/>
              <a:sym typeface="Calibri"/>
            </a:endParaRPr>
          </a:p>
          <a:p>
            <a:pPr indent="0" lvl="0" marL="0" rtl="0" algn="l">
              <a:lnSpc>
                <a:spcPct val="125000"/>
              </a:lnSpc>
              <a:spcBef>
                <a:spcPts val="0"/>
              </a:spcBef>
              <a:spcAft>
                <a:spcPts val="0"/>
              </a:spcAft>
              <a:buNone/>
            </a:pPr>
            <a:r>
              <a:rPr b="1" lang="en" sz="1100">
                <a:solidFill>
                  <a:schemeClr val="lt1"/>
                </a:solidFill>
                <a:latin typeface="Consolas"/>
                <a:ea typeface="Consolas"/>
                <a:cs typeface="Consolas"/>
                <a:sym typeface="Consolas"/>
              </a:rPr>
              <a:t>Ms. Sadah Anjum Shanto</a:t>
            </a:r>
            <a:endParaRPr b="1" sz="1100">
              <a:solidFill>
                <a:schemeClr val="lt1"/>
              </a:solidFill>
              <a:latin typeface="Consolas"/>
              <a:ea typeface="Consolas"/>
              <a:cs typeface="Consolas"/>
              <a:sym typeface="Consolas"/>
            </a:endParaRPr>
          </a:p>
          <a:p>
            <a:pPr indent="0" lvl="0" marL="0" rtl="0" algn="l">
              <a:lnSpc>
                <a:spcPct val="125000"/>
              </a:lnSpc>
              <a:spcBef>
                <a:spcPts val="0"/>
              </a:spcBef>
              <a:spcAft>
                <a:spcPts val="0"/>
              </a:spcAft>
              <a:buNone/>
            </a:pPr>
            <a:r>
              <a:rPr lang="en" sz="800">
                <a:solidFill>
                  <a:schemeClr val="lt1"/>
                </a:solidFill>
                <a:latin typeface="Consolas"/>
                <a:ea typeface="Consolas"/>
                <a:cs typeface="Consolas"/>
                <a:sym typeface="Consolas"/>
              </a:rPr>
              <a:t>Assistant Professor</a:t>
            </a:r>
            <a:endParaRPr sz="800">
              <a:solidFill>
                <a:schemeClr val="lt1"/>
              </a:solidFill>
              <a:latin typeface="Consolas"/>
              <a:ea typeface="Consolas"/>
              <a:cs typeface="Consolas"/>
              <a:sym typeface="Consolas"/>
            </a:endParaRPr>
          </a:p>
          <a:p>
            <a:pPr indent="0" lvl="0" marL="0" rtl="0" algn="l">
              <a:lnSpc>
                <a:spcPct val="125000"/>
              </a:lnSpc>
              <a:spcBef>
                <a:spcPts val="0"/>
              </a:spcBef>
              <a:spcAft>
                <a:spcPts val="0"/>
              </a:spcAft>
              <a:buClr>
                <a:schemeClr val="dk1"/>
              </a:buClr>
              <a:buSzPts val="1100"/>
              <a:buFont typeface="Arial"/>
              <a:buNone/>
            </a:pPr>
            <a:r>
              <a:rPr lang="en" sz="800">
                <a:solidFill>
                  <a:schemeClr val="lt1"/>
                </a:solidFill>
                <a:latin typeface="Consolas"/>
                <a:ea typeface="Consolas"/>
                <a:cs typeface="Consolas"/>
                <a:sym typeface="Consolas"/>
              </a:rPr>
              <a:t>Department of CSE, BUBT</a:t>
            </a:r>
            <a:endParaRPr sz="800">
              <a:solidFill>
                <a:schemeClr val="lt1"/>
              </a:solidFill>
              <a:latin typeface="Consolas"/>
              <a:ea typeface="Consolas"/>
              <a:cs typeface="Consolas"/>
              <a:sym typeface="Consolas"/>
            </a:endParaRPr>
          </a:p>
          <a:p>
            <a:pPr indent="0" lvl="0" marL="0" rtl="0" algn="l">
              <a:lnSpc>
                <a:spcPct val="125000"/>
              </a:lnSpc>
              <a:spcBef>
                <a:spcPts val="0"/>
              </a:spcBef>
              <a:spcAft>
                <a:spcPts val="0"/>
              </a:spcAft>
              <a:buClr>
                <a:schemeClr val="dk1"/>
              </a:buClr>
              <a:buSzPts val="1100"/>
              <a:buFont typeface="Arial"/>
              <a:buNone/>
            </a:pPr>
            <a:r>
              <a:rPr lang="en" sz="800">
                <a:solidFill>
                  <a:schemeClr val="lt1"/>
                </a:solidFill>
                <a:latin typeface="Consolas"/>
                <a:ea typeface="Consolas"/>
                <a:cs typeface="Consolas"/>
                <a:sym typeface="Consolas"/>
              </a:rPr>
              <a:t>Dhaka, Bangladesh</a:t>
            </a:r>
            <a:endParaRPr sz="800">
              <a:solidFill>
                <a:schemeClr val="lt1"/>
              </a:solidFill>
              <a:latin typeface="Consolas"/>
              <a:ea typeface="Consolas"/>
              <a:cs typeface="Consolas"/>
              <a:sym typeface="Consolas"/>
            </a:endParaRPr>
          </a:p>
          <a:p>
            <a:pPr indent="0" lvl="0" marL="0" rtl="0" algn="l">
              <a:lnSpc>
                <a:spcPct val="125000"/>
              </a:lnSpc>
              <a:spcBef>
                <a:spcPts val="0"/>
              </a:spcBef>
              <a:spcAft>
                <a:spcPts val="0"/>
              </a:spcAft>
              <a:buClr>
                <a:schemeClr val="dk1"/>
              </a:buClr>
              <a:buFont typeface="Arial"/>
              <a:buNone/>
            </a:pPr>
            <a:r>
              <a:t/>
            </a:r>
            <a:endParaRPr sz="800">
              <a:solidFill>
                <a:schemeClr val="lt1"/>
              </a:solidFill>
              <a:latin typeface="Consolas"/>
              <a:ea typeface="Consolas"/>
              <a:cs typeface="Consolas"/>
              <a:sym typeface="Consolas"/>
            </a:endParaRPr>
          </a:p>
          <a:p>
            <a:pPr indent="0" lvl="0" marL="0" rtl="0" algn="l">
              <a:spcBef>
                <a:spcPts val="0"/>
              </a:spcBef>
              <a:spcAft>
                <a:spcPts val="0"/>
              </a:spcAft>
              <a:buNone/>
            </a:pPr>
            <a:r>
              <a:t/>
            </a:r>
            <a:endParaRPr sz="800">
              <a:solidFill>
                <a:srgbClr val="8A847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6"/>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56" name="Google Shape;156;p26"/>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800" u="none" cap="none" strike="noStrike">
                <a:solidFill>
                  <a:srgbClr val="B45309"/>
                </a:solidFill>
                <a:latin typeface="Consolas"/>
                <a:ea typeface="Consolas"/>
                <a:cs typeface="Consolas"/>
                <a:sym typeface="Consolas"/>
              </a:rPr>
              <a:t>00  </a:t>
            </a:r>
            <a:r>
              <a:rPr b="0" i="0" lang="en" sz="800" u="none" cap="none" strike="noStrike">
                <a:solidFill>
                  <a:srgbClr val="6B6B6B"/>
                </a:solidFill>
                <a:latin typeface="Consolas"/>
                <a:ea typeface="Consolas"/>
                <a:cs typeface="Consolas"/>
                <a:sym typeface="Consolas"/>
              </a:rPr>
              <a:t>CONTENTS   ·   SIX PARTS</a:t>
            </a:r>
            <a:endParaRPr sz="1100"/>
          </a:p>
        </p:txBody>
      </p:sp>
      <p:sp>
        <p:nvSpPr>
          <p:cNvPr id="157" name="Google Shape;157;p26"/>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What we will cover</a:t>
            </a:r>
            <a:endParaRPr sz="1100"/>
          </a:p>
        </p:txBody>
      </p:sp>
      <p:cxnSp>
        <p:nvCxnSpPr>
          <p:cNvPr id="158" name="Google Shape;158;p26"/>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59" name="Google Shape;159;p26"/>
          <p:cNvSpPr txBox="1"/>
          <p:nvPr/>
        </p:nvSpPr>
        <p:spPr>
          <a:xfrm>
            <a:off x="582946" y="1543050"/>
            <a:ext cx="480073"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a:solidFill>
                  <a:srgbClr val="B45309"/>
                </a:solidFill>
                <a:latin typeface="Consolas"/>
                <a:ea typeface="Consolas"/>
                <a:cs typeface="Consolas"/>
                <a:sym typeface="Consolas"/>
              </a:rPr>
              <a:t>01</a:t>
            </a:r>
            <a:endParaRPr sz="1100"/>
          </a:p>
        </p:txBody>
      </p:sp>
      <p:sp>
        <p:nvSpPr>
          <p:cNvPr id="160" name="Google Shape;160;p26"/>
          <p:cNvSpPr txBox="1"/>
          <p:nvPr/>
        </p:nvSpPr>
        <p:spPr>
          <a:xfrm>
            <a:off x="1234473" y="1522476"/>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The Problem</a:t>
            </a:r>
            <a:endParaRPr sz="1100"/>
          </a:p>
        </p:txBody>
      </p:sp>
      <p:sp>
        <p:nvSpPr>
          <p:cNvPr id="161" name="Google Shape;161;p26"/>
          <p:cNvSpPr txBox="1"/>
          <p:nvPr/>
        </p:nvSpPr>
        <p:spPr>
          <a:xfrm>
            <a:off x="4217782" y="1577340"/>
            <a:ext cx="4114910"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6B6B6B"/>
                </a:solidFill>
                <a:latin typeface="Calibri"/>
                <a:ea typeface="Calibri"/>
                <a:cs typeface="Calibri"/>
                <a:sym typeface="Calibri"/>
              </a:rPr>
              <a:t>Why blanket marketing wastes money</a:t>
            </a:r>
            <a:endParaRPr sz="1100"/>
          </a:p>
        </p:txBody>
      </p:sp>
      <p:cxnSp>
        <p:nvCxnSpPr>
          <p:cNvPr id="162" name="Google Shape;162;p26"/>
          <p:cNvCxnSpPr/>
          <p:nvPr/>
        </p:nvCxnSpPr>
        <p:spPr>
          <a:xfrm>
            <a:off x="582946" y="194081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63" name="Google Shape;163;p26"/>
          <p:cNvSpPr txBox="1"/>
          <p:nvPr/>
        </p:nvSpPr>
        <p:spPr>
          <a:xfrm>
            <a:off x="582946" y="2036826"/>
            <a:ext cx="480073"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a:solidFill>
                  <a:srgbClr val="B45309"/>
                </a:solidFill>
                <a:latin typeface="Consolas"/>
                <a:ea typeface="Consolas"/>
                <a:cs typeface="Consolas"/>
                <a:sym typeface="Consolas"/>
              </a:rPr>
              <a:t>02</a:t>
            </a:r>
            <a:endParaRPr sz="1100"/>
          </a:p>
        </p:txBody>
      </p:sp>
      <p:sp>
        <p:nvSpPr>
          <p:cNvPr id="164" name="Google Shape;164;p26"/>
          <p:cNvSpPr txBox="1"/>
          <p:nvPr/>
        </p:nvSpPr>
        <p:spPr>
          <a:xfrm>
            <a:off x="1234473" y="2016252"/>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Data &amp; Method</a:t>
            </a:r>
            <a:endParaRPr sz="1100"/>
          </a:p>
        </p:txBody>
      </p:sp>
      <p:sp>
        <p:nvSpPr>
          <p:cNvPr id="165" name="Google Shape;165;p26"/>
          <p:cNvSpPr txBox="1"/>
          <p:nvPr/>
        </p:nvSpPr>
        <p:spPr>
          <a:xfrm>
            <a:off x="4217782" y="2071116"/>
            <a:ext cx="4114910"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6B6B6B"/>
                </a:solidFill>
                <a:latin typeface="Calibri"/>
                <a:ea typeface="Calibri"/>
                <a:cs typeface="Calibri"/>
                <a:sym typeface="Calibri"/>
              </a:rPr>
              <a:t>RFM features, scaling, choosing K</a:t>
            </a:r>
            <a:endParaRPr sz="1100"/>
          </a:p>
        </p:txBody>
      </p:sp>
      <p:cxnSp>
        <p:nvCxnSpPr>
          <p:cNvPr id="166" name="Google Shape;166;p26"/>
          <p:cNvCxnSpPr/>
          <p:nvPr/>
        </p:nvCxnSpPr>
        <p:spPr>
          <a:xfrm>
            <a:off x="582946" y="2434590"/>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67" name="Google Shape;167;p26"/>
          <p:cNvSpPr txBox="1"/>
          <p:nvPr/>
        </p:nvSpPr>
        <p:spPr>
          <a:xfrm>
            <a:off x="582946" y="2530602"/>
            <a:ext cx="480073"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a:solidFill>
                  <a:srgbClr val="B45309"/>
                </a:solidFill>
                <a:latin typeface="Consolas"/>
                <a:ea typeface="Consolas"/>
                <a:cs typeface="Consolas"/>
                <a:sym typeface="Consolas"/>
              </a:rPr>
              <a:t>03</a:t>
            </a:r>
            <a:endParaRPr sz="1100"/>
          </a:p>
        </p:txBody>
      </p:sp>
      <p:sp>
        <p:nvSpPr>
          <p:cNvPr id="168" name="Google Shape;168;p26"/>
          <p:cNvSpPr txBox="1"/>
          <p:nvPr/>
        </p:nvSpPr>
        <p:spPr>
          <a:xfrm>
            <a:off x="1234473" y="2510028"/>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Segmentation Results</a:t>
            </a:r>
            <a:endParaRPr sz="1100"/>
          </a:p>
        </p:txBody>
      </p:sp>
      <p:sp>
        <p:nvSpPr>
          <p:cNvPr id="169" name="Google Shape;169;p26"/>
          <p:cNvSpPr txBox="1"/>
          <p:nvPr/>
        </p:nvSpPr>
        <p:spPr>
          <a:xfrm>
            <a:off x="4217782" y="2564892"/>
            <a:ext cx="4114910"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6B6B6B"/>
                </a:solidFill>
                <a:latin typeface="Calibri"/>
                <a:ea typeface="Calibri"/>
                <a:cs typeface="Calibri"/>
                <a:sym typeface="Calibri"/>
              </a:rPr>
              <a:t>Four clusters and what they mean</a:t>
            </a:r>
            <a:endParaRPr sz="1100"/>
          </a:p>
        </p:txBody>
      </p:sp>
      <p:cxnSp>
        <p:nvCxnSpPr>
          <p:cNvPr id="170" name="Google Shape;170;p26"/>
          <p:cNvCxnSpPr/>
          <p:nvPr/>
        </p:nvCxnSpPr>
        <p:spPr>
          <a:xfrm>
            <a:off x="582946" y="292836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71" name="Google Shape;171;p26"/>
          <p:cNvSpPr txBox="1"/>
          <p:nvPr/>
        </p:nvSpPr>
        <p:spPr>
          <a:xfrm>
            <a:off x="582946" y="3024378"/>
            <a:ext cx="480073"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a:solidFill>
                  <a:srgbClr val="B45309"/>
                </a:solidFill>
                <a:latin typeface="Consolas"/>
                <a:ea typeface="Consolas"/>
                <a:cs typeface="Consolas"/>
                <a:sym typeface="Consolas"/>
              </a:rPr>
              <a:t>04</a:t>
            </a:r>
            <a:endParaRPr sz="1100"/>
          </a:p>
        </p:txBody>
      </p:sp>
      <p:sp>
        <p:nvSpPr>
          <p:cNvPr id="172" name="Google Shape;172;p26"/>
          <p:cNvSpPr txBox="1"/>
          <p:nvPr/>
        </p:nvSpPr>
        <p:spPr>
          <a:xfrm>
            <a:off x="1234473" y="3003804"/>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Churn Prediction</a:t>
            </a:r>
            <a:endParaRPr sz="1100"/>
          </a:p>
        </p:txBody>
      </p:sp>
      <p:sp>
        <p:nvSpPr>
          <p:cNvPr id="173" name="Google Shape;173;p26"/>
          <p:cNvSpPr txBox="1"/>
          <p:nvPr/>
        </p:nvSpPr>
        <p:spPr>
          <a:xfrm>
            <a:off x="4217782" y="3058668"/>
            <a:ext cx="4114800" cy="153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6B6B6B"/>
                </a:solidFill>
                <a:latin typeface="Calibri"/>
                <a:ea typeface="Calibri"/>
                <a:cs typeface="Calibri"/>
                <a:sym typeface="Calibri"/>
              </a:rPr>
              <a:t>Who is about to </a:t>
            </a:r>
            <a:r>
              <a:rPr lang="en" sz="1000">
                <a:solidFill>
                  <a:srgbClr val="6B6B6B"/>
                </a:solidFill>
                <a:latin typeface="Calibri"/>
                <a:ea typeface="Calibri"/>
                <a:cs typeface="Calibri"/>
                <a:sym typeface="Calibri"/>
              </a:rPr>
              <a:t>leave—and</a:t>
            </a:r>
            <a:r>
              <a:rPr b="0" i="0" lang="en" sz="1000">
                <a:solidFill>
                  <a:srgbClr val="6B6B6B"/>
                </a:solidFill>
                <a:latin typeface="Calibri"/>
                <a:ea typeface="Calibri"/>
                <a:cs typeface="Calibri"/>
                <a:sym typeface="Calibri"/>
              </a:rPr>
              <a:t> the caveat</a:t>
            </a:r>
            <a:endParaRPr sz="1100"/>
          </a:p>
        </p:txBody>
      </p:sp>
      <p:cxnSp>
        <p:nvCxnSpPr>
          <p:cNvPr id="174" name="Google Shape;174;p26"/>
          <p:cNvCxnSpPr/>
          <p:nvPr/>
        </p:nvCxnSpPr>
        <p:spPr>
          <a:xfrm>
            <a:off x="582946" y="342214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75" name="Google Shape;175;p26"/>
          <p:cNvSpPr txBox="1"/>
          <p:nvPr/>
        </p:nvSpPr>
        <p:spPr>
          <a:xfrm>
            <a:off x="582946" y="3518154"/>
            <a:ext cx="480073"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a:solidFill>
                  <a:srgbClr val="B45309"/>
                </a:solidFill>
                <a:latin typeface="Consolas"/>
                <a:ea typeface="Consolas"/>
                <a:cs typeface="Consolas"/>
                <a:sym typeface="Consolas"/>
              </a:rPr>
              <a:t>05</a:t>
            </a:r>
            <a:endParaRPr sz="1100"/>
          </a:p>
        </p:txBody>
      </p:sp>
      <p:sp>
        <p:nvSpPr>
          <p:cNvPr id="176" name="Google Shape;176;p26"/>
          <p:cNvSpPr txBox="1"/>
          <p:nvPr/>
        </p:nvSpPr>
        <p:spPr>
          <a:xfrm>
            <a:off x="1234473" y="3497580"/>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The System</a:t>
            </a:r>
            <a:endParaRPr sz="1100"/>
          </a:p>
        </p:txBody>
      </p:sp>
      <p:sp>
        <p:nvSpPr>
          <p:cNvPr id="177" name="Google Shape;177;p26"/>
          <p:cNvSpPr txBox="1"/>
          <p:nvPr/>
        </p:nvSpPr>
        <p:spPr>
          <a:xfrm>
            <a:off x="4217782" y="3552444"/>
            <a:ext cx="4114910"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6B6B6B"/>
                </a:solidFill>
                <a:latin typeface="Calibri"/>
                <a:ea typeface="Calibri"/>
                <a:cs typeface="Calibri"/>
                <a:sym typeface="Calibri"/>
              </a:rPr>
              <a:t>Notebook → API → live dashboard</a:t>
            </a:r>
            <a:endParaRPr sz="1100"/>
          </a:p>
        </p:txBody>
      </p:sp>
      <p:cxnSp>
        <p:nvCxnSpPr>
          <p:cNvPr id="178" name="Google Shape;178;p26"/>
          <p:cNvCxnSpPr/>
          <p:nvPr/>
        </p:nvCxnSpPr>
        <p:spPr>
          <a:xfrm>
            <a:off x="582946" y="391591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79" name="Google Shape;179;p26"/>
          <p:cNvSpPr txBox="1"/>
          <p:nvPr/>
        </p:nvSpPr>
        <p:spPr>
          <a:xfrm>
            <a:off x="582946" y="4011930"/>
            <a:ext cx="480073"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400">
                <a:solidFill>
                  <a:srgbClr val="B45309"/>
                </a:solidFill>
                <a:latin typeface="Consolas"/>
                <a:ea typeface="Consolas"/>
                <a:cs typeface="Consolas"/>
                <a:sym typeface="Consolas"/>
              </a:rPr>
              <a:t>06</a:t>
            </a:r>
            <a:endParaRPr sz="1100"/>
          </a:p>
        </p:txBody>
      </p:sp>
      <p:sp>
        <p:nvSpPr>
          <p:cNvPr id="180" name="Google Shape;180;p26"/>
          <p:cNvSpPr txBox="1"/>
          <p:nvPr/>
        </p:nvSpPr>
        <p:spPr>
          <a:xfrm>
            <a:off x="1234473" y="3991356"/>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Evaluation &amp; Limits</a:t>
            </a:r>
            <a:endParaRPr sz="1100"/>
          </a:p>
        </p:txBody>
      </p:sp>
      <p:sp>
        <p:nvSpPr>
          <p:cNvPr id="181" name="Google Shape;181;p26"/>
          <p:cNvSpPr txBox="1"/>
          <p:nvPr/>
        </p:nvSpPr>
        <p:spPr>
          <a:xfrm>
            <a:off x="4217782" y="4046220"/>
            <a:ext cx="4114910"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6B6B6B"/>
                </a:solidFill>
                <a:latin typeface="Calibri"/>
                <a:ea typeface="Calibri"/>
                <a:cs typeface="Calibri"/>
                <a:sym typeface="Calibri"/>
              </a:rPr>
              <a:t>Honest assessment and future work</a:t>
            </a:r>
            <a:endParaRPr sz="1100"/>
          </a:p>
        </p:txBody>
      </p:sp>
      <p:cxnSp>
        <p:nvCxnSpPr>
          <p:cNvPr id="182" name="Google Shape;182;p26"/>
          <p:cNvCxnSpPr/>
          <p:nvPr/>
        </p:nvCxnSpPr>
        <p:spPr>
          <a:xfrm>
            <a:off x="582946" y="440969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cxnSp>
        <p:nvCxnSpPr>
          <p:cNvPr id="183" name="Google Shape;183;p26"/>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84" name="Google Shape;184;p26"/>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185" name="Google Shape;185;p26"/>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02 / 28</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2" name="Google Shape;192;p27"/>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01  </a:t>
            </a:r>
            <a:r>
              <a:rPr lang="en" sz="800">
                <a:solidFill>
                  <a:srgbClr val="6B6B6B"/>
                </a:solidFill>
                <a:latin typeface="Consolas"/>
                <a:ea typeface="Consolas"/>
                <a:cs typeface="Consolas"/>
                <a:sym typeface="Consolas"/>
              </a:rPr>
              <a:t>THE PROBLEM   ·   WHY BLANKET MARKETING FAILS</a:t>
            </a:r>
            <a:endParaRPr sz="1100"/>
          </a:p>
        </p:txBody>
      </p:sp>
      <p:sp>
        <p:nvSpPr>
          <p:cNvPr id="193" name="Google Shape;193;p27"/>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Everyone gets the same email</a:t>
            </a:r>
            <a:endParaRPr sz="1100"/>
          </a:p>
        </p:txBody>
      </p:sp>
      <p:cxnSp>
        <p:nvCxnSpPr>
          <p:cNvPr id="194" name="Google Shape;194;p27"/>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195" name="Google Shape;195;p27"/>
          <p:cNvSpPr txBox="1"/>
          <p:nvPr/>
        </p:nvSpPr>
        <p:spPr>
          <a:xfrm>
            <a:off x="582946" y="1543050"/>
            <a:ext cx="4526401"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100">
                <a:solidFill>
                  <a:srgbClr val="B45309"/>
                </a:solidFill>
                <a:latin typeface="Calibri"/>
                <a:ea typeface="Calibri"/>
                <a:cs typeface="Calibri"/>
                <a:sym typeface="Calibri"/>
              </a:rPr>
              <a:t>— </a:t>
            </a:r>
            <a:r>
              <a:rPr b="1" lang="en" sz="1100">
                <a:solidFill>
                  <a:srgbClr val="1A1A1A"/>
                </a:solidFill>
                <a:latin typeface="Calibri"/>
                <a:ea typeface="Calibri"/>
                <a:cs typeface="Calibri"/>
                <a:sym typeface="Calibri"/>
              </a:rPr>
              <a:t>One list, one message. </a:t>
            </a:r>
            <a:r>
              <a:rPr lang="en" sz="1100">
                <a:solidFill>
                  <a:srgbClr val="1A1A1A"/>
                </a:solidFill>
                <a:latin typeface="Calibri"/>
                <a:ea typeface="Calibri"/>
                <a:cs typeface="Calibri"/>
                <a:sym typeface="Calibri"/>
              </a:rPr>
              <a:t>The retailer holds thousands of customer records but no behavioural structure over them, so every campaign is sent to everyone.</a:t>
            </a:r>
            <a:endParaRPr sz="1100"/>
          </a:p>
          <a:p>
            <a:pPr indent="0" lvl="0" marL="0" marR="0" rtl="0" algn="l">
              <a:lnSpc>
                <a:spcPct val="130000"/>
              </a:lnSpc>
              <a:spcBef>
                <a:spcPts val="700"/>
              </a:spcBef>
              <a:spcAft>
                <a:spcPts val="0"/>
              </a:spcAft>
              <a:buNone/>
            </a:pPr>
            <a:r>
              <a:rPr b="1" lang="en" sz="1100">
                <a:solidFill>
                  <a:srgbClr val="B45309"/>
                </a:solidFill>
                <a:latin typeface="Calibri"/>
                <a:ea typeface="Calibri"/>
                <a:cs typeface="Calibri"/>
                <a:sym typeface="Calibri"/>
              </a:rPr>
              <a:t>— </a:t>
            </a:r>
            <a:r>
              <a:rPr b="1" lang="en" sz="1100">
                <a:solidFill>
                  <a:srgbClr val="1A1A1A"/>
                </a:solidFill>
                <a:latin typeface="Calibri"/>
                <a:ea typeface="Calibri"/>
                <a:cs typeface="Calibri"/>
                <a:sym typeface="Calibri"/>
              </a:rPr>
              <a:t>The customers are not alike. </a:t>
            </a:r>
            <a:r>
              <a:rPr lang="en" sz="1100">
                <a:solidFill>
                  <a:srgbClr val="1A1A1A"/>
                </a:solidFill>
                <a:latin typeface="Calibri"/>
                <a:ea typeface="Calibri"/>
                <a:cs typeface="Calibri"/>
                <a:sym typeface="Calibri"/>
              </a:rPr>
              <a:t>In this dataset the top 10% of customers account for 61% of all revenue. A single message cannot serve both ends of that distribution.</a:t>
            </a:r>
            <a:endParaRPr sz="1100"/>
          </a:p>
          <a:p>
            <a:pPr indent="0" lvl="0" marL="0" marR="0" rtl="0" algn="l">
              <a:lnSpc>
                <a:spcPct val="130000"/>
              </a:lnSpc>
              <a:spcBef>
                <a:spcPts val="700"/>
              </a:spcBef>
              <a:spcAft>
                <a:spcPts val="0"/>
              </a:spcAft>
              <a:buNone/>
            </a:pPr>
            <a:r>
              <a:rPr b="1" lang="en" sz="1100">
                <a:solidFill>
                  <a:srgbClr val="B45309"/>
                </a:solidFill>
                <a:latin typeface="Calibri"/>
                <a:ea typeface="Calibri"/>
                <a:cs typeface="Calibri"/>
                <a:sym typeface="Calibri"/>
              </a:rPr>
              <a:t>— </a:t>
            </a:r>
            <a:r>
              <a:rPr b="1" lang="en" sz="1100">
                <a:solidFill>
                  <a:srgbClr val="1A1A1A"/>
                </a:solidFill>
                <a:latin typeface="Calibri"/>
                <a:ea typeface="Calibri"/>
                <a:cs typeface="Calibri"/>
                <a:sym typeface="Calibri"/>
              </a:rPr>
              <a:t>Waste runs in both directions. </a:t>
            </a:r>
            <a:r>
              <a:rPr lang="en" sz="1100">
                <a:solidFill>
                  <a:srgbClr val="1A1A1A"/>
                </a:solidFill>
                <a:latin typeface="Calibri"/>
                <a:ea typeface="Calibri"/>
                <a:cs typeface="Calibri"/>
                <a:sym typeface="Calibri"/>
              </a:rPr>
              <a:t>Discounts are given to loyal customers who would have bought anyway, while budget is spent contacting customers who have already left.</a:t>
            </a:r>
            <a:endParaRPr sz="1100"/>
          </a:p>
          <a:p>
            <a:pPr indent="0" lvl="0" marL="0" marR="0" rtl="0" algn="l">
              <a:lnSpc>
                <a:spcPct val="130000"/>
              </a:lnSpc>
              <a:spcBef>
                <a:spcPts val="700"/>
              </a:spcBef>
              <a:spcAft>
                <a:spcPts val="0"/>
              </a:spcAft>
              <a:buNone/>
            </a:pPr>
            <a:r>
              <a:rPr b="1" lang="en" sz="1100">
                <a:solidFill>
                  <a:srgbClr val="B45309"/>
                </a:solidFill>
                <a:latin typeface="Calibri"/>
                <a:ea typeface="Calibri"/>
                <a:cs typeface="Calibri"/>
                <a:sym typeface="Calibri"/>
              </a:rPr>
              <a:t>— </a:t>
            </a:r>
            <a:r>
              <a:rPr b="1" lang="en" sz="1100">
                <a:solidFill>
                  <a:srgbClr val="1A1A1A"/>
                </a:solidFill>
                <a:latin typeface="Calibri"/>
                <a:ea typeface="Calibri"/>
                <a:cs typeface="Calibri"/>
                <a:sym typeface="Calibri"/>
              </a:rPr>
              <a:t>Churn is noticed too late. </a:t>
            </a:r>
            <a:r>
              <a:rPr lang="en" sz="1100">
                <a:solidFill>
                  <a:srgbClr val="1A1A1A"/>
                </a:solidFill>
                <a:latin typeface="Calibri"/>
                <a:ea typeface="Calibri"/>
                <a:cs typeface="Calibri"/>
                <a:sym typeface="Calibri"/>
              </a:rPr>
              <a:t>Without a recency signal, a lapsing customer is only identified once they have stopped buying — after the point where a win-back works.</a:t>
            </a:r>
            <a:endParaRPr sz="1100"/>
          </a:p>
        </p:txBody>
      </p:sp>
      <p:sp>
        <p:nvSpPr>
          <p:cNvPr id="196" name="Google Shape;196;p27"/>
          <p:cNvSpPr/>
          <p:nvPr/>
        </p:nvSpPr>
        <p:spPr>
          <a:xfrm>
            <a:off x="5452255" y="1543050"/>
            <a:ext cx="3086182" cy="243459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197" name="Google Shape;197;p27"/>
          <p:cNvCxnSpPr/>
          <p:nvPr/>
        </p:nvCxnSpPr>
        <p:spPr>
          <a:xfrm>
            <a:off x="5452255" y="1543050"/>
            <a:ext cx="3086182"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198" name="Google Shape;198;p27"/>
          <p:cNvSpPr txBox="1"/>
          <p:nvPr/>
        </p:nvSpPr>
        <p:spPr>
          <a:xfrm>
            <a:off x="5658001" y="1783080"/>
            <a:ext cx="2674691"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THE COST OF ONE BLAST</a:t>
            </a:r>
            <a:endParaRPr sz="1100"/>
          </a:p>
        </p:txBody>
      </p:sp>
      <p:sp>
        <p:nvSpPr>
          <p:cNvPr id="199" name="Google Shape;199;p27"/>
          <p:cNvSpPr txBox="1"/>
          <p:nvPr/>
        </p:nvSpPr>
        <p:spPr>
          <a:xfrm>
            <a:off x="5658001" y="2160270"/>
            <a:ext cx="1097309" cy="30861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900">
                <a:solidFill>
                  <a:srgbClr val="1A1A1A"/>
                </a:solidFill>
                <a:latin typeface="Georgia"/>
                <a:ea typeface="Georgia"/>
                <a:cs typeface="Georgia"/>
                <a:sym typeface="Georgia"/>
              </a:rPr>
              <a:t>4,339</a:t>
            </a:r>
            <a:endParaRPr sz="1100"/>
          </a:p>
        </p:txBody>
      </p:sp>
      <p:sp>
        <p:nvSpPr>
          <p:cNvPr id="200" name="Google Shape;200;p27"/>
          <p:cNvSpPr txBox="1"/>
          <p:nvPr/>
        </p:nvSpPr>
        <p:spPr>
          <a:xfrm>
            <a:off x="6789601" y="2180844"/>
            <a:ext cx="1577382" cy="4114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00">
                <a:solidFill>
                  <a:srgbClr val="6B6B6B"/>
                </a:solidFill>
                <a:latin typeface="Calibri"/>
                <a:ea typeface="Calibri"/>
                <a:cs typeface="Calibri"/>
                <a:sym typeface="Calibri"/>
              </a:rPr>
              <a:t>customers contacted</a:t>
            </a:r>
            <a:endParaRPr sz="1100"/>
          </a:p>
        </p:txBody>
      </p:sp>
      <p:sp>
        <p:nvSpPr>
          <p:cNvPr id="201" name="Google Shape;201;p27"/>
          <p:cNvSpPr txBox="1"/>
          <p:nvPr/>
        </p:nvSpPr>
        <p:spPr>
          <a:xfrm>
            <a:off x="5658001" y="2750058"/>
            <a:ext cx="1097309" cy="30861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900">
                <a:solidFill>
                  <a:srgbClr val="1A1A1A"/>
                </a:solidFill>
                <a:latin typeface="Georgia"/>
                <a:ea typeface="Georgia"/>
                <a:cs typeface="Georgia"/>
                <a:sym typeface="Georgia"/>
              </a:rPr>
              <a:t>£8,678</a:t>
            </a:r>
            <a:endParaRPr sz="1100"/>
          </a:p>
        </p:txBody>
      </p:sp>
      <p:sp>
        <p:nvSpPr>
          <p:cNvPr id="202" name="Google Shape;202;p27"/>
          <p:cNvSpPr txBox="1"/>
          <p:nvPr/>
        </p:nvSpPr>
        <p:spPr>
          <a:xfrm>
            <a:off x="6789601" y="2770632"/>
            <a:ext cx="1577382" cy="4114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00">
                <a:solidFill>
                  <a:srgbClr val="6B6B6B"/>
                </a:solidFill>
                <a:latin typeface="Calibri"/>
                <a:ea typeface="Calibri"/>
                <a:cs typeface="Calibri"/>
                <a:sym typeface="Calibri"/>
              </a:rPr>
              <a:t>campaign cost at £2 / contact</a:t>
            </a:r>
            <a:endParaRPr sz="1100"/>
          </a:p>
        </p:txBody>
      </p:sp>
      <p:sp>
        <p:nvSpPr>
          <p:cNvPr id="203" name="Google Shape;203;p27"/>
          <p:cNvSpPr txBox="1"/>
          <p:nvPr/>
        </p:nvSpPr>
        <p:spPr>
          <a:xfrm>
            <a:off x="5658001" y="3339846"/>
            <a:ext cx="1097309" cy="30861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900">
                <a:solidFill>
                  <a:srgbClr val="1A1A1A"/>
                </a:solidFill>
                <a:latin typeface="Georgia"/>
                <a:ea typeface="Georgia"/>
                <a:cs typeface="Georgia"/>
                <a:sym typeface="Georgia"/>
              </a:rPr>
              <a:t>56%</a:t>
            </a:r>
            <a:endParaRPr sz="1100"/>
          </a:p>
        </p:txBody>
      </p:sp>
      <p:sp>
        <p:nvSpPr>
          <p:cNvPr id="204" name="Google Shape;204;p27"/>
          <p:cNvSpPr txBox="1"/>
          <p:nvPr/>
        </p:nvSpPr>
        <p:spPr>
          <a:xfrm>
            <a:off x="6789601" y="3360420"/>
            <a:ext cx="1577382" cy="4114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00">
                <a:solidFill>
                  <a:srgbClr val="6B6B6B"/>
                </a:solidFill>
                <a:latin typeface="Calibri"/>
                <a:ea typeface="Calibri"/>
                <a:cs typeface="Calibri"/>
                <a:sym typeface="Calibri"/>
              </a:rPr>
              <a:t>of that spend reaches customers</a:t>
            </a:r>
            <a:endParaRPr sz="1100"/>
          </a:p>
          <a:p>
            <a:pPr indent="0" lvl="0" marL="0" marR="0" rtl="0" algn="l">
              <a:lnSpc>
                <a:spcPct val="120000"/>
              </a:lnSpc>
              <a:spcBef>
                <a:spcPts val="0"/>
              </a:spcBef>
              <a:spcAft>
                <a:spcPts val="0"/>
              </a:spcAft>
              <a:buNone/>
            </a:pPr>
            <a:r>
              <a:rPr b="0" i="0" lang="en" sz="900">
                <a:solidFill>
                  <a:srgbClr val="6B6B6B"/>
                </a:solidFill>
                <a:latin typeface="Calibri"/>
                <a:ea typeface="Calibri"/>
                <a:cs typeface="Calibri"/>
                <a:sym typeface="Calibri"/>
              </a:rPr>
              <a:t>worth 11% of revenue</a:t>
            </a:r>
            <a:endParaRPr sz="1100"/>
          </a:p>
        </p:txBody>
      </p:sp>
      <p:sp>
        <p:nvSpPr>
          <p:cNvPr id="205" name="Google Shape;205;p27"/>
          <p:cNvSpPr txBox="1"/>
          <p:nvPr/>
        </p:nvSpPr>
        <p:spPr>
          <a:xfrm>
            <a:off x="582946" y="4149090"/>
            <a:ext cx="7978200" cy="342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 sz="1100">
                <a:solidFill>
                  <a:srgbClr val="B45309"/>
                </a:solidFill>
                <a:latin typeface="Georgia"/>
                <a:ea typeface="Georgia"/>
                <a:cs typeface="Georgia"/>
                <a:sym typeface="Georgia"/>
              </a:rPr>
              <a:t>The data to fix this already exists — it is sitting unused in the transaction log.</a:t>
            </a:r>
            <a:endParaRPr sz="1100"/>
          </a:p>
        </p:txBody>
      </p:sp>
      <p:cxnSp>
        <p:nvCxnSpPr>
          <p:cNvPr id="206" name="Google Shape;206;p27"/>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07" name="Google Shape;207;p27"/>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208" name="Google Shape;208;p27"/>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03 / 28</a:t>
            </a:r>
            <a:endParaRPr sz="11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2930" y="425450"/>
            <a:ext cx="7978140" cy="205740"/>
          </a:xfrm>
          <a:prstGeom prst="rect">
            <a:avLst/>
          </a:prstGeom>
          <a:noFill/>
        </p:spPr>
        <p:txBody>
          <a:bodyPr wrap="square" anchor="t" lIns="0" rIns="0" tIns="0" bIns="0">
            <a:spAutoFit/>
          </a:bodyPr>
          <a:lstStyle/>
          <a:p>
            <a:pPr algn="l">
              <a:spcAft>
                <a:spcPts val="0"/>
              </a:spcAft>
            </a:pPr>
            <a:r>
              <a:rPr sz="800" b="1" i="0">
                <a:solidFill>
                  <a:srgbClr val="B45309"/>
                </a:solidFill>
                <a:latin typeface="Consolas"/>
              </a:rPr>
              <a:t>01  </a:t>
            </a:r>
            <a:r>
              <a:rPr sz="800" b="0" i="0">
                <a:solidFill>
                  <a:srgbClr val="6B6B6B"/>
                </a:solidFill>
                <a:latin typeface="Consolas"/>
              </a:rPr>
              <a:t>THE APPROACH   ·   FROM RAW DATA TO DEPLOYED MODEL</a:t>
            </a:r>
          </a:p>
        </p:txBody>
      </p:sp>
      <p:sp>
        <p:nvSpPr>
          <p:cNvPr id="4" name="TextBox 3"/>
          <p:cNvSpPr txBox="1"/>
          <p:nvPr/>
        </p:nvSpPr>
        <p:spPr>
          <a:xfrm>
            <a:off x="582930" y="699770"/>
            <a:ext cx="7978140" cy="514350"/>
          </a:xfrm>
          <a:prstGeom prst="rect">
            <a:avLst/>
          </a:prstGeom>
          <a:noFill/>
        </p:spPr>
        <p:txBody>
          <a:bodyPr wrap="square" anchor="t" lIns="0" rIns="0" tIns="0" bIns="0">
            <a:spAutoFit/>
          </a:bodyPr>
          <a:lstStyle/>
          <a:p>
            <a:pPr algn="l">
              <a:lnSpc>
                <a:spcPct val="100000"/>
              </a:lnSpc>
              <a:spcAft>
                <a:spcPts val="0"/>
              </a:spcAft>
            </a:pPr>
            <a:r>
              <a:rPr sz="2400" b="0" i="0">
                <a:solidFill>
                  <a:srgbClr val="1A1A1A"/>
                </a:solidFill>
                <a:latin typeface="Georgia"/>
              </a:rPr>
              <a:t>The end-to-end workflow</a:t>
            </a:r>
          </a:p>
        </p:txBody>
      </p:sp>
      <p:cxnSp>
        <p:nvCxnSpPr>
          <p:cNvPr id="5" name="Connector 4"/>
          <p:cNvCxnSpPr/>
          <p:nvPr/>
        </p:nvCxnSpPr>
        <p:spPr>
          <a:xfrm>
            <a:off x="582930" y="1248410"/>
            <a:ext cx="7978140"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pic>
        <p:nvPicPr>
          <p:cNvPr id="6" name="Picture 5" descr="workflow.png"/>
          <p:cNvPicPr>
            <a:picLocks noChangeAspect="1"/>
          </p:cNvPicPr>
          <p:nvPr/>
        </p:nvPicPr>
        <p:blipFill>
          <a:blip r:embed="rId2"/>
          <a:stretch>
            <a:fillRect/>
          </a:stretch>
        </p:blipFill>
        <p:spPr>
          <a:xfrm>
            <a:off x="1570892" y="1320800"/>
            <a:ext cx="6002215" cy="3352800"/>
          </a:xfrm>
          <a:prstGeom prst="rect">
            <a:avLst/>
          </a:prstGeom>
        </p:spPr>
      </p:pic>
      <p:cxnSp>
        <p:nvCxnSpPr>
          <p:cNvPr id="7" name="Connector 6"/>
          <p:cNvCxnSpPr/>
          <p:nvPr/>
        </p:nvCxnSpPr>
        <p:spPr>
          <a:xfrm>
            <a:off x="582930" y="4718050"/>
            <a:ext cx="7978140" cy="0"/>
          </a:xfrm>
          <a:prstGeom prst="line">
            <a:avLst/>
          </a:prstGeom>
          <a:ln w="9525">
            <a:solidFill>
              <a:srgbClr val="D8D4CC"/>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2930" y="4800600"/>
            <a:ext cx="4800600" cy="171450"/>
          </a:xfrm>
          <a:prstGeom prst="rect">
            <a:avLst/>
          </a:prstGeom>
          <a:noFill/>
        </p:spPr>
        <p:txBody>
          <a:bodyPr wrap="square" anchor="t" lIns="0" rIns="0" tIns="0" bIns="0">
            <a:spAutoFit/>
          </a:bodyPr>
          <a:lstStyle/>
          <a:p>
            <a:pPr algn="l">
              <a:lnSpc>
                <a:spcPct val="125000"/>
              </a:lnSpc>
              <a:spcAft>
                <a:spcPts val="0"/>
              </a:spcAft>
            </a:pPr>
            <a:r>
              <a:rPr sz="600" b="0" i="0">
                <a:solidFill>
                  <a:srgbClr val="6B6B6B"/>
                </a:solidFill>
                <a:latin typeface="Consolas"/>
              </a:rPr>
              <a:t>CUSTOMER SEGMENTATION FOR TARGETED E-COMMERCE MARKETING</a:t>
            </a:r>
          </a:p>
        </p:txBody>
      </p:sp>
      <p:sp>
        <p:nvSpPr>
          <p:cNvPr id="9" name="TextBox 8"/>
          <p:cNvSpPr txBox="1"/>
          <p:nvPr/>
        </p:nvSpPr>
        <p:spPr>
          <a:xfrm>
            <a:off x="7189470" y="4800600"/>
            <a:ext cx="1371600" cy="171450"/>
          </a:xfrm>
          <a:prstGeom prst="rect">
            <a:avLst/>
          </a:prstGeom>
          <a:noFill/>
        </p:spPr>
        <p:txBody>
          <a:bodyPr wrap="square" anchor="t" lIns="0" rIns="0" tIns="0" bIns="0">
            <a:spAutoFit/>
          </a:bodyPr>
          <a:lstStyle/>
          <a:p>
            <a:pPr algn="r">
              <a:lnSpc>
                <a:spcPct val="125000"/>
              </a:lnSpc>
              <a:spcAft>
                <a:spcPts val="0"/>
              </a:spcAft>
            </a:pPr>
            <a:r>
              <a:rPr sz="600" b="0" i="0">
                <a:solidFill>
                  <a:srgbClr val="6B6B6B"/>
                </a:solidFill>
                <a:latin typeface="Consolas"/>
              </a:rPr>
              <a:t>04 / 28</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5" name="Google Shape;215;p28"/>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01  </a:t>
            </a:r>
            <a:r>
              <a:rPr lang="en" sz="800">
                <a:solidFill>
                  <a:srgbClr val="6B6B6B"/>
                </a:solidFill>
                <a:latin typeface="Consolas"/>
                <a:ea typeface="Consolas"/>
                <a:cs typeface="Consolas"/>
                <a:sym typeface="Consolas"/>
              </a:rPr>
              <a:t>OBJECTIVES   ·   SCOPE OF THE PROJECT</a:t>
            </a:r>
            <a:endParaRPr sz="1100"/>
          </a:p>
        </p:txBody>
      </p:sp>
      <p:sp>
        <p:nvSpPr>
          <p:cNvPr id="216" name="Google Shape;216;p28"/>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What we set out to build</a:t>
            </a:r>
            <a:endParaRPr sz="1100"/>
          </a:p>
        </p:txBody>
      </p:sp>
      <p:cxnSp>
        <p:nvCxnSpPr>
          <p:cNvPr id="217" name="Google Shape;217;p28"/>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18" name="Google Shape;218;p28"/>
          <p:cNvSpPr txBox="1"/>
          <p:nvPr/>
        </p:nvSpPr>
        <p:spPr>
          <a:xfrm>
            <a:off x="582946" y="1522476"/>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a:solidFill>
                  <a:srgbClr val="B45309"/>
                </a:solidFill>
                <a:latin typeface="Consolas"/>
                <a:ea typeface="Consolas"/>
                <a:cs typeface="Consolas"/>
                <a:sym typeface="Consolas"/>
              </a:rPr>
              <a:t>01</a:t>
            </a:r>
            <a:endParaRPr sz="1100"/>
          </a:p>
        </p:txBody>
      </p:sp>
      <p:sp>
        <p:nvSpPr>
          <p:cNvPr id="219" name="Google Shape;219;p28"/>
          <p:cNvSpPr txBox="1"/>
          <p:nvPr/>
        </p:nvSpPr>
        <p:spPr>
          <a:xfrm>
            <a:off x="1008153" y="1495044"/>
            <a:ext cx="3120473"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Turn transactions into customer behaviour</a:t>
            </a:r>
            <a:endParaRPr sz="1100"/>
          </a:p>
        </p:txBody>
      </p:sp>
      <p:sp>
        <p:nvSpPr>
          <p:cNvPr id="220" name="Google Shape;220;p28"/>
          <p:cNvSpPr txBox="1"/>
          <p:nvPr/>
        </p:nvSpPr>
        <p:spPr>
          <a:xfrm>
            <a:off x="4320655" y="1508760"/>
            <a:ext cx="4183492" cy="4114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Collapse ~398k transaction lines into one interpretable row per customer using the RFM (Recency, Frequency, Monetary) framework.</a:t>
            </a:r>
            <a:endParaRPr sz="1100"/>
          </a:p>
        </p:txBody>
      </p:sp>
      <p:cxnSp>
        <p:nvCxnSpPr>
          <p:cNvPr id="221" name="Google Shape;221;p28"/>
          <p:cNvCxnSpPr/>
          <p:nvPr/>
        </p:nvCxnSpPr>
        <p:spPr>
          <a:xfrm>
            <a:off x="582946" y="200253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22" name="Google Shape;222;p28"/>
          <p:cNvSpPr txBox="1"/>
          <p:nvPr/>
        </p:nvSpPr>
        <p:spPr>
          <a:xfrm>
            <a:off x="582946" y="2125980"/>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a:solidFill>
                  <a:srgbClr val="B45309"/>
                </a:solidFill>
                <a:latin typeface="Consolas"/>
                <a:ea typeface="Consolas"/>
                <a:cs typeface="Consolas"/>
                <a:sym typeface="Consolas"/>
              </a:rPr>
              <a:t>02</a:t>
            </a:r>
            <a:endParaRPr sz="1100"/>
          </a:p>
        </p:txBody>
      </p:sp>
      <p:sp>
        <p:nvSpPr>
          <p:cNvPr id="223" name="Google Shape;223;p28"/>
          <p:cNvSpPr txBox="1"/>
          <p:nvPr/>
        </p:nvSpPr>
        <p:spPr>
          <a:xfrm>
            <a:off x="1008153" y="2098548"/>
            <a:ext cx="3120473"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Discover segments without labels</a:t>
            </a:r>
            <a:endParaRPr sz="1100"/>
          </a:p>
        </p:txBody>
      </p:sp>
      <p:sp>
        <p:nvSpPr>
          <p:cNvPr id="224" name="Google Shape;224;p28"/>
          <p:cNvSpPr txBox="1"/>
          <p:nvPr/>
        </p:nvSpPr>
        <p:spPr>
          <a:xfrm>
            <a:off x="4320655" y="2112264"/>
            <a:ext cx="4183492" cy="4114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Apply unsupervised K-Means clustering to find natural groupings, selecting K with the elbow method and silhouette analysis rather than by assumption.</a:t>
            </a:r>
            <a:endParaRPr sz="1100"/>
          </a:p>
        </p:txBody>
      </p:sp>
      <p:cxnSp>
        <p:nvCxnSpPr>
          <p:cNvPr id="225" name="Google Shape;225;p28"/>
          <p:cNvCxnSpPr/>
          <p:nvPr/>
        </p:nvCxnSpPr>
        <p:spPr>
          <a:xfrm>
            <a:off x="582946" y="2606040"/>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26" name="Google Shape;226;p28"/>
          <p:cNvSpPr txBox="1"/>
          <p:nvPr/>
        </p:nvSpPr>
        <p:spPr>
          <a:xfrm>
            <a:off x="582946" y="2729484"/>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a:solidFill>
                  <a:srgbClr val="B45309"/>
                </a:solidFill>
                <a:latin typeface="Consolas"/>
                <a:ea typeface="Consolas"/>
                <a:cs typeface="Consolas"/>
                <a:sym typeface="Consolas"/>
              </a:rPr>
              <a:t>03</a:t>
            </a:r>
            <a:endParaRPr sz="1100"/>
          </a:p>
        </p:txBody>
      </p:sp>
      <p:sp>
        <p:nvSpPr>
          <p:cNvPr id="227" name="Google Shape;227;p28"/>
          <p:cNvSpPr txBox="1"/>
          <p:nvPr/>
        </p:nvSpPr>
        <p:spPr>
          <a:xfrm>
            <a:off x="1008153" y="2702052"/>
            <a:ext cx="3120473"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Attach a churn signal to every customer</a:t>
            </a:r>
            <a:endParaRPr sz="1100"/>
          </a:p>
        </p:txBody>
      </p:sp>
      <p:sp>
        <p:nvSpPr>
          <p:cNvPr id="228" name="Google Shape;228;p28"/>
          <p:cNvSpPr txBox="1"/>
          <p:nvPr/>
        </p:nvSpPr>
        <p:spPr>
          <a:xfrm>
            <a:off x="4320655" y="2715768"/>
            <a:ext cx="4183492" cy="4114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Fit a logistic-regression model that scores each customer's probability of lapsing, so at-risk revenue can be quantified.</a:t>
            </a:r>
            <a:endParaRPr sz="1100"/>
          </a:p>
        </p:txBody>
      </p:sp>
      <p:cxnSp>
        <p:nvCxnSpPr>
          <p:cNvPr id="229" name="Google Shape;229;p28"/>
          <p:cNvCxnSpPr/>
          <p:nvPr/>
        </p:nvCxnSpPr>
        <p:spPr>
          <a:xfrm>
            <a:off x="582946" y="320954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30" name="Google Shape;230;p28"/>
          <p:cNvSpPr txBox="1"/>
          <p:nvPr/>
        </p:nvSpPr>
        <p:spPr>
          <a:xfrm>
            <a:off x="582946" y="3332988"/>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a:solidFill>
                  <a:srgbClr val="B45309"/>
                </a:solidFill>
                <a:latin typeface="Consolas"/>
                <a:ea typeface="Consolas"/>
                <a:cs typeface="Consolas"/>
                <a:sym typeface="Consolas"/>
              </a:rPr>
              <a:t>04</a:t>
            </a:r>
            <a:endParaRPr sz="1100"/>
          </a:p>
        </p:txBody>
      </p:sp>
      <p:sp>
        <p:nvSpPr>
          <p:cNvPr id="231" name="Google Shape;231;p28"/>
          <p:cNvSpPr txBox="1"/>
          <p:nvPr/>
        </p:nvSpPr>
        <p:spPr>
          <a:xfrm>
            <a:off x="1008153" y="3305556"/>
            <a:ext cx="3120473"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Translate segments into marketing actions</a:t>
            </a:r>
            <a:endParaRPr sz="1100"/>
          </a:p>
        </p:txBody>
      </p:sp>
      <p:sp>
        <p:nvSpPr>
          <p:cNvPr id="232" name="Google Shape;232;p28"/>
          <p:cNvSpPr txBox="1"/>
          <p:nvPr/>
        </p:nvSpPr>
        <p:spPr>
          <a:xfrm>
            <a:off x="4320655" y="3319272"/>
            <a:ext cx="4183492" cy="4114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Give each cluster a business persona and a concrete recommended treatment — the output must be usable, not just descriptive.</a:t>
            </a:r>
            <a:endParaRPr sz="1100"/>
          </a:p>
        </p:txBody>
      </p:sp>
      <p:cxnSp>
        <p:nvCxnSpPr>
          <p:cNvPr id="233" name="Google Shape;233;p28"/>
          <p:cNvCxnSpPr/>
          <p:nvPr/>
        </p:nvCxnSpPr>
        <p:spPr>
          <a:xfrm>
            <a:off x="582946" y="381304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34" name="Google Shape;234;p28"/>
          <p:cNvSpPr txBox="1"/>
          <p:nvPr/>
        </p:nvSpPr>
        <p:spPr>
          <a:xfrm>
            <a:off x="582946" y="3936492"/>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a:solidFill>
                  <a:srgbClr val="B45309"/>
                </a:solidFill>
                <a:latin typeface="Consolas"/>
                <a:ea typeface="Consolas"/>
                <a:cs typeface="Consolas"/>
                <a:sym typeface="Consolas"/>
              </a:rPr>
              <a:t>05</a:t>
            </a:r>
            <a:endParaRPr sz="1100"/>
          </a:p>
        </p:txBody>
      </p:sp>
      <p:sp>
        <p:nvSpPr>
          <p:cNvPr id="235" name="Google Shape;235;p28"/>
          <p:cNvSpPr txBox="1"/>
          <p:nvPr/>
        </p:nvSpPr>
        <p:spPr>
          <a:xfrm>
            <a:off x="1008153" y="3909060"/>
            <a:ext cx="3120473"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Ship it as a usable product</a:t>
            </a:r>
            <a:endParaRPr sz="1100"/>
          </a:p>
        </p:txBody>
      </p:sp>
      <p:sp>
        <p:nvSpPr>
          <p:cNvPr id="236" name="Google Shape;236;p28"/>
          <p:cNvSpPr txBox="1"/>
          <p:nvPr/>
        </p:nvSpPr>
        <p:spPr>
          <a:xfrm>
            <a:off x="4320655" y="3922776"/>
            <a:ext cx="4183492" cy="4114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Serve the pipeline through a FastAPI backend and a React dashboard so a non-technical user can explore the segments without touching code.</a:t>
            </a:r>
            <a:endParaRPr sz="1100"/>
          </a:p>
        </p:txBody>
      </p:sp>
      <p:cxnSp>
        <p:nvCxnSpPr>
          <p:cNvPr id="237" name="Google Shape;237;p28"/>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28"/>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239" name="Google Shape;239;p28"/>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05 / 28</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9"/>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6" name="Google Shape;246;p29"/>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02  </a:t>
            </a:r>
            <a:r>
              <a:rPr lang="en" sz="800">
                <a:solidFill>
                  <a:srgbClr val="6B6B6B"/>
                </a:solidFill>
                <a:latin typeface="Consolas"/>
                <a:ea typeface="Consolas"/>
                <a:cs typeface="Consolas"/>
                <a:sym typeface="Consolas"/>
              </a:rPr>
              <a:t>THE DATASET   ·   REAL TRANSACTIONS, ONE FULL YEAR</a:t>
            </a:r>
            <a:endParaRPr sz="1100"/>
          </a:p>
        </p:txBody>
      </p:sp>
      <p:sp>
        <p:nvSpPr>
          <p:cNvPr id="247" name="Google Shape;247;p29"/>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UCI Online Retail</a:t>
            </a:r>
            <a:endParaRPr sz="1100"/>
          </a:p>
        </p:txBody>
      </p:sp>
      <p:cxnSp>
        <p:nvCxnSpPr>
          <p:cNvPr id="248" name="Google Shape;248;p29"/>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49" name="Google Shape;249;p29"/>
          <p:cNvSpPr/>
          <p:nvPr/>
        </p:nvSpPr>
        <p:spPr>
          <a:xfrm>
            <a:off x="582946" y="1474470"/>
            <a:ext cx="1912232" cy="809244"/>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250" name="Google Shape;250;p29"/>
          <p:cNvCxnSpPr/>
          <p:nvPr/>
        </p:nvCxnSpPr>
        <p:spPr>
          <a:xfrm>
            <a:off x="582946"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251" name="Google Shape;251;p29"/>
          <p:cNvSpPr txBox="1"/>
          <p:nvPr/>
        </p:nvSpPr>
        <p:spPr>
          <a:xfrm>
            <a:off x="733826"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541,909</a:t>
            </a:r>
            <a:endParaRPr sz="1100"/>
          </a:p>
        </p:txBody>
      </p:sp>
      <p:sp>
        <p:nvSpPr>
          <p:cNvPr id="252" name="Google Shape;252;p29"/>
          <p:cNvSpPr txBox="1"/>
          <p:nvPr/>
        </p:nvSpPr>
        <p:spPr>
          <a:xfrm>
            <a:off x="733826" y="1995678"/>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RAW TRANSACTION ROWS</a:t>
            </a:r>
            <a:endParaRPr sz="1100"/>
          </a:p>
        </p:txBody>
      </p:sp>
      <p:sp>
        <p:nvSpPr>
          <p:cNvPr id="253" name="Google Shape;253;p29"/>
          <p:cNvSpPr/>
          <p:nvPr/>
        </p:nvSpPr>
        <p:spPr>
          <a:xfrm>
            <a:off x="2604909" y="1474470"/>
            <a:ext cx="1912232" cy="809244"/>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254" name="Google Shape;254;p29"/>
          <p:cNvCxnSpPr/>
          <p:nvPr/>
        </p:nvCxnSpPr>
        <p:spPr>
          <a:xfrm>
            <a:off x="2604909"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255" name="Google Shape;255;p29"/>
          <p:cNvSpPr txBox="1"/>
          <p:nvPr/>
        </p:nvSpPr>
        <p:spPr>
          <a:xfrm>
            <a:off x="2755789"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4,339</a:t>
            </a:r>
            <a:endParaRPr sz="1100"/>
          </a:p>
        </p:txBody>
      </p:sp>
      <p:sp>
        <p:nvSpPr>
          <p:cNvPr id="256" name="Google Shape;256;p29"/>
          <p:cNvSpPr txBox="1"/>
          <p:nvPr/>
        </p:nvSpPr>
        <p:spPr>
          <a:xfrm>
            <a:off x="2755789" y="1995678"/>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UNIQUE CUSTOMERS</a:t>
            </a:r>
            <a:endParaRPr sz="1100"/>
          </a:p>
        </p:txBody>
      </p:sp>
      <p:sp>
        <p:nvSpPr>
          <p:cNvPr id="257" name="Google Shape;257;p29"/>
          <p:cNvSpPr/>
          <p:nvPr/>
        </p:nvSpPr>
        <p:spPr>
          <a:xfrm>
            <a:off x="4626872" y="1474470"/>
            <a:ext cx="1912232" cy="809244"/>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258" name="Google Shape;258;p29"/>
          <p:cNvCxnSpPr/>
          <p:nvPr/>
        </p:nvCxnSpPr>
        <p:spPr>
          <a:xfrm>
            <a:off x="4626872"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259" name="Google Shape;259;p29"/>
          <p:cNvSpPr txBox="1"/>
          <p:nvPr/>
        </p:nvSpPr>
        <p:spPr>
          <a:xfrm>
            <a:off x="4777752"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3,665</a:t>
            </a:r>
            <a:endParaRPr sz="1100"/>
          </a:p>
        </p:txBody>
      </p:sp>
      <p:sp>
        <p:nvSpPr>
          <p:cNvPr id="260" name="Google Shape;260;p29"/>
          <p:cNvSpPr txBox="1"/>
          <p:nvPr/>
        </p:nvSpPr>
        <p:spPr>
          <a:xfrm>
            <a:off x="4777752" y="1995678"/>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DISTINCT PRODUCTS</a:t>
            </a:r>
            <a:endParaRPr sz="1100"/>
          </a:p>
        </p:txBody>
      </p:sp>
      <p:sp>
        <p:nvSpPr>
          <p:cNvPr id="261" name="Google Shape;261;p29"/>
          <p:cNvSpPr/>
          <p:nvPr/>
        </p:nvSpPr>
        <p:spPr>
          <a:xfrm>
            <a:off x="6648835" y="1474470"/>
            <a:ext cx="1912232" cy="809244"/>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262" name="Google Shape;262;p29"/>
          <p:cNvCxnSpPr/>
          <p:nvPr/>
        </p:nvCxnSpPr>
        <p:spPr>
          <a:xfrm>
            <a:off x="6648835"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263" name="Google Shape;263;p29"/>
          <p:cNvSpPr txBox="1"/>
          <p:nvPr/>
        </p:nvSpPr>
        <p:spPr>
          <a:xfrm>
            <a:off x="6799715"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37</a:t>
            </a:r>
            <a:endParaRPr sz="1100"/>
          </a:p>
        </p:txBody>
      </p:sp>
      <p:sp>
        <p:nvSpPr>
          <p:cNvPr id="264" name="Google Shape;264;p29"/>
          <p:cNvSpPr txBox="1"/>
          <p:nvPr/>
        </p:nvSpPr>
        <p:spPr>
          <a:xfrm>
            <a:off x="6799715" y="1995678"/>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COUNTRIES</a:t>
            </a:r>
            <a:endParaRPr sz="1100"/>
          </a:p>
        </p:txBody>
      </p:sp>
      <p:sp>
        <p:nvSpPr>
          <p:cNvPr id="265" name="Google Shape;265;p29"/>
          <p:cNvSpPr txBox="1"/>
          <p:nvPr/>
        </p:nvSpPr>
        <p:spPr>
          <a:xfrm>
            <a:off x="582946" y="2571750"/>
            <a:ext cx="4457819"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Source. </a:t>
            </a:r>
            <a:r>
              <a:rPr lang="en" sz="1000">
                <a:solidFill>
                  <a:srgbClr val="1A1A1A"/>
                </a:solidFill>
                <a:latin typeface="Calibri"/>
                <a:ea typeface="Calibri"/>
                <a:cs typeface="Calibri"/>
                <a:sym typeface="Calibri"/>
              </a:rPr>
              <a:t>UCI Machine Learning Repository — a genuine transaction log from a UK-based online gift retailer, not synthetic data.</a:t>
            </a:r>
            <a:endParaRPr sz="1100"/>
          </a:p>
          <a:p>
            <a:pPr indent="0" lvl="0" marL="0" marR="0" rtl="0" algn="l">
              <a:lnSpc>
                <a:spcPct val="130000"/>
              </a:lnSpc>
              <a:spcBef>
                <a:spcPts val="6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Grain. </a:t>
            </a:r>
            <a:r>
              <a:rPr lang="en" sz="1000">
                <a:solidFill>
                  <a:srgbClr val="1A1A1A"/>
                </a:solidFill>
                <a:latin typeface="Calibri"/>
                <a:ea typeface="Calibri"/>
                <a:cs typeface="Calibri"/>
                <a:sym typeface="Calibri"/>
              </a:rPr>
              <a:t>One row per line-item on an invoice: invoice number, product code and description, quantity, timestamp, unit price, customer ID and country.</a:t>
            </a:r>
            <a:endParaRPr sz="1100"/>
          </a:p>
          <a:p>
            <a:pPr indent="0" lvl="0" marL="0" marR="0" rtl="0" algn="l">
              <a:lnSpc>
                <a:spcPct val="130000"/>
              </a:lnSpc>
              <a:spcBef>
                <a:spcPts val="6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Window. </a:t>
            </a:r>
            <a:r>
              <a:rPr lang="en" sz="1000">
                <a:solidFill>
                  <a:srgbClr val="1A1A1A"/>
                </a:solidFill>
                <a:latin typeface="Calibri"/>
                <a:ea typeface="Calibri"/>
                <a:cs typeface="Calibri"/>
                <a:sym typeface="Calibri"/>
              </a:rPr>
              <a:t>16 Jul 2025 – 24 Jul 2026. Roughly twelve months, which is long enough for recency and repeat-purchase behaviour to be meaningful.</a:t>
            </a:r>
            <a:endParaRPr sz="1100"/>
          </a:p>
          <a:p>
            <a:pPr indent="0" lvl="0" marL="0" marR="0" rtl="0" algn="l">
              <a:lnSpc>
                <a:spcPct val="130000"/>
              </a:lnSpc>
              <a:spcBef>
                <a:spcPts val="6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Note on dates. </a:t>
            </a:r>
            <a:r>
              <a:rPr lang="en" sz="1000">
                <a:solidFill>
                  <a:srgbClr val="1A1A1A"/>
                </a:solidFill>
                <a:latin typeface="Calibri"/>
                <a:ea typeface="Calibri"/>
                <a:cs typeface="Calibri"/>
                <a:sym typeface="Calibri"/>
              </a:rPr>
              <a:t>The original dataset covers Dec 2010 – Dec 2011. We shifted the window forward so the live demo reacts to present-day activity; intervals between purchases are untouched.</a:t>
            </a:r>
            <a:endParaRPr sz="1100"/>
          </a:p>
        </p:txBody>
      </p:sp>
      <p:sp>
        <p:nvSpPr>
          <p:cNvPr id="266" name="Google Shape;266;p29"/>
          <p:cNvSpPr/>
          <p:nvPr/>
        </p:nvSpPr>
        <p:spPr>
          <a:xfrm>
            <a:off x="5383674" y="2571750"/>
            <a:ext cx="3154764" cy="195453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67" name="Google Shape;267;p29"/>
          <p:cNvSpPr txBox="1"/>
          <p:nvPr/>
        </p:nvSpPr>
        <p:spPr>
          <a:xfrm>
            <a:off x="5575703" y="2729484"/>
            <a:ext cx="2743273"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SCHEMA</a:t>
            </a:r>
            <a:endParaRPr sz="1100"/>
          </a:p>
        </p:txBody>
      </p:sp>
      <p:sp>
        <p:nvSpPr>
          <p:cNvPr id="268" name="Google Shape;268;p29"/>
          <p:cNvSpPr txBox="1"/>
          <p:nvPr/>
        </p:nvSpPr>
        <p:spPr>
          <a:xfrm>
            <a:off x="5575703" y="2983229"/>
            <a:ext cx="2811854" cy="130302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InvoiceNo      transaction id</a:t>
            </a:r>
            <a:endParaRPr sz="1100"/>
          </a:p>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StockCode      product id</a:t>
            </a:r>
            <a:endParaRPr sz="1100"/>
          </a:p>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Description    product name</a:t>
            </a:r>
            <a:endParaRPr sz="1100"/>
          </a:p>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Quantity       units bought</a:t>
            </a:r>
            <a:endParaRPr sz="1100"/>
          </a:p>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InvoiceDate    timestamp</a:t>
            </a:r>
            <a:endParaRPr sz="1100"/>
          </a:p>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UnitPrice      price per unit</a:t>
            </a:r>
            <a:endParaRPr sz="1100"/>
          </a:p>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CustomerID     customer id</a:t>
            </a:r>
            <a:endParaRPr sz="1100"/>
          </a:p>
          <a:p>
            <a:pPr indent="0" lvl="0" marL="0" marR="0" rtl="0" algn="l">
              <a:lnSpc>
                <a:spcPct val="150000"/>
              </a:lnSpc>
              <a:spcBef>
                <a:spcPts val="0"/>
              </a:spcBef>
              <a:spcAft>
                <a:spcPts val="0"/>
              </a:spcAft>
              <a:buNone/>
            </a:pPr>
            <a:r>
              <a:rPr b="0" i="0" lang="en" sz="800">
                <a:solidFill>
                  <a:srgbClr val="1A1A1A"/>
                </a:solidFill>
                <a:latin typeface="Consolas"/>
                <a:ea typeface="Consolas"/>
                <a:cs typeface="Consolas"/>
                <a:sym typeface="Consolas"/>
              </a:rPr>
              <a:t>Country        billing country</a:t>
            </a:r>
            <a:endParaRPr sz="1100"/>
          </a:p>
        </p:txBody>
      </p:sp>
      <p:cxnSp>
        <p:nvCxnSpPr>
          <p:cNvPr id="269" name="Google Shape;269;p29"/>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70" name="Google Shape;270;p29"/>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271" name="Google Shape;271;p29"/>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06 / 28</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8" name="Google Shape;278;p30"/>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02  </a:t>
            </a:r>
            <a:r>
              <a:rPr lang="en" sz="800">
                <a:solidFill>
                  <a:srgbClr val="6B6B6B"/>
                </a:solidFill>
                <a:latin typeface="Consolas"/>
                <a:ea typeface="Consolas"/>
                <a:cs typeface="Consolas"/>
                <a:sym typeface="Consolas"/>
              </a:rPr>
              <a:t>PREPROCESSING   ·   541,909 → 397,924 ROWS</a:t>
            </a:r>
            <a:endParaRPr sz="1100"/>
          </a:p>
        </p:txBody>
      </p:sp>
      <p:sp>
        <p:nvSpPr>
          <p:cNvPr id="279" name="Google Shape;279;p30"/>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Cleaning the transaction log</a:t>
            </a:r>
            <a:endParaRPr sz="1100"/>
          </a:p>
        </p:txBody>
      </p:sp>
      <p:cxnSp>
        <p:nvCxnSpPr>
          <p:cNvPr id="280" name="Google Shape;280;p30"/>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81" name="Google Shape;281;p30"/>
          <p:cNvSpPr/>
          <p:nvPr/>
        </p:nvSpPr>
        <p:spPr>
          <a:xfrm>
            <a:off x="582946" y="1508760"/>
            <a:ext cx="288044" cy="288036"/>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2" name="Google Shape;282;p30"/>
          <p:cNvSpPr txBox="1"/>
          <p:nvPr/>
        </p:nvSpPr>
        <p:spPr>
          <a:xfrm>
            <a:off x="582946" y="1570482"/>
            <a:ext cx="288044"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1000">
                <a:solidFill>
                  <a:srgbClr val="FAF8F4"/>
                </a:solidFill>
                <a:latin typeface="Consolas"/>
                <a:ea typeface="Consolas"/>
                <a:cs typeface="Consolas"/>
                <a:sym typeface="Consolas"/>
              </a:rPr>
              <a:t>1</a:t>
            </a:r>
            <a:endParaRPr sz="1100"/>
          </a:p>
        </p:txBody>
      </p:sp>
      <p:sp>
        <p:nvSpPr>
          <p:cNvPr id="283" name="Google Shape;283;p30"/>
          <p:cNvSpPr txBox="1"/>
          <p:nvPr/>
        </p:nvSpPr>
        <p:spPr>
          <a:xfrm>
            <a:off x="1028727" y="1501902"/>
            <a:ext cx="260610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Drop null CustomerID</a:t>
            </a:r>
            <a:endParaRPr sz="1100"/>
          </a:p>
        </p:txBody>
      </p:sp>
      <p:sp>
        <p:nvSpPr>
          <p:cNvPr id="284" name="Google Shape;284;p30"/>
          <p:cNvSpPr txBox="1"/>
          <p:nvPr/>
        </p:nvSpPr>
        <p:spPr>
          <a:xfrm>
            <a:off x="1028727" y="1755648"/>
            <a:ext cx="26061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800">
                <a:solidFill>
                  <a:srgbClr val="B45309"/>
                </a:solidFill>
                <a:latin typeface="Consolas"/>
                <a:ea typeface="Consolas"/>
                <a:cs typeface="Consolas"/>
                <a:sym typeface="Consolas"/>
              </a:rPr>
              <a:t>−135,080 ROWS</a:t>
            </a:r>
            <a:endParaRPr sz="1100"/>
          </a:p>
        </p:txBody>
      </p:sp>
      <p:sp>
        <p:nvSpPr>
          <p:cNvPr id="285" name="Google Shape;285;p30"/>
          <p:cNvSpPr txBox="1"/>
          <p:nvPr/>
        </p:nvSpPr>
        <p:spPr>
          <a:xfrm>
            <a:off x="3840582" y="1522476"/>
            <a:ext cx="4663564"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Guest checkouts with no customer identifier. Behaviour cannot be attributed to a person, so they cannot enter a per-customer model.</a:t>
            </a:r>
            <a:endParaRPr sz="1100"/>
          </a:p>
        </p:txBody>
      </p:sp>
      <p:cxnSp>
        <p:nvCxnSpPr>
          <p:cNvPr id="286" name="Google Shape;286;p30"/>
          <p:cNvCxnSpPr/>
          <p:nvPr/>
        </p:nvCxnSpPr>
        <p:spPr>
          <a:xfrm>
            <a:off x="582946" y="207111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87" name="Google Shape;287;p30"/>
          <p:cNvSpPr/>
          <p:nvPr/>
        </p:nvSpPr>
        <p:spPr>
          <a:xfrm>
            <a:off x="582946" y="2208276"/>
            <a:ext cx="288044" cy="288036"/>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8" name="Google Shape;288;p30"/>
          <p:cNvSpPr txBox="1"/>
          <p:nvPr/>
        </p:nvSpPr>
        <p:spPr>
          <a:xfrm>
            <a:off x="582946" y="2269998"/>
            <a:ext cx="288044"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1000">
                <a:solidFill>
                  <a:srgbClr val="FAF8F4"/>
                </a:solidFill>
                <a:latin typeface="Consolas"/>
                <a:ea typeface="Consolas"/>
                <a:cs typeface="Consolas"/>
                <a:sym typeface="Consolas"/>
              </a:rPr>
              <a:t>2</a:t>
            </a:r>
            <a:endParaRPr sz="1100"/>
          </a:p>
        </p:txBody>
      </p:sp>
      <p:sp>
        <p:nvSpPr>
          <p:cNvPr id="289" name="Google Shape;289;p30"/>
          <p:cNvSpPr txBox="1"/>
          <p:nvPr/>
        </p:nvSpPr>
        <p:spPr>
          <a:xfrm>
            <a:off x="1028727" y="2201418"/>
            <a:ext cx="260610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Remove returns &amp; cancellations</a:t>
            </a:r>
            <a:endParaRPr sz="1100"/>
          </a:p>
        </p:txBody>
      </p:sp>
      <p:sp>
        <p:nvSpPr>
          <p:cNvPr id="290" name="Google Shape;290;p30"/>
          <p:cNvSpPr txBox="1"/>
          <p:nvPr/>
        </p:nvSpPr>
        <p:spPr>
          <a:xfrm>
            <a:off x="1028727" y="2455164"/>
            <a:ext cx="26061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800">
                <a:solidFill>
                  <a:srgbClr val="B45309"/>
                </a:solidFill>
                <a:latin typeface="Consolas"/>
                <a:ea typeface="Consolas"/>
                <a:cs typeface="Consolas"/>
                <a:sym typeface="Consolas"/>
              </a:rPr>
              <a:t>−10,624 ROWS</a:t>
            </a:r>
            <a:endParaRPr sz="1100"/>
          </a:p>
        </p:txBody>
      </p:sp>
      <p:sp>
        <p:nvSpPr>
          <p:cNvPr id="291" name="Google Shape;291;p30"/>
          <p:cNvSpPr txBox="1"/>
          <p:nvPr/>
        </p:nvSpPr>
        <p:spPr>
          <a:xfrm>
            <a:off x="3840582" y="2221992"/>
            <a:ext cx="4663564"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Rows with Quantity ≤ 0 are refunds. They are not purchase behaviour and would distort both frequency and monetary value.</a:t>
            </a:r>
            <a:endParaRPr sz="1100"/>
          </a:p>
        </p:txBody>
      </p:sp>
      <p:cxnSp>
        <p:nvCxnSpPr>
          <p:cNvPr id="292" name="Google Shape;292;p30"/>
          <p:cNvCxnSpPr/>
          <p:nvPr/>
        </p:nvCxnSpPr>
        <p:spPr>
          <a:xfrm>
            <a:off x="582946" y="277063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93" name="Google Shape;293;p30"/>
          <p:cNvSpPr/>
          <p:nvPr/>
        </p:nvSpPr>
        <p:spPr>
          <a:xfrm>
            <a:off x="582946" y="2907792"/>
            <a:ext cx="288044" cy="288036"/>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94" name="Google Shape;294;p30"/>
          <p:cNvSpPr txBox="1"/>
          <p:nvPr/>
        </p:nvSpPr>
        <p:spPr>
          <a:xfrm>
            <a:off x="582946" y="2969514"/>
            <a:ext cx="288044"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1000">
                <a:solidFill>
                  <a:srgbClr val="FAF8F4"/>
                </a:solidFill>
                <a:latin typeface="Consolas"/>
                <a:ea typeface="Consolas"/>
                <a:cs typeface="Consolas"/>
                <a:sym typeface="Consolas"/>
              </a:rPr>
              <a:t>3</a:t>
            </a:r>
            <a:endParaRPr sz="1100"/>
          </a:p>
        </p:txBody>
      </p:sp>
      <p:sp>
        <p:nvSpPr>
          <p:cNvPr id="295" name="Google Shape;295;p30"/>
          <p:cNvSpPr txBox="1"/>
          <p:nvPr/>
        </p:nvSpPr>
        <p:spPr>
          <a:xfrm>
            <a:off x="1028727" y="2900934"/>
            <a:ext cx="260610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Parse InvoiceDate to datetime</a:t>
            </a:r>
            <a:endParaRPr sz="1100"/>
          </a:p>
        </p:txBody>
      </p:sp>
      <p:sp>
        <p:nvSpPr>
          <p:cNvPr id="296" name="Google Shape;296;p30"/>
          <p:cNvSpPr txBox="1"/>
          <p:nvPr/>
        </p:nvSpPr>
        <p:spPr>
          <a:xfrm>
            <a:off x="1028727" y="3154680"/>
            <a:ext cx="26061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800">
                <a:solidFill>
                  <a:srgbClr val="B45309"/>
                </a:solidFill>
                <a:latin typeface="Consolas"/>
                <a:ea typeface="Consolas"/>
                <a:cs typeface="Consolas"/>
                <a:sym typeface="Consolas"/>
              </a:rPr>
              <a:t>TYPE FIX</a:t>
            </a:r>
            <a:endParaRPr sz="1100"/>
          </a:p>
        </p:txBody>
      </p:sp>
      <p:sp>
        <p:nvSpPr>
          <p:cNvPr id="297" name="Google Shape;297;p30"/>
          <p:cNvSpPr txBox="1"/>
          <p:nvPr/>
        </p:nvSpPr>
        <p:spPr>
          <a:xfrm>
            <a:off x="3840582" y="2921508"/>
            <a:ext cx="4663564"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Required before any recency arithmetic — without it, dates are strings and date differences are impossible.</a:t>
            </a:r>
            <a:endParaRPr sz="1100"/>
          </a:p>
        </p:txBody>
      </p:sp>
      <p:cxnSp>
        <p:nvCxnSpPr>
          <p:cNvPr id="298" name="Google Shape;298;p30"/>
          <p:cNvCxnSpPr/>
          <p:nvPr/>
        </p:nvCxnSpPr>
        <p:spPr>
          <a:xfrm>
            <a:off x="582946" y="347014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299" name="Google Shape;299;p30"/>
          <p:cNvSpPr/>
          <p:nvPr/>
        </p:nvSpPr>
        <p:spPr>
          <a:xfrm>
            <a:off x="582946" y="3607308"/>
            <a:ext cx="288044" cy="288036"/>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0" name="Google Shape;300;p30"/>
          <p:cNvSpPr txBox="1"/>
          <p:nvPr/>
        </p:nvSpPr>
        <p:spPr>
          <a:xfrm>
            <a:off x="582946" y="3669030"/>
            <a:ext cx="288044"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1000">
                <a:solidFill>
                  <a:srgbClr val="FAF8F4"/>
                </a:solidFill>
                <a:latin typeface="Consolas"/>
                <a:ea typeface="Consolas"/>
                <a:cs typeface="Consolas"/>
                <a:sym typeface="Consolas"/>
              </a:rPr>
              <a:t>4</a:t>
            </a:r>
            <a:endParaRPr sz="1100"/>
          </a:p>
        </p:txBody>
      </p:sp>
      <p:sp>
        <p:nvSpPr>
          <p:cNvPr id="301" name="Google Shape;301;p30"/>
          <p:cNvSpPr txBox="1"/>
          <p:nvPr/>
        </p:nvSpPr>
        <p:spPr>
          <a:xfrm>
            <a:off x="1028727" y="3600450"/>
            <a:ext cx="260610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Derive TotalPrice</a:t>
            </a:r>
            <a:endParaRPr sz="1100"/>
          </a:p>
        </p:txBody>
      </p:sp>
      <p:sp>
        <p:nvSpPr>
          <p:cNvPr id="302" name="Google Shape;302;p30"/>
          <p:cNvSpPr txBox="1"/>
          <p:nvPr/>
        </p:nvSpPr>
        <p:spPr>
          <a:xfrm>
            <a:off x="1028727" y="3854196"/>
            <a:ext cx="26061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800">
                <a:solidFill>
                  <a:srgbClr val="B45309"/>
                </a:solidFill>
                <a:latin typeface="Consolas"/>
                <a:ea typeface="Consolas"/>
                <a:cs typeface="Consolas"/>
                <a:sym typeface="Consolas"/>
              </a:rPr>
              <a:t>NEW FEATURE</a:t>
            </a:r>
            <a:endParaRPr sz="1100"/>
          </a:p>
        </p:txBody>
      </p:sp>
      <p:sp>
        <p:nvSpPr>
          <p:cNvPr id="303" name="Google Shape;303;p30"/>
          <p:cNvSpPr txBox="1"/>
          <p:nvPr/>
        </p:nvSpPr>
        <p:spPr>
          <a:xfrm>
            <a:off x="3840582" y="3621024"/>
            <a:ext cx="4663564"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TotalPrice = Quantity × UnitPrice. The line-level revenue figure that Monetary value is later summed from.</a:t>
            </a:r>
            <a:endParaRPr sz="1100"/>
          </a:p>
        </p:txBody>
      </p:sp>
      <p:sp>
        <p:nvSpPr>
          <p:cNvPr id="304" name="Google Shape;304;p30"/>
          <p:cNvSpPr/>
          <p:nvPr/>
        </p:nvSpPr>
        <p:spPr>
          <a:xfrm>
            <a:off x="582946" y="4354830"/>
            <a:ext cx="7978124" cy="37719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05" name="Google Shape;305;p30"/>
          <p:cNvSpPr txBox="1"/>
          <p:nvPr/>
        </p:nvSpPr>
        <p:spPr>
          <a:xfrm>
            <a:off x="754400" y="4457700"/>
            <a:ext cx="7635215"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1A1A1A"/>
                </a:solidFill>
                <a:latin typeface="Calibri"/>
                <a:ea typeface="Calibri"/>
                <a:cs typeface="Calibri"/>
                <a:sym typeface="Calibri"/>
              </a:rPr>
              <a:t>Result:  397,924 clean transaction rows covering 4,339 identifiable customers — 73% of the original file retained.</a:t>
            </a:r>
            <a:endParaRPr sz="1100"/>
          </a:p>
        </p:txBody>
      </p:sp>
      <p:cxnSp>
        <p:nvCxnSpPr>
          <p:cNvPr id="306" name="Google Shape;306;p30"/>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307" name="Google Shape;307;p30"/>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308" name="Google Shape;308;p30"/>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07 / 28</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1"/>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15" name="Google Shape;315;p31"/>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02  </a:t>
            </a:r>
            <a:r>
              <a:rPr lang="en" sz="800">
                <a:solidFill>
                  <a:srgbClr val="6B6B6B"/>
                </a:solidFill>
                <a:latin typeface="Consolas"/>
                <a:ea typeface="Consolas"/>
                <a:cs typeface="Consolas"/>
                <a:sym typeface="Consolas"/>
              </a:rPr>
              <a:t>FEATURE ENGINEERING   ·   398K TRANSACTIONS → 4,339 CUSTOMERS</a:t>
            </a:r>
            <a:endParaRPr sz="1100"/>
          </a:p>
        </p:txBody>
      </p:sp>
      <p:sp>
        <p:nvSpPr>
          <p:cNvPr id="316" name="Google Shape;316;p31"/>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The RFM model</a:t>
            </a:r>
            <a:endParaRPr sz="1100"/>
          </a:p>
        </p:txBody>
      </p:sp>
      <p:cxnSp>
        <p:nvCxnSpPr>
          <p:cNvPr id="317" name="Google Shape;317;p31"/>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318" name="Google Shape;318;p31"/>
          <p:cNvSpPr/>
          <p:nvPr/>
        </p:nvSpPr>
        <p:spPr>
          <a:xfrm>
            <a:off x="582946" y="1508760"/>
            <a:ext cx="2590793" cy="188595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319" name="Google Shape;319;p31"/>
          <p:cNvCxnSpPr/>
          <p:nvPr/>
        </p:nvCxnSpPr>
        <p:spPr>
          <a:xfrm>
            <a:off x="582946" y="1508760"/>
            <a:ext cx="2590793"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320" name="Google Shape;320;p31"/>
          <p:cNvSpPr txBox="1"/>
          <p:nvPr/>
        </p:nvSpPr>
        <p:spPr>
          <a:xfrm>
            <a:off x="788691" y="1680210"/>
            <a:ext cx="548655"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000">
                <a:solidFill>
                  <a:srgbClr val="B45309"/>
                </a:solidFill>
                <a:latin typeface="Georgia"/>
                <a:ea typeface="Georgia"/>
                <a:cs typeface="Georgia"/>
                <a:sym typeface="Georgia"/>
              </a:rPr>
              <a:t>R</a:t>
            </a:r>
            <a:endParaRPr sz="1100"/>
          </a:p>
        </p:txBody>
      </p:sp>
      <p:sp>
        <p:nvSpPr>
          <p:cNvPr id="321" name="Google Shape;321;p31"/>
          <p:cNvSpPr txBox="1"/>
          <p:nvPr/>
        </p:nvSpPr>
        <p:spPr>
          <a:xfrm>
            <a:off x="788691" y="2180844"/>
            <a:ext cx="2179302"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Recency</a:t>
            </a:r>
            <a:endParaRPr sz="1100"/>
          </a:p>
        </p:txBody>
      </p:sp>
      <p:sp>
        <p:nvSpPr>
          <p:cNvPr id="322" name="Google Shape;322;p31"/>
          <p:cNvSpPr txBox="1"/>
          <p:nvPr/>
        </p:nvSpPr>
        <p:spPr>
          <a:xfrm>
            <a:off x="788691" y="2455164"/>
            <a:ext cx="2179302" cy="6172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Days since the customer's last purchase, measured from a snapshot one day after the final transaction in the dataset.</a:t>
            </a:r>
            <a:endParaRPr sz="1100"/>
          </a:p>
        </p:txBody>
      </p:sp>
      <p:sp>
        <p:nvSpPr>
          <p:cNvPr id="323" name="Google Shape;323;p31"/>
          <p:cNvSpPr txBox="1"/>
          <p:nvPr/>
        </p:nvSpPr>
        <p:spPr>
          <a:xfrm>
            <a:off x="788691" y="3072384"/>
            <a:ext cx="2179302"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 sz="800">
                <a:solidFill>
                  <a:srgbClr val="B45309"/>
                </a:solidFill>
                <a:latin typeface="Calibri"/>
                <a:ea typeface="Calibri"/>
                <a:cs typeface="Calibri"/>
                <a:sym typeface="Calibri"/>
              </a:rPr>
              <a:t>Lower is better — a recent buyer is an engaged buyer.</a:t>
            </a:r>
            <a:endParaRPr sz="1100"/>
          </a:p>
        </p:txBody>
      </p:sp>
      <p:sp>
        <p:nvSpPr>
          <p:cNvPr id="324" name="Google Shape;324;p31"/>
          <p:cNvSpPr/>
          <p:nvPr/>
        </p:nvSpPr>
        <p:spPr>
          <a:xfrm>
            <a:off x="3276611" y="1508760"/>
            <a:ext cx="2590793" cy="188595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325" name="Google Shape;325;p31"/>
          <p:cNvCxnSpPr/>
          <p:nvPr/>
        </p:nvCxnSpPr>
        <p:spPr>
          <a:xfrm>
            <a:off x="3276611" y="1508760"/>
            <a:ext cx="2590793"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326" name="Google Shape;326;p31"/>
          <p:cNvSpPr txBox="1"/>
          <p:nvPr/>
        </p:nvSpPr>
        <p:spPr>
          <a:xfrm>
            <a:off x="3482356" y="1680210"/>
            <a:ext cx="548655"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000">
                <a:solidFill>
                  <a:srgbClr val="B45309"/>
                </a:solidFill>
                <a:latin typeface="Georgia"/>
                <a:ea typeface="Georgia"/>
                <a:cs typeface="Georgia"/>
                <a:sym typeface="Georgia"/>
              </a:rPr>
              <a:t>F</a:t>
            </a:r>
            <a:endParaRPr sz="1100"/>
          </a:p>
        </p:txBody>
      </p:sp>
      <p:sp>
        <p:nvSpPr>
          <p:cNvPr id="327" name="Google Shape;327;p31"/>
          <p:cNvSpPr txBox="1"/>
          <p:nvPr/>
        </p:nvSpPr>
        <p:spPr>
          <a:xfrm>
            <a:off x="3482356" y="2180844"/>
            <a:ext cx="2179302"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Frequency</a:t>
            </a:r>
            <a:endParaRPr sz="1100"/>
          </a:p>
        </p:txBody>
      </p:sp>
      <p:sp>
        <p:nvSpPr>
          <p:cNvPr id="328" name="Google Shape;328;p31"/>
          <p:cNvSpPr txBox="1"/>
          <p:nvPr/>
        </p:nvSpPr>
        <p:spPr>
          <a:xfrm>
            <a:off x="3482356" y="2455164"/>
            <a:ext cx="2179302" cy="6172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The count of distinct invoices the customer placed across the whole period.</a:t>
            </a:r>
            <a:endParaRPr sz="1100"/>
          </a:p>
        </p:txBody>
      </p:sp>
      <p:sp>
        <p:nvSpPr>
          <p:cNvPr id="329" name="Google Shape;329;p31"/>
          <p:cNvSpPr txBox="1"/>
          <p:nvPr/>
        </p:nvSpPr>
        <p:spPr>
          <a:xfrm>
            <a:off x="3482356" y="3072384"/>
            <a:ext cx="2179302"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 sz="800">
                <a:solidFill>
                  <a:srgbClr val="B45309"/>
                </a:solidFill>
                <a:latin typeface="Calibri"/>
                <a:ea typeface="Calibri"/>
                <a:cs typeface="Calibri"/>
                <a:sym typeface="Calibri"/>
              </a:rPr>
              <a:t>Higher is better — repeat purchase indicates loyalty.</a:t>
            </a:r>
            <a:endParaRPr sz="1100"/>
          </a:p>
        </p:txBody>
      </p:sp>
      <p:sp>
        <p:nvSpPr>
          <p:cNvPr id="330" name="Google Shape;330;p31"/>
          <p:cNvSpPr/>
          <p:nvPr/>
        </p:nvSpPr>
        <p:spPr>
          <a:xfrm>
            <a:off x="5970276" y="1508760"/>
            <a:ext cx="2590793" cy="188595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331" name="Google Shape;331;p31"/>
          <p:cNvCxnSpPr/>
          <p:nvPr/>
        </p:nvCxnSpPr>
        <p:spPr>
          <a:xfrm>
            <a:off x="5970276" y="1508760"/>
            <a:ext cx="2590793"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332" name="Google Shape;332;p31"/>
          <p:cNvSpPr txBox="1"/>
          <p:nvPr/>
        </p:nvSpPr>
        <p:spPr>
          <a:xfrm>
            <a:off x="6176022" y="1680210"/>
            <a:ext cx="548655" cy="4800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3000">
                <a:solidFill>
                  <a:srgbClr val="B45309"/>
                </a:solidFill>
                <a:latin typeface="Georgia"/>
                <a:ea typeface="Georgia"/>
                <a:cs typeface="Georgia"/>
                <a:sym typeface="Georgia"/>
              </a:rPr>
              <a:t>M</a:t>
            </a:r>
            <a:endParaRPr sz="1100"/>
          </a:p>
        </p:txBody>
      </p:sp>
      <p:sp>
        <p:nvSpPr>
          <p:cNvPr id="333" name="Google Shape;333;p31"/>
          <p:cNvSpPr txBox="1"/>
          <p:nvPr/>
        </p:nvSpPr>
        <p:spPr>
          <a:xfrm>
            <a:off x="6176022" y="2180844"/>
            <a:ext cx="2179302"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400">
                <a:solidFill>
                  <a:srgbClr val="1A1A1A"/>
                </a:solidFill>
                <a:latin typeface="Georgia"/>
                <a:ea typeface="Georgia"/>
                <a:cs typeface="Georgia"/>
                <a:sym typeface="Georgia"/>
              </a:rPr>
              <a:t>Monetary</a:t>
            </a:r>
            <a:endParaRPr sz="1100"/>
          </a:p>
        </p:txBody>
      </p:sp>
      <p:sp>
        <p:nvSpPr>
          <p:cNvPr id="334" name="Google Shape;334;p31"/>
          <p:cNvSpPr txBox="1"/>
          <p:nvPr/>
        </p:nvSpPr>
        <p:spPr>
          <a:xfrm>
            <a:off x="6176022" y="2455164"/>
            <a:ext cx="2179302" cy="6172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Total revenue from the customer: the sum of Quantity × UnitPrice across all their lines.</a:t>
            </a:r>
            <a:endParaRPr sz="1100"/>
          </a:p>
        </p:txBody>
      </p:sp>
      <p:sp>
        <p:nvSpPr>
          <p:cNvPr id="335" name="Google Shape;335;p31"/>
          <p:cNvSpPr txBox="1"/>
          <p:nvPr/>
        </p:nvSpPr>
        <p:spPr>
          <a:xfrm>
            <a:off x="6176022" y="3072384"/>
            <a:ext cx="2179302"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 sz="800">
                <a:solidFill>
                  <a:srgbClr val="B45309"/>
                </a:solidFill>
                <a:latin typeface="Calibri"/>
                <a:ea typeface="Calibri"/>
                <a:cs typeface="Calibri"/>
                <a:sym typeface="Calibri"/>
              </a:rPr>
              <a:t>Higher is better — this is the customer's realised value.</a:t>
            </a:r>
            <a:endParaRPr sz="1100"/>
          </a:p>
        </p:txBody>
      </p:sp>
      <p:sp>
        <p:nvSpPr>
          <p:cNvPr id="336" name="Google Shape;336;p31"/>
          <p:cNvSpPr txBox="1"/>
          <p:nvPr/>
        </p:nvSpPr>
        <p:spPr>
          <a:xfrm>
            <a:off x="582946" y="3634740"/>
            <a:ext cx="370341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IMPLEMENTATION</a:t>
            </a:r>
            <a:endParaRPr sz="1100"/>
          </a:p>
        </p:txBody>
      </p:sp>
      <p:sp>
        <p:nvSpPr>
          <p:cNvPr id="337" name="Google Shape;337;p31"/>
          <p:cNvSpPr/>
          <p:nvPr/>
        </p:nvSpPr>
        <p:spPr>
          <a:xfrm>
            <a:off x="582946" y="3854196"/>
            <a:ext cx="4526401" cy="78867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8" name="Google Shape;338;p31"/>
          <p:cNvSpPr txBox="1"/>
          <p:nvPr/>
        </p:nvSpPr>
        <p:spPr>
          <a:xfrm>
            <a:off x="754400" y="3977640"/>
            <a:ext cx="4183492" cy="617220"/>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 sz="800">
                <a:solidFill>
                  <a:srgbClr val="E0DCD2"/>
                </a:solidFill>
                <a:latin typeface="Consolas"/>
                <a:ea typeface="Consolas"/>
                <a:cs typeface="Consolas"/>
                <a:sym typeface="Consolas"/>
              </a:rPr>
              <a:t>snapshot = df.InvoiceDate.max() + 1 day</a:t>
            </a:r>
            <a:endParaRPr sz="1100"/>
          </a:p>
          <a:p>
            <a:pPr indent="0" lvl="0" marL="0" marR="0" rtl="0" algn="l">
              <a:lnSpc>
                <a:spcPct val="145000"/>
              </a:lnSpc>
              <a:spcBef>
                <a:spcPts val="0"/>
              </a:spcBef>
              <a:spcAft>
                <a:spcPts val="0"/>
              </a:spcAft>
              <a:buNone/>
            </a:pPr>
            <a:r>
              <a:rPr b="0" i="0" lang="en" sz="800">
                <a:solidFill>
                  <a:srgbClr val="E0DCD2"/>
                </a:solidFill>
                <a:latin typeface="Consolas"/>
                <a:ea typeface="Consolas"/>
                <a:cs typeface="Consolas"/>
                <a:sym typeface="Consolas"/>
              </a:rPr>
              <a:t>rfm = df.groupby('CustomerID').agg(</a:t>
            </a:r>
            <a:endParaRPr sz="1100"/>
          </a:p>
          <a:p>
            <a:pPr indent="0" lvl="0" marL="0" marR="0" rtl="0" algn="l">
              <a:lnSpc>
                <a:spcPct val="145000"/>
              </a:lnSpc>
              <a:spcBef>
                <a:spcPts val="0"/>
              </a:spcBef>
              <a:spcAft>
                <a:spcPts val="0"/>
              </a:spcAft>
              <a:buNone/>
            </a:pPr>
            <a:r>
              <a:rPr b="0" i="0" lang="en" sz="800">
                <a:solidFill>
                  <a:srgbClr val="E0DCD2"/>
                </a:solidFill>
                <a:latin typeface="Consolas"/>
                <a:ea typeface="Consolas"/>
                <a:cs typeface="Consolas"/>
                <a:sym typeface="Consolas"/>
              </a:rPr>
              <a:t>    Recency, Frequency, Monetary )</a:t>
            </a:r>
            <a:endParaRPr sz="1100"/>
          </a:p>
        </p:txBody>
      </p:sp>
      <p:sp>
        <p:nvSpPr>
          <p:cNvPr id="339" name="Google Shape;339;p31"/>
          <p:cNvSpPr txBox="1"/>
          <p:nvPr/>
        </p:nvSpPr>
        <p:spPr>
          <a:xfrm>
            <a:off x="5383674" y="3806190"/>
            <a:ext cx="3154764"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900">
                <a:solidFill>
                  <a:srgbClr val="B45309"/>
                </a:solidFill>
                <a:latin typeface="Calibri"/>
                <a:ea typeface="Calibri"/>
                <a:cs typeface="Calibri"/>
                <a:sym typeface="Calibri"/>
              </a:rPr>
              <a:t>— </a:t>
            </a:r>
            <a:r>
              <a:rPr lang="en" sz="900">
                <a:solidFill>
                  <a:srgbClr val="1A1A1A"/>
                </a:solidFill>
                <a:latin typeface="Calibri"/>
                <a:ea typeface="Calibri"/>
                <a:cs typeface="Calibri"/>
                <a:sym typeface="Calibri"/>
              </a:rPr>
              <a:t>One customer = one row. A customer with 200 purchases still contributes a single row, described by three numbers.</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lang="en" sz="900">
                <a:solidFill>
                  <a:srgbClr val="1A1A1A"/>
                </a:solidFill>
                <a:latin typeface="Calibri"/>
                <a:ea typeface="Calibri"/>
                <a:cs typeface="Calibri"/>
                <a:sym typeface="Calibri"/>
              </a:rPr>
              <a:t>These three features are the entire input to every model that follows.</a:t>
            </a:r>
            <a:endParaRPr sz="1100"/>
          </a:p>
        </p:txBody>
      </p:sp>
      <p:cxnSp>
        <p:nvCxnSpPr>
          <p:cNvPr id="340" name="Google Shape;340;p31"/>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341" name="Google Shape;341;p31"/>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342" name="Google Shape;342;p31"/>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08 / 28</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2"/>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49" name="Google Shape;349;p32"/>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02  </a:t>
            </a:r>
            <a:r>
              <a:rPr lang="en" sz="800">
                <a:solidFill>
                  <a:srgbClr val="6B6B6B"/>
                </a:solidFill>
                <a:latin typeface="Consolas"/>
                <a:ea typeface="Consolas"/>
                <a:cs typeface="Consolas"/>
                <a:sym typeface="Consolas"/>
              </a:rPr>
              <a:t>SCALING   ·   LOG1P, THEN STANDARDSCALER</a:t>
            </a:r>
            <a:endParaRPr sz="1100"/>
          </a:p>
        </p:txBody>
      </p:sp>
      <p:sp>
        <p:nvSpPr>
          <p:cNvPr id="350" name="Google Shape;350;p32"/>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Taming the skew</a:t>
            </a:r>
            <a:endParaRPr sz="1100"/>
          </a:p>
        </p:txBody>
      </p:sp>
      <p:cxnSp>
        <p:nvCxnSpPr>
          <p:cNvPr id="351" name="Google Shape;351;p32"/>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pic>
        <p:nvPicPr>
          <p:cNvPr descr="skew.png" id="352" name="Google Shape;352;p32"/>
          <p:cNvPicPr preferRelativeResize="0"/>
          <p:nvPr/>
        </p:nvPicPr>
        <p:blipFill rotWithShape="1">
          <a:blip r:embed="rId3">
            <a:alphaModFix/>
          </a:blip>
          <a:srcRect b="0" l="0" r="0" t="0"/>
          <a:stretch/>
        </p:blipFill>
        <p:spPr>
          <a:xfrm>
            <a:off x="582946" y="1474470"/>
            <a:ext cx="4457700" cy="1634490"/>
          </a:xfrm>
          <a:prstGeom prst="rect">
            <a:avLst/>
          </a:prstGeom>
          <a:noFill/>
          <a:ln>
            <a:noFill/>
          </a:ln>
        </p:spPr>
      </p:pic>
      <p:sp>
        <p:nvSpPr>
          <p:cNvPr id="353" name="Google Shape;353;p32"/>
          <p:cNvSpPr txBox="1"/>
          <p:nvPr/>
        </p:nvSpPr>
        <p:spPr>
          <a:xfrm>
            <a:off x="5349383" y="1508760"/>
            <a:ext cx="3189055"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The problem. </a:t>
            </a:r>
            <a:r>
              <a:rPr lang="en" sz="900">
                <a:solidFill>
                  <a:srgbClr val="1A1A1A"/>
                </a:solidFill>
                <a:latin typeface="Calibri"/>
                <a:ea typeface="Calibri"/>
                <a:cs typeface="Calibri"/>
                <a:sym typeface="Calibri"/>
              </a:rPr>
              <a:t>Monetary value is extremely right-skewed (skewness = 19.3); the largest customer spent £280,206 against a median of £674.</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Why it breaks K-Means. </a:t>
            </a:r>
            <a:r>
              <a:rPr lang="en" sz="900">
                <a:solidFill>
                  <a:srgbClr val="1A1A1A"/>
                </a:solidFill>
                <a:latin typeface="Calibri"/>
                <a:ea typeface="Calibri"/>
                <a:cs typeface="Calibri"/>
                <a:sym typeface="Calibri"/>
              </a:rPr>
              <a:t>K-Means minimises Euclidean distance, so a handful of extreme spenders pull centroids toward themselves and consume clusters that should describe the majority.</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The fix. </a:t>
            </a:r>
            <a:r>
              <a:rPr lang="en" sz="900">
                <a:solidFill>
                  <a:srgbClr val="1A1A1A"/>
                </a:solidFill>
                <a:latin typeface="Calibri"/>
                <a:ea typeface="Calibri"/>
                <a:cs typeface="Calibri"/>
                <a:sym typeface="Calibri"/>
              </a:rPr>
              <a:t>log1p compresses the tail without discarding anyone — skewness drops from 19.3 to 0.36. StandardScaler then puts all three features on a common scale.</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Our convention. </a:t>
            </a:r>
            <a:r>
              <a:rPr lang="en" sz="900">
                <a:solidFill>
                  <a:srgbClr val="1A1A1A"/>
                </a:solidFill>
                <a:latin typeface="Calibri"/>
                <a:ea typeface="Calibri"/>
                <a:cs typeface="Calibri"/>
                <a:sym typeface="Calibri"/>
              </a:rPr>
              <a:t>Model on the scaled values; report and interpret in the original pounds and days. Scaled numbers mean nothing to a marketing manager.</a:t>
            </a:r>
            <a:endParaRPr sz="1100"/>
          </a:p>
        </p:txBody>
      </p:sp>
      <p:sp>
        <p:nvSpPr>
          <p:cNvPr id="354" name="Google Shape;354;p32"/>
          <p:cNvSpPr/>
          <p:nvPr/>
        </p:nvSpPr>
        <p:spPr>
          <a:xfrm>
            <a:off x="582946" y="4080510"/>
            <a:ext cx="4457819" cy="58293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55" name="Google Shape;355;p32"/>
          <p:cNvSpPr txBox="1"/>
          <p:nvPr/>
        </p:nvSpPr>
        <p:spPr>
          <a:xfrm>
            <a:off x="754400" y="4197096"/>
            <a:ext cx="4114910" cy="3771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Left: raw Monetary on a log-scaled count axis — nearly every customer is crushed into the first bin. Right: after log1p, the distribution is workable.</a:t>
            </a:r>
            <a:endParaRPr sz="1100"/>
          </a:p>
        </p:txBody>
      </p:sp>
      <p:cxnSp>
        <p:nvCxnSpPr>
          <p:cNvPr id="356" name="Google Shape;356;p32"/>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357" name="Google Shape;357;p32"/>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358" name="Google Shape;358;p32"/>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09 / 28</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3"/>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65" name="Google Shape;365;p33"/>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02  </a:t>
            </a:r>
            <a:r>
              <a:rPr lang="en" sz="800">
                <a:solidFill>
                  <a:srgbClr val="6B6B6B"/>
                </a:solidFill>
                <a:latin typeface="Consolas"/>
                <a:ea typeface="Consolas"/>
                <a:cs typeface="Consolas"/>
                <a:sym typeface="Consolas"/>
              </a:rPr>
              <a:t>MODEL SELECTION   ·   ELBOW, SILHOUETTE, AND A JUDGEMENT CALL</a:t>
            </a:r>
            <a:endParaRPr sz="1100"/>
          </a:p>
        </p:txBody>
      </p:sp>
      <p:sp>
        <p:nvSpPr>
          <p:cNvPr id="366" name="Google Shape;366;p33"/>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Why K = 4</a:t>
            </a:r>
            <a:endParaRPr sz="1100"/>
          </a:p>
        </p:txBody>
      </p:sp>
      <p:cxnSp>
        <p:nvCxnSpPr>
          <p:cNvPr id="367" name="Google Shape;367;p33"/>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pic>
        <p:nvPicPr>
          <p:cNvPr descr="elbow.png" id="368" name="Google Shape;368;p33"/>
          <p:cNvPicPr preferRelativeResize="0"/>
          <p:nvPr/>
        </p:nvPicPr>
        <p:blipFill rotWithShape="1">
          <a:blip r:embed="rId3">
            <a:alphaModFix/>
          </a:blip>
          <a:srcRect b="0" l="0" r="0" t="0"/>
          <a:stretch/>
        </p:blipFill>
        <p:spPr>
          <a:xfrm>
            <a:off x="582946" y="1385316"/>
            <a:ext cx="3703320" cy="1706999"/>
          </a:xfrm>
          <a:prstGeom prst="rect">
            <a:avLst/>
          </a:prstGeom>
          <a:noFill/>
          <a:ln>
            <a:noFill/>
          </a:ln>
        </p:spPr>
      </p:pic>
      <p:pic>
        <p:nvPicPr>
          <p:cNvPr descr="silhouette.png" id="369" name="Google Shape;369;p33"/>
          <p:cNvPicPr preferRelativeResize="0"/>
          <p:nvPr/>
        </p:nvPicPr>
        <p:blipFill rotWithShape="1">
          <a:blip r:embed="rId4">
            <a:alphaModFix/>
          </a:blip>
          <a:srcRect b="0" l="0" r="0" t="0"/>
          <a:stretch/>
        </p:blipFill>
        <p:spPr>
          <a:xfrm>
            <a:off x="4526401" y="1385316"/>
            <a:ext cx="3703320" cy="1706999"/>
          </a:xfrm>
          <a:prstGeom prst="rect">
            <a:avLst/>
          </a:prstGeom>
          <a:noFill/>
          <a:ln>
            <a:noFill/>
          </a:ln>
        </p:spPr>
      </p:pic>
      <p:sp>
        <p:nvSpPr>
          <p:cNvPr id="370" name="Google Shape;370;p33"/>
          <p:cNvSpPr/>
          <p:nvPr/>
        </p:nvSpPr>
        <p:spPr>
          <a:xfrm>
            <a:off x="582946" y="3195828"/>
            <a:ext cx="7978124" cy="144018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371" name="Google Shape;371;p33"/>
          <p:cNvCxnSpPr/>
          <p:nvPr/>
        </p:nvCxnSpPr>
        <p:spPr>
          <a:xfrm>
            <a:off x="582946" y="3195828"/>
            <a:ext cx="7978124"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372" name="Google Shape;372;p33"/>
          <p:cNvSpPr txBox="1"/>
          <p:nvPr/>
        </p:nvSpPr>
        <p:spPr>
          <a:xfrm>
            <a:off x="788691" y="3346704"/>
            <a:ext cx="2057455"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B45309"/>
                </a:solidFill>
                <a:latin typeface="Consolas"/>
                <a:ea typeface="Consolas"/>
                <a:cs typeface="Consolas"/>
                <a:sym typeface="Consolas"/>
              </a:rPr>
              <a:t>THE HONEST ANSWER</a:t>
            </a:r>
            <a:endParaRPr sz="1100"/>
          </a:p>
        </p:txBody>
      </p:sp>
      <p:sp>
        <p:nvSpPr>
          <p:cNvPr id="373" name="Google Shape;373;p33"/>
          <p:cNvSpPr txBox="1"/>
          <p:nvPr/>
        </p:nvSpPr>
        <p:spPr>
          <a:xfrm>
            <a:off x="788691" y="3593592"/>
            <a:ext cx="3600546" cy="27432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 sz="900">
                <a:solidFill>
                  <a:srgbClr val="B45309"/>
                </a:solidFill>
                <a:latin typeface="Calibri"/>
                <a:ea typeface="Calibri"/>
                <a:cs typeface="Calibri"/>
                <a:sym typeface="Calibri"/>
              </a:rPr>
              <a:t>— </a:t>
            </a:r>
            <a:r>
              <a:rPr lang="en" sz="900">
                <a:solidFill>
                  <a:srgbClr val="1A1A1A"/>
                </a:solidFill>
                <a:latin typeface="Calibri"/>
                <a:ea typeface="Calibri"/>
                <a:cs typeface="Calibri"/>
                <a:sym typeface="Calibri"/>
              </a:rPr>
              <a:t>Silhouette actually peaks at K = 2 (0.432), not at K = 4 (0.337).</a:t>
            </a:r>
            <a:endParaRPr sz="1100"/>
          </a:p>
          <a:p>
            <a:pPr indent="0" lvl="0" marL="0" marR="0" rtl="0" algn="l">
              <a:lnSpc>
                <a:spcPct val="124000"/>
              </a:lnSpc>
              <a:spcBef>
                <a:spcPts val="400"/>
              </a:spcBef>
              <a:spcAft>
                <a:spcPts val="0"/>
              </a:spcAft>
              <a:buNone/>
            </a:pPr>
            <a:r>
              <a:rPr b="1" lang="en" sz="900">
                <a:solidFill>
                  <a:srgbClr val="B45309"/>
                </a:solidFill>
                <a:latin typeface="Calibri"/>
                <a:ea typeface="Calibri"/>
                <a:cs typeface="Calibri"/>
                <a:sym typeface="Calibri"/>
              </a:rPr>
              <a:t>— </a:t>
            </a:r>
            <a:r>
              <a:rPr lang="en" sz="900">
                <a:solidFill>
                  <a:srgbClr val="1A1A1A"/>
                </a:solidFill>
                <a:latin typeface="Calibri"/>
                <a:ea typeface="Calibri"/>
                <a:cs typeface="Calibri"/>
                <a:sym typeface="Calibri"/>
              </a:rPr>
              <a:t>It rewards few, well-separated blobs — but RFM behaviour is a continuum, so it will nearly always favour the smallest K.</a:t>
            </a:r>
            <a:endParaRPr sz="1100"/>
          </a:p>
        </p:txBody>
      </p:sp>
      <p:sp>
        <p:nvSpPr>
          <p:cNvPr id="374" name="Google Shape;374;p33"/>
          <p:cNvSpPr txBox="1"/>
          <p:nvPr/>
        </p:nvSpPr>
        <p:spPr>
          <a:xfrm>
            <a:off x="4766437" y="3593592"/>
            <a:ext cx="3600546" cy="27432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 sz="900">
                <a:solidFill>
                  <a:srgbClr val="B45309"/>
                </a:solidFill>
                <a:latin typeface="Calibri"/>
                <a:ea typeface="Calibri"/>
                <a:cs typeface="Calibri"/>
                <a:sym typeface="Calibri"/>
              </a:rPr>
              <a:t>— </a:t>
            </a:r>
            <a:r>
              <a:rPr lang="en" sz="900">
                <a:solidFill>
                  <a:srgbClr val="1A1A1A"/>
                </a:solidFill>
                <a:latin typeface="Calibri"/>
                <a:ea typeface="Calibri"/>
                <a:cs typeface="Calibri"/>
                <a:sym typeface="Calibri"/>
              </a:rPr>
              <a:t>K = 2 only separates 'active' from 'inactive' — not something marketing can act on differently.</a:t>
            </a:r>
            <a:endParaRPr sz="1100"/>
          </a:p>
          <a:p>
            <a:pPr indent="0" lvl="0" marL="0" marR="0" rtl="0" algn="l">
              <a:lnSpc>
                <a:spcPct val="124000"/>
              </a:lnSpc>
              <a:spcBef>
                <a:spcPts val="400"/>
              </a:spcBef>
              <a:spcAft>
                <a:spcPts val="0"/>
              </a:spcAft>
              <a:buNone/>
            </a:pPr>
            <a:r>
              <a:rPr b="1" lang="en" sz="900">
                <a:solidFill>
                  <a:srgbClr val="B45309"/>
                </a:solidFill>
                <a:latin typeface="Calibri"/>
                <a:ea typeface="Calibri"/>
                <a:cs typeface="Calibri"/>
                <a:sym typeface="Calibri"/>
              </a:rPr>
              <a:t>— </a:t>
            </a:r>
            <a:r>
              <a:rPr lang="en" sz="900">
                <a:solidFill>
                  <a:srgbClr val="1A1A1A"/>
                </a:solidFill>
                <a:latin typeface="Calibri"/>
                <a:ea typeface="Calibri"/>
                <a:cs typeface="Calibri"/>
                <a:sym typeface="Calibri"/>
              </a:rPr>
              <a:t>K = 4 keeps a reasonable score and recovers the four standard RFM segments. Chosen for actionability, sanity-checked statistically.</a:t>
            </a:r>
            <a:endParaRPr sz="1100"/>
          </a:p>
        </p:txBody>
      </p:sp>
      <p:cxnSp>
        <p:nvCxnSpPr>
          <p:cNvPr id="375" name="Google Shape;375;p33"/>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376" name="Google Shape;376;p33"/>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377" name="Google Shape;377;p33"/>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10 / 28</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4"/>
          <p:cNvSpPr/>
          <p:nvPr/>
        </p:nvSpPr>
        <p:spPr>
          <a:xfrm>
            <a:off x="0" y="0"/>
            <a:ext cx="9144015" cy="514350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84" name="Google Shape;384;p34"/>
          <p:cNvSpPr/>
          <p:nvPr/>
        </p:nvSpPr>
        <p:spPr>
          <a:xfrm>
            <a:off x="0" y="0"/>
            <a:ext cx="75440" cy="5143500"/>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85" name="Google Shape;385;p34"/>
          <p:cNvSpPr txBox="1"/>
          <p:nvPr/>
        </p:nvSpPr>
        <p:spPr>
          <a:xfrm>
            <a:off x="582946" y="1988820"/>
            <a:ext cx="13716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a:solidFill>
                  <a:srgbClr val="B45309"/>
                </a:solidFill>
                <a:latin typeface="Consolas"/>
                <a:ea typeface="Consolas"/>
                <a:cs typeface="Consolas"/>
                <a:sym typeface="Consolas"/>
              </a:rPr>
              <a:t>03</a:t>
            </a:r>
            <a:endParaRPr sz="1100"/>
          </a:p>
        </p:txBody>
      </p:sp>
      <p:sp>
        <p:nvSpPr>
          <p:cNvPr id="386" name="Google Shape;386;p34"/>
          <p:cNvSpPr txBox="1"/>
          <p:nvPr/>
        </p:nvSpPr>
        <p:spPr>
          <a:xfrm>
            <a:off x="582946" y="2297430"/>
            <a:ext cx="6515274" cy="96012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0" i="0" lang="en" sz="3200">
                <a:solidFill>
                  <a:srgbClr val="FAF8F4"/>
                </a:solidFill>
                <a:latin typeface="Georgia"/>
                <a:ea typeface="Georgia"/>
                <a:cs typeface="Georgia"/>
                <a:sym typeface="Georgia"/>
              </a:rPr>
              <a:t>Four clusters, and what each one is worth</a:t>
            </a:r>
            <a:endParaRPr sz="1100"/>
          </a:p>
        </p:txBody>
      </p:sp>
      <p:cxnSp>
        <p:nvCxnSpPr>
          <p:cNvPr id="387" name="Google Shape;387;p34"/>
          <p:cNvCxnSpPr/>
          <p:nvPr/>
        </p:nvCxnSpPr>
        <p:spPr>
          <a:xfrm>
            <a:off x="582946" y="3463290"/>
            <a:ext cx="1645964"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388" name="Google Shape;388;p34"/>
          <p:cNvSpPr txBox="1"/>
          <p:nvPr/>
        </p:nvSpPr>
        <p:spPr>
          <a:xfrm>
            <a:off x="582946" y="3669030"/>
            <a:ext cx="5486546"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1000">
                <a:solidFill>
                  <a:srgbClr val="9A9488"/>
                </a:solidFill>
                <a:latin typeface="Consolas"/>
                <a:ea typeface="Consolas"/>
                <a:cs typeface="Consolas"/>
                <a:sym typeface="Consolas"/>
              </a:rPr>
              <a:t>K-Means on scaled RFM · 4,339 customers assigned · interpreted in original units</a:t>
            </a:r>
            <a:endParaRPr sz="1100"/>
          </a:p>
        </p:txBody>
      </p:sp>
      <p:cxnSp>
        <p:nvCxnSpPr>
          <p:cNvPr id="389" name="Google Shape;389;p34"/>
          <p:cNvCxnSpPr/>
          <p:nvPr/>
        </p:nvCxnSpPr>
        <p:spPr>
          <a:xfrm>
            <a:off x="582946" y="4718304"/>
            <a:ext cx="7978124" cy="0"/>
          </a:xfrm>
          <a:prstGeom prst="straightConnector1">
            <a:avLst/>
          </a:prstGeom>
          <a:noFill/>
          <a:ln cap="flat" cmpd="sng" w="9525">
            <a:solidFill>
              <a:srgbClr val="3A3834"/>
            </a:solidFill>
            <a:prstDash val="solid"/>
            <a:round/>
            <a:headEnd len="sm" w="sm" type="none"/>
            <a:tailEnd len="sm" w="sm" type="none"/>
          </a:ln>
          <a:effectLst>
            <a:outerShdw blurRad="40000" rotWithShape="0" dir="5400000" dist="20000">
              <a:srgbClr val="000000">
                <a:alpha val="38039"/>
              </a:srgbClr>
            </a:outerShdw>
          </a:effectLst>
        </p:spPr>
      </p:cxnSp>
      <p:sp>
        <p:nvSpPr>
          <p:cNvPr id="390" name="Google Shape;390;p34"/>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8A847A"/>
                </a:solidFill>
                <a:latin typeface="Consolas"/>
                <a:ea typeface="Consolas"/>
                <a:cs typeface="Consolas"/>
                <a:sym typeface="Consolas"/>
              </a:rPr>
              <a:t>CUSTOMER SEGMENTATION FOR TARGETED E-COMMERCE MARKETING</a:t>
            </a:r>
            <a:endParaRPr sz="1100"/>
          </a:p>
        </p:txBody>
      </p:sp>
      <p:sp>
        <p:nvSpPr>
          <p:cNvPr id="391" name="Google Shape;391;p34"/>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8A847A"/>
                </a:solidFill>
                <a:latin typeface="Consolas"/>
                <a:ea typeface="Consolas"/>
                <a:cs typeface="Consolas"/>
                <a:sym typeface="Consolas"/>
              </a:rPr>
              <a:t>11 / 28</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5"/>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98" name="Google Shape;398;p35"/>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03  </a:t>
            </a:r>
            <a:r>
              <a:rPr lang="en" sz="800">
                <a:solidFill>
                  <a:srgbClr val="6B6B6B"/>
                </a:solidFill>
                <a:latin typeface="Consolas"/>
                <a:ea typeface="Consolas"/>
                <a:cs typeface="Consolas"/>
                <a:sym typeface="Consolas"/>
              </a:rPr>
              <a:t>SEGMENTATION RESULTS   ·   MEAN VALUES IN ORIGINAL UNITS</a:t>
            </a:r>
            <a:endParaRPr sz="1100"/>
          </a:p>
        </p:txBody>
      </p:sp>
      <p:sp>
        <p:nvSpPr>
          <p:cNvPr id="399" name="Google Shape;399;p35"/>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The four segments</a:t>
            </a:r>
            <a:endParaRPr sz="1100"/>
          </a:p>
        </p:txBody>
      </p:sp>
      <p:cxnSp>
        <p:nvCxnSpPr>
          <p:cNvPr id="400" name="Google Shape;400;p35"/>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01" name="Google Shape;401;p35"/>
          <p:cNvSpPr txBox="1"/>
          <p:nvPr/>
        </p:nvSpPr>
        <p:spPr>
          <a:xfrm>
            <a:off x="651527" y="1611630"/>
            <a:ext cx="1937148"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SEGMENT</a:t>
            </a:r>
            <a:endParaRPr sz="1100"/>
          </a:p>
        </p:txBody>
      </p:sp>
      <p:sp>
        <p:nvSpPr>
          <p:cNvPr id="402" name="Google Shape;402;p35"/>
          <p:cNvSpPr txBox="1"/>
          <p:nvPr/>
        </p:nvSpPr>
        <p:spPr>
          <a:xfrm>
            <a:off x="2725839" y="1611630"/>
            <a:ext cx="660648" cy="20574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700">
                <a:solidFill>
                  <a:srgbClr val="6B6B6B"/>
                </a:solidFill>
                <a:latin typeface="Consolas"/>
                <a:ea typeface="Consolas"/>
                <a:cs typeface="Consolas"/>
                <a:sym typeface="Consolas"/>
              </a:rPr>
              <a:t>SIZE</a:t>
            </a:r>
            <a:endParaRPr sz="1100"/>
          </a:p>
        </p:txBody>
      </p:sp>
      <p:sp>
        <p:nvSpPr>
          <p:cNvPr id="403" name="Google Shape;403;p35"/>
          <p:cNvSpPr txBox="1"/>
          <p:nvPr/>
        </p:nvSpPr>
        <p:spPr>
          <a:xfrm>
            <a:off x="3523651" y="1611630"/>
            <a:ext cx="820211" cy="20574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700">
                <a:solidFill>
                  <a:srgbClr val="6B6B6B"/>
                </a:solidFill>
                <a:latin typeface="Consolas"/>
                <a:ea typeface="Consolas"/>
                <a:cs typeface="Consolas"/>
                <a:sym typeface="Consolas"/>
              </a:rPr>
              <a:t>% OF BASE</a:t>
            </a:r>
            <a:endParaRPr sz="1100"/>
          </a:p>
        </p:txBody>
      </p:sp>
      <p:sp>
        <p:nvSpPr>
          <p:cNvPr id="404" name="Google Shape;404;p35"/>
          <p:cNvSpPr txBox="1"/>
          <p:nvPr/>
        </p:nvSpPr>
        <p:spPr>
          <a:xfrm>
            <a:off x="4481025" y="1611630"/>
            <a:ext cx="899992" cy="20574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700">
                <a:solidFill>
                  <a:srgbClr val="6B6B6B"/>
                </a:solidFill>
                <a:latin typeface="Consolas"/>
                <a:ea typeface="Consolas"/>
                <a:cs typeface="Consolas"/>
                <a:sym typeface="Consolas"/>
              </a:rPr>
              <a:t>RECENCY</a:t>
            </a:r>
            <a:endParaRPr sz="1100"/>
          </a:p>
        </p:txBody>
      </p:sp>
      <p:sp>
        <p:nvSpPr>
          <p:cNvPr id="405" name="Google Shape;405;p35"/>
          <p:cNvSpPr txBox="1"/>
          <p:nvPr/>
        </p:nvSpPr>
        <p:spPr>
          <a:xfrm>
            <a:off x="5518181" y="1611630"/>
            <a:ext cx="979774" cy="20574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700">
                <a:solidFill>
                  <a:srgbClr val="6B6B6B"/>
                </a:solidFill>
                <a:latin typeface="Consolas"/>
                <a:ea typeface="Consolas"/>
                <a:cs typeface="Consolas"/>
                <a:sym typeface="Consolas"/>
              </a:rPr>
              <a:t>FREQUENCY</a:t>
            </a:r>
            <a:endParaRPr sz="1100"/>
          </a:p>
        </p:txBody>
      </p:sp>
      <p:sp>
        <p:nvSpPr>
          <p:cNvPr id="406" name="Google Shape;406;p35"/>
          <p:cNvSpPr txBox="1"/>
          <p:nvPr/>
        </p:nvSpPr>
        <p:spPr>
          <a:xfrm>
            <a:off x="6635118" y="1611630"/>
            <a:ext cx="899992" cy="20574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700">
                <a:solidFill>
                  <a:srgbClr val="6B6B6B"/>
                </a:solidFill>
                <a:latin typeface="Consolas"/>
                <a:ea typeface="Consolas"/>
                <a:cs typeface="Consolas"/>
                <a:sym typeface="Consolas"/>
              </a:rPr>
              <a:t>MONETARY</a:t>
            </a:r>
            <a:endParaRPr sz="1100"/>
          </a:p>
        </p:txBody>
      </p:sp>
      <p:sp>
        <p:nvSpPr>
          <p:cNvPr id="407" name="Google Shape;407;p35"/>
          <p:cNvSpPr txBox="1"/>
          <p:nvPr/>
        </p:nvSpPr>
        <p:spPr>
          <a:xfrm>
            <a:off x="7672273" y="1611630"/>
            <a:ext cx="820211" cy="20574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700">
                <a:solidFill>
                  <a:srgbClr val="6B6B6B"/>
                </a:solidFill>
                <a:latin typeface="Consolas"/>
                <a:ea typeface="Consolas"/>
                <a:cs typeface="Consolas"/>
                <a:sym typeface="Consolas"/>
              </a:rPr>
              <a:t>% OF REVENUE</a:t>
            </a:r>
            <a:endParaRPr sz="1100"/>
          </a:p>
        </p:txBody>
      </p:sp>
      <p:cxnSp>
        <p:nvCxnSpPr>
          <p:cNvPr id="408" name="Google Shape;408;p35"/>
          <p:cNvCxnSpPr/>
          <p:nvPr/>
        </p:nvCxnSpPr>
        <p:spPr>
          <a:xfrm>
            <a:off x="582946" y="1796796"/>
            <a:ext cx="7978124" cy="0"/>
          </a:xfrm>
          <a:prstGeom prst="straightConnector1">
            <a:avLst/>
          </a:prstGeom>
          <a:noFill/>
          <a:ln cap="flat" cmpd="sng" w="12700">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409" name="Google Shape;409;p35"/>
          <p:cNvSpPr/>
          <p:nvPr/>
        </p:nvSpPr>
        <p:spPr>
          <a:xfrm>
            <a:off x="582946" y="1831086"/>
            <a:ext cx="7978124" cy="35661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10" name="Google Shape;410;p35"/>
          <p:cNvSpPr/>
          <p:nvPr/>
        </p:nvSpPr>
        <p:spPr>
          <a:xfrm>
            <a:off x="582946" y="1831086"/>
            <a:ext cx="37720" cy="356616"/>
          </a:xfrm>
          <a:prstGeom prst="rect">
            <a:avLst/>
          </a:prstGeom>
          <a:solidFill>
            <a:srgbClr val="7C3AE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11" name="Google Shape;411;p35"/>
          <p:cNvSpPr txBox="1"/>
          <p:nvPr/>
        </p:nvSpPr>
        <p:spPr>
          <a:xfrm>
            <a:off x="678960" y="1909953"/>
            <a:ext cx="1882282" cy="35661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Champions</a:t>
            </a:r>
            <a:endParaRPr sz="1100"/>
          </a:p>
        </p:txBody>
      </p:sp>
      <p:sp>
        <p:nvSpPr>
          <p:cNvPr id="412" name="Google Shape;412;p35"/>
          <p:cNvSpPr txBox="1"/>
          <p:nvPr/>
        </p:nvSpPr>
        <p:spPr>
          <a:xfrm>
            <a:off x="2753272" y="1909953"/>
            <a:ext cx="605783"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715</a:t>
            </a:r>
            <a:endParaRPr sz="1100"/>
          </a:p>
        </p:txBody>
      </p:sp>
      <p:sp>
        <p:nvSpPr>
          <p:cNvPr id="413" name="Google Shape;413;p35"/>
          <p:cNvSpPr txBox="1"/>
          <p:nvPr/>
        </p:nvSpPr>
        <p:spPr>
          <a:xfrm>
            <a:off x="3551084" y="1909953"/>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16.5%</a:t>
            </a:r>
            <a:endParaRPr sz="1100"/>
          </a:p>
        </p:txBody>
      </p:sp>
      <p:sp>
        <p:nvSpPr>
          <p:cNvPr id="414" name="Google Shape;414;p35"/>
          <p:cNvSpPr txBox="1"/>
          <p:nvPr/>
        </p:nvSpPr>
        <p:spPr>
          <a:xfrm>
            <a:off x="4508458" y="1909953"/>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12 days</a:t>
            </a:r>
            <a:endParaRPr sz="1100"/>
          </a:p>
        </p:txBody>
      </p:sp>
      <p:sp>
        <p:nvSpPr>
          <p:cNvPr id="415" name="Google Shape;415;p35"/>
          <p:cNvSpPr txBox="1"/>
          <p:nvPr/>
        </p:nvSpPr>
        <p:spPr>
          <a:xfrm>
            <a:off x="5545613" y="1909953"/>
            <a:ext cx="924908"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13.7 orders</a:t>
            </a:r>
            <a:endParaRPr sz="1100"/>
          </a:p>
        </p:txBody>
      </p:sp>
      <p:sp>
        <p:nvSpPr>
          <p:cNvPr id="416" name="Google Shape;416;p35"/>
          <p:cNvSpPr txBox="1"/>
          <p:nvPr/>
        </p:nvSpPr>
        <p:spPr>
          <a:xfrm>
            <a:off x="6662551" y="1909953"/>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£8,083</a:t>
            </a:r>
            <a:endParaRPr sz="1100"/>
          </a:p>
        </p:txBody>
      </p:sp>
      <p:sp>
        <p:nvSpPr>
          <p:cNvPr id="417" name="Google Shape;417;p35"/>
          <p:cNvSpPr txBox="1"/>
          <p:nvPr/>
        </p:nvSpPr>
        <p:spPr>
          <a:xfrm>
            <a:off x="7699706" y="1909953"/>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64.9%</a:t>
            </a:r>
            <a:endParaRPr sz="1100"/>
          </a:p>
        </p:txBody>
      </p:sp>
      <p:cxnSp>
        <p:nvCxnSpPr>
          <p:cNvPr id="418" name="Google Shape;418;p35"/>
          <p:cNvCxnSpPr/>
          <p:nvPr/>
        </p:nvCxnSpPr>
        <p:spPr>
          <a:xfrm>
            <a:off x="582946" y="218770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19" name="Google Shape;419;p35"/>
          <p:cNvSpPr/>
          <p:nvPr/>
        </p:nvSpPr>
        <p:spPr>
          <a:xfrm>
            <a:off x="582946" y="2187702"/>
            <a:ext cx="37720" cy="356616"/>
          </a:xfrm>
          <a:prstGeom prst="rect">
            <a:avLst/>
          </a:prstGeom>
          <a:solidFill>
            <a:srgbClr val="0F766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20" name="Google Shape;420;p35"/>
          <p:cNvSpPr txBox="1"/>
          <p:nvPr/>
        </p:nvSpPr>
        <p:spPr>
          <a:xfrm>
            <a:off x="678960" y="2266569"/>
            <a:ext cx="1882282" cy="35661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At-Risk Mid-Value</a:t>
            </a:r>
            <a:endParaRPr sz="1100"/>
          </a:p>
        </p:txBody>
      </p:sp>
      <p:sp>
        <p:nvSpPr>
          <p:cNvPr id="421" name="Google Shape;421;p35"/>
          <p:cNvSpPr txBox="1"/>
          <p:nvPr/>
        </p:nvSpPr>
        <p:spPr>
          <a:xfrm>
            <a:off x="2753272" y="2266569"/>
            <a:ext cx="605783"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1,175</a:t>
            </a:r>
            <a:endParaRPr sz="1100"/>
          </a:p>
        </p:txBody>
      </p:sp>
      <p:sp>
        <p:nvSpPr>
          <p:cNvPr id="422" name="Google Shape;422;p35"/>
          <p:cNvSpPr txBox="1"/>
          <p:nvPr/>
        </p:nvSpPr>
        <p:spPr>
          <a:xfrm>
            <a:off x="3551084" y="2266569"/>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27.1%</a:t>
            </a:r>
            <a:endParaRPr sz="1100"/>
          </a:p>
        </p:txBody>
      </p:sp>
      <p:sp>
        <p:nvSpPr>
          <p:cNvPr id="423" name="Google Shape;423;p35"/>
          <p:cNvSpPr txBox="1"/>
          <p:nvPr/>
        </p:nvSpPr>
        <p:spPr>
          <a:xfrm>
            <a:off x="4508458" y="2266569"/>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71 days</a:t>
            </a:r>
            <a:endParaRPr sz="1100"/>
          </a:p>
        </p:txBody>
      </p:sp>
      <p:sp>
        <p:nvSpPr>
          <p:cNvPr id="424" name="Google Shape;424;p35"/>
          <p:cNvSpPr txBox="1"/>
          <p:nvPr/>
        </p:nvSpPr>
        <p:spPr>
          <a:xfrm>
            <a:off x="5545613" y="2266569"/>
            <a:ext cx="924908"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4.1 orders</a:t>
            </a:r>
            <a:endParaRPr sz="1100"/>
          </a:p>
        </p:txBody>
      </p:sp>
      <p:sp>
        <p:nvSpPr>
          <p:cNvPr id="425" name="Google Shape;425;p35"/>
          <p:cNvSpPr txBox="1"/>
          <p:nvPr/>
        </p:nvSpPr>
        <p:spPr>
          <a:xfrm>
            <a:off x="6662551" y="2266569"/>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£1,801</a:t>
            </a:r>
            <a:endParaRPr sz="1100"/>
          </a:p>
        </p:txBody>
      </p:sp>
      <p:sp>
        <p:nvSpPr>
          <p:cNvPr id="426" name="Google Shape;426;p35"/>
          <p:cNvSpPr txBox="1"/>
          <p:nvPr/>
        </p:nvSpPr>
        <p:spPr>
          <a:xfrm>
            <a:off x="7699706" y="2266569"/>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23.8%</a:t>
            </a:r>
            <a:endParaRPr sz="1100"/>
          </a:p>
        </p:txBody>
      </p:sp>
      <p:cxnSp>
        <p:nvCxnSpPr>
          <p:cNvPr id="427" name="Google Shape;427;p35"/>
          <p:cNvCxnSpPr/>
          <p:nvPr/>
        </p:nvCxnSpPr>
        <p:spPr>
          <a:xfrm>
            <a:off x="582946" y="254431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28" name="Google Shape;428;p35"/>
          <p:cNvSpPr/>
          <p:nvPr/>
        </p:nvSpPr>
        <p:spPr>
          <a:xfrm>
            <a:off x="582946" y="2544318"/>
            <a:ext cx="7978124" cy="35661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29" name="Google Shape;429;p35"/>
          <p:cNvSpPr/>
          <p:nvPr/>
        </p:nvSpPr>
        <p:spPr>
          <a:xfrm>
            <a:off x="582946" y="2544318"/>
            <a:ext cx="37720" cy="356616"/>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30" name="Google Shape;430;p35"/>
          <p:cNvSpPr txBox="1"/>
          <p:nvPr/>
        </p:nvSpPr>
        <p:spPr>
          <a:xfrm>
            <a:off x="678960" y="2623185"/>
            <a:ext cx="1882282" cy="35661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New / Occasional</a:t>
            </a:r>
            <a:endParaRPr sz="1100"/>
          </a:p>
        </p:txBody>
      </p:sp>
      <p:sp>
        <p:nvSpPr>
          <p:cNvPr id="431" name="Google Shape;431;p35"/>
          <p:cNvSpPr txBox="1"/>
          <p:nvPr/>
        </p:nvSpPr>
        <p:spPr>
          <a:xfrm>
            <a:off x="2753272" y="2623185"/>
            <a:ext cx="605783"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825</a:t>
            </a:r>
            <a:endParaRPr sz="1100"/>
          </a:p>
        </p:txBody>
      </p:sp>
      <p:sp>
        <p:nvSpPr>
          <p:cNvPr id="432" name="Google Shape;432;p35"/>
          <p:cNvSpPr txBox="1"/>
          <p:nvPr/>
        </p:nvSpPr>
        <p:spPr>
          <a:xfrm>
            <a:off x="3551084" y="2623185"/>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19.0%</a:t>
            </a:r>
            <a:endParaRPr sz="1100"/>
          </a:p>
        </p:txBody>
      </p:sp>
      <p:sp>
        <p:nvSpPr>
          <p:cNvPr id="433" name="Google Shape;433;p35"/>
          <p:cNvSpPr txBox="1"/>
          <p:nvPr/>
        </p:nvSpPr>
        <p:spPr>
          <a:xfrm>
            <a:off x="4508458" y="2623185"/>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18 days</a:t>
            </a:r>
            <a:endParaRPr sz="1100"/>
          </a:p>
        </p:txBody>
      </p:sp>
      <p:sp>
        <p:nvSpPr>
          <p:cNvPr id="434" name="Google Shape;434;p35"/>
          <p:cNvSpPr txBox="1"/>
          <p:nvPr/>
        </p:nvSpPr>
        <p:spPr>
          <a:xfrm>
            <a:off x="5545613" y="2623185"/>
            <a:ext cx="924908"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2.2 orders</a:t>
            </a:r>
            <a:endParaRPr sz="1100"/>
          </a:p>
        </p:txBody>
      </p:sp>
      <p:sp>
        <p:nvSpPr>
          <p:cNvPr id="435" name="Google Shape;435;p35"/>
          <p:cNvSpPr txBox="1"/>
          <p:nvPr/>
        </p:nvSpPr>
        <p:spPr>
          <a:xfrm>
            <a:off x="6662551" y="2623185"/>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£558</a:t>
            </a:r>
            <a:endParaRPr sz="1100"/>
          </a:p>
        </p:txBody>
      </p:sp>
      <p:sp>
        <p:nvSpPr>
          <p:cNvPr id="436" name="Google Shape;436;p35"/>
          <p:cNvSpPr txBox="1"/>
          <p:nvPr/>
        </p:nvSpPr>
        <p:spPr>
          <a:xfrm>
            <a:off x="7699706" y="2623185"/>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5.2%</a:t>
            </a:r>
            <a:endParaRPr sz="1100"/>
          </a:p>
        </p:txBody>
      </p:sp>
      <p:cxnSp>
        <p:nvCxnSpPr>
          <p:cNvPr id="437" name="Google Shape;437;p35"/>
          <p:cNvCxnSpPr/>
          <p:nvPr/>
        </p:nvCxnSpPr>
        <p:spPr>
          <a:xfrm>
            <a:off x="582946" y="290093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38" name="Google Shape;438;p35"/>
          <p:cNvSpPr/>
          <p:nvPr/>
        </p:nvSpPr>
        <p:spPr>
          <a:xfrm>
            <a:off x="582946" y="2900934"/>
            <a:ext cx="37720" cy="356616"/>
          </a:xfrm>
          <a:prstGeom prst="rect">
            <a:avLst/>
          </a:prstGeom>
          <a:solidFill>
            <a:srgbClr val="B91C1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39" name="Google Shape;439;p35"/>
          <p:cNvSpPr txBox="1"/>
          <p:nvPr/>
        </p:nvSpPr>
        <p:spPr>
          <a:xfrm>
            <a:off x="678960" y="2979801"/>
            <a:ext cx="1882282" cy="356616"/>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Hibernating</a:t>
            </a:r>
            <a:endParaRPr sz="1100"/>
          </a:p>
        </p:txBody>
      </p:sp>
      <p:sp>
        <p:nvSpPr>
          <p:cNvPr id="440" name="Google Shape;440;p35"/>
          <p:cNvSpPr txBox="1"/>
          <p:nvPr/>
        </p:nvSpPr>
        <p:spPr>
          <a:xfrm>
            <a:off x="2753272" y="2979801"/>
            <a:ext cx="605783"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1,624</a:t>
            </a:r>
            <a:endParaRPr sz="1100"/>
          </a:p>
        </p:txBody>
      </p:sp>
      <p:sp>
        <p:nvSpPr>
          <p:cNvPr id="441" name="Google Shape;441;p35"/>
          <p:cNvSpPr txBox="1"/>
          <p:nvPr/>
        </p:nvSpPr>
        <p:spPr>
          <a:xfrm>
            <a:off x="3551084" y="2979801"/>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37.4%</a:t>
            </a:r>
            <a:endParaRPr sz="1100"/>
          </a:p>
        </p:txBody>
      </p:sp>
      <p:sp>
        <p:nvSpPr>
          <p:cNvPr id="442" name="Google Shape;442;p35"/>
          <p:cNvSpPr txBox="1"/>
          <p:nvPr/>
        </p:nvSpPr>
        <p:spPr>
          <a:xfrm>
            <a:off x="4508458" y="2979801"/>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180 days</a:t>
            </a:r>
            <a:endParaRPr sz="1100"/>
          </a:p>
        </p:txBody>
      </p:sp>
      <p:sp>
        <p:nvSpPr>
          <p:cNvPr id="443" name="Google Shape;443;p35"/>
          <p:cNvSpPr txBox="1"/>
          <p:nvPr/>
        </p:nvSpPr>
        <p:spPr>
          <a:xfrm>
            <a:off x="5545613" y="2979801"/>
            <a:ext cx="924908"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1.3 orders</a:t>
            </a:r>
            <a:endParaRPr sz="1100"/>
          </a:p>
        </p:txBody>
      </p:sp>
      <p:sp>
        <p:nvSpPr>
          <p:cNvPr id="444" name="Google Shape;444;p35"/>
          <p:cNvSpPr txBox="1"/>
          <p:nvPr/>
        </p:nvSpPr>
        <p:spPr>
          <a:xfrm>
            <a:off x="6662551" y="2979801"/>
            <a:ext cx="845126"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£342</a:t>
            </a:r>
            <a:endParaRPr sz="1100"/>
          </a:p>
        </p:txBody>
      </p:sp>
      <p:sp>
        <p:nvSpPr>
          <p:cNvPr id="445" name="Google Shape;445;p35"/>
          <p:cNvSpPr txBox="1"/>
          <p:nvPr/>
        </p:nvSpPr>
        <p:spPr>
          <a:xfrm>
            <a:off x="7699706" y="2979801"/>
            <a:ext cx="765345" cy="356616"/>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900">
                <a:solidFill>
                  <a:srgbClr val="6B6B6B"/>
                </a:solidFill>
                <a:latin typeface="Calibri"/>
                <a:ea typeface="Calibri"/>
                <a:cs typeface="Calibri"/>
                <a:sym typeface="Calibri"/>
              </a:rPr>
              <a:t>6.2%</a:t>
            </a:r>
            <a:endParaRPr sz="1100"/>
          </a:p>
        </p:txBody>
      </p:sp>
      <p:cxnSp>
        <p:nvCxnSpPr>
          <p:cNvPr id="446" name="Google Shape;446;p35"/>
          <p:cNvCxnSpPr/>
          <p:nvPr/>
        </p:nvCxnSpPr>
        <p:spPr>
          <a:xfrm>
            <a:off x="582946" y="3257550"/>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47" name="Google Shape;447;p35"/>
          <p:cNvSpPr txBox="1"/>
          <p:nvPr/>
        </p:nvSpPr>
        <p:spPr>
          <a:xfrm>
            <a:off x="582946" y="3360420"/>
            <a:ext cx="1783128"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READ THE EXTREMES FIRST</a:t>
            </a:r>
            <a:endParaRPr sz="1100"/>
          </a:p>
        </p:txBody>
      </p:sp>
      <p:sp>
        <p:nvSpPr>
          <p:cNvPr id="448" name="Google Shape;448;p35"/>
          <p:cNvSpPr txBox="1"/>
          <p:nvPr/>
        </p:nvSpPr>
        <p:spPr>
          <a:xfrm>
            <a:off x="582946" y="3600450"/>
            <a:ext cx="3772001"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Champions (Cluster 2). </a:t>
            </a:r>
            <a:r>
              <a:rPr lang="en" sz="900">
                <a:solidFill>
                  <a:srgbClr val="1A1A1A"/>
                </a:solidFill>
                <a:latin typeface="Calibri"/>
                <a:ea typeface="Calibri"/>
                <a:cs typeface="Calibri"/>
                <a:sym typeface="Calibri"/>
              </a:rPr>
              <a:t>16% of customers, 65% of revenue. Bought 12 days ago, 14 orders each.</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Hibernating (Cluster 3). </a:t>
            </a:r>
            <a:r>
              <a:rPr lang="en" sz="900">
                <a:solidFill>
                  <a:srgbClr val="1A1A1A"/>
                </a:solidFill>
                <a:latin typeface="Calibri"/>
                <a:ea typeface="Calibri"/>
                <a:cs typeface="Calibri"/>
                <a:sym typeface="Calibri"/>
              </a:rPr>
              <a:t>The largest group at 37% of the base, but only 6% of revenue and unseen for 180 days.</a:t>
            </a:r>
            <a:endParaRPr sz="1100"/>
          </a:p>
        </p:txBody>
      </p:sp>
      <p:sp>
        <p:nvSpPr>
          <p:cNvPr id="449" name="Google Shape;449;p35"/>
          <p:cNvSpPr txBox="1"/>
          <p:nvPr/>
        </p:nvSpPr>
        <p:spPr>
          <a:xfrm>
            <a:off x="4697855" y="3600450"/>
            <a:ext cx="3840582"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At-Risk (Cluster 1). </a:t>
            </a:r>
            <a:r>
              <a:rPr lang="en" sz="900">
                <a:solidFill>
                  <a:srgbClr val="1A1A1A"/>
                </a:solidFill>
                <a:latin typeface="Calibri"/>
                <a:ea typeface="Calibri"/>
                <a:cs typeface="Calibri"/>
                <a:sym typeface="Calibri"/>
              </a:rPr>
              <a:t>The segment that matters most: £1,801 average spend but 71 days since the last order — real value, actively cooling.</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New / Occasional (Cluster 0). </a:t>
            </a:r>
            <a:r>
              <a:rPr lang="en" sz="900">
                <a:solidFill>
                  <a:srgbClr val="1A1A1A"/>
                </a:solidFill>
                <a:latin typeface="Calibri"/>
                <a:ea typeface="Calibri"/>
                <a:cs typeface="Calibri"/>
                <a:sym typeface="Calibri"/>
              </a:rPr>
              <a:t>Recent (18 days) but shallow — 2.2 orders. The growth opportunity.</a:t>
            </a:r>
            <a:endParaRPr sz="1100"/>
          </a:p>
        </p:txBody>
      </p:sp>
      <p:cxnSp>
        <p:nvCxnSpPr>
          <p:cNvPr id="450" name="Google Shape;450;p35"/>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51" name="Google Shape;451;p35"/>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452" name="Google Shape;452;p35"/>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12 / 28</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6"/>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59" name="Google Shape;459;p36"/>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03  </a:t>
            </a:r>
            <a:r>
              <a:rPr lang="en" sz="800">
                <a:solidFill>
                  <a:srgbClr val="6B6B6B"/>
                </a:solidFill>
                <a:latin typeface="Consolas"/>
                <a:ea typeface="Consolas"/>
                <a:cs typeface="Consolas"/>
                <a:sym typeface="Consolas"/>
              </a:rPr>
              <a:t>VISUALISATION   ·   PCA PROJECTION, FOR VIEWING ONLY</a:t>
            </a:r>
            <a:endParaRPr sz="1100"/>
          </a:p>
        </p:txBody>
      </p:sp>
      <p:sp>
        <p:nvSpPr>
          <p:cNvPr id="460" name="Google Shape;460;p36"/>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The segments in two dimensions</a:t>
            </a:r>
            <a:endParaRPr sz="1100"/>
          </a:p>
        </p:txBody>
      </p:sp>
      <p:cxnSp>
        <p:nvCxnSpPr>
          <p:cNvPr id="461" name="Google Shape;461;p36"/>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pic>
        <p:nvPicPr>
          <p:cNvPr descr="pca.png" id="462" name="Google Shape;462;p36"/>
          <p:cNvPicPr preferRelativeResize="0"/>
          <p:nvPr/>
        </p:nvPicPr>
        <p:blipFill rotWithShape="1">
          <a:blip r:embed="rId3">
            <a:alphaModFix/>
          </a:blip>
          <a:srcRect b="0" l="0" r="0" t="0"/>
          <a:stretch/>
        </p:blipFill>
        <p:spPr>
          <a:xfrm>
            <a:off x="582946" y="1453896"/>
            <a:ext cx="4766310" cy="3128742"/>
          </a:xfrm>
          <a:prstGeom prst="rect">
            <a:avLst/>
          </a:prstGeom>
          <a:noFill/>
          <a:ln>
            <a:noFill/>
          </a:ln>
        </p:spPr>
      </p:pic>
      <p:sp>
        <p:nvSpPr>
          <p:cNvPr id="463" name="Google Shape;463;p36"/>
          <p:cNvSpPr txBox="1"/>
          <p:nvPr/>
        </p:nvSpPr>
        <p:spPr>
          <a:xfrm>
            <a:off x="5555128" y="1508760"/>
            <a:ext cx="2983309"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Why PCA. </a:t>
            </a:r>
            <a:r>
              <a:rPr lang="en" sz="900">
                <a:solidFill>
                  <a:srgbClr val="1A1A1A"/>
                </a:solidFill>
                <a:latin typeface="Calibri"/>
                <a:ea typeface="Calibri"/>
                <a:cs typeface="Calibri"/>
                <a:sym typeface="Calibri"/>
              </a:rPr>
              <a:t>Scaled RFM is three-dimensional. PCA compresses it to two so the segmentation can be inspected visually.</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Faithful projection. </a:t>
            </a:r>
            <a:r>
              <a:rPr lang="en" sz="900">
                <a:solidFill>
                  <a:srgbClr val="1A1A1A"/>
                </a:solidFill>
                <a:latin typeface="Calibri"/>
                <a:ea typeface="Calibri"/>
                <a:cs typeface="Calibri"/>
                <a:sym typeface="Calibri"/>
              </a:rPr>
              <a:t>PC1 retains 75% of the variance and PC2 a further 19% — 94% in total, so little structure is lost in the picture.</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Visualisation only. </a:t>
            </a:r>
            <a:r>
              <a:rPr lang="en" sz="900">
                <a:solidFill>
                  <a:srgbClr val="1A1A1A"/>
                </a:solidFill>
                <a:latin typeface="Calibri"/>
                <a:ea typeface="Calibri"/>
                <a:cs typeface="Calibri"/>
                <a:sym typeface="Calibri"/>
              </a:rPr>
              <a:t>Clustering is performed in the full scaled RFM space. PCA is never fed back into the model.</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Overlap is expected. </a:t>
            </a:r>
            <a:r>
              <a:rPr lang="en" sz="900">
                <a:solidFill>
                  <a:srgbClr val="1A1A1A"/>
                </a:solidFill>
                <a:latin typeface="Calibri"/>
                <a:ea typeface="Calibri"/>
                <a:cs typeface="Calibri"/>
                <a:sym typeface="Calibri"/>
              </a:rPr>
              <a:t>Customer behaviour is a continuum, not four islands. Perfectly separated circles would suggest artificial data — the centroids, marked X, are clearly distinct.</a:t>
            </a:r>
            <a:endParaRPr sz="1100"/>
          </a:p>
        </p:txBody>
      </p:sp>
      <p:cxnSp>
        <p:nvCxnSpPr>
          <p:cNvPr id="464" name="Google Shape;464;p36"/>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65" name="Google Shape;465;p36"/>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466" name="Google Shape;466;p36"/>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13 / 28</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7"/>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73" name="Google Shape;473;p37"/>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03  </a:t>
            </a:r>
            <a:r>
              <a:rPr lang="en" sz="800">
                <a:solidFill>
                  <a:srgbClr val="6B6B6B"/>
                </a:solidFill>
                <a:latin typeface="Consolas"/>
                <a:ea typeface="Consolas"/>
                <a:cs typeface="Consolas"/>
                <a:sym typeface="Consolas"/>
              </a:rPr>
              <a:t>VALUE CONCENTRATION   ·   WHERE THE REVENUE ACTUALLY SITS</a:t>
            </a:r>
            <a:endParaRPr sz="1100"/>
          </a:p>
        </p:txBody>
      </p:sp>
      <p:sp>
        <p:nvSpPr>
          <p:cNvPr id="474" name="Google Shape;474;p37"/>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Headcount is not value</a:t>
            </a:r>
            <a:endParaRPr sz="1100"/>
          </a:p>
        </p:txBody>
      </p:sp>
      <p:cxnSp>
        <p:nvCxnSpPr>
          <p:cNvPr id="475" name="Google Shape;475;p37"/>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pic>
        <p:nvPicPr>
          <p:cNvPr descr="value.png" id="476" name="Google Shape;476;p37"/>
          <p:cNvPicPr preferRelativeResize="0"/>
          <p:nvPr/>
        </p:nvPicPr>
        <p:blipFill rotWithShape="1">
          <a:blip r:embed="rId3">
            <a:alphaModFix/>
          </a:blip>
          <a:srcRect b="0" l="0" r="0" t="0"/>
          <a:stretch/>
        </p:blipFill>
        <p:spPr>
          <a:xfrm>
            <a:off x="582946" y="1474470"/>
            <a:ext cx="4389120" cy="2394065"/>
          </a:xfrm>
          <a:prstGeom prst="rect">
            <a:avLst/>
          </a:prstGeom>
          <a:noFill/>
          <a:ln>
            <a:noFill/>
          </a:ln>
        </p:spPr>
      </p:pic>
      <p:sp>
        <p:nvSpPr>
          <p:cNvPr id="477" name="Google Shape;477;p37"/>
          <p:cNvSpPr txBox="1"/>
          <p:nvPr/>
        </p:nvSpPr>
        <p:spPr>
          <a:xfrm>
            <a:off x="5315092" y="1508760"/>
            <a:ext cx="32233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THE MISMATCH</a:t>
            </a:r>
            <a:endParaRPr sz="1100"/>
          </a:p>
        </p:txBody>
      </p:sp>
      <p:sp>
        <p:nvSpPr>
          <p:cNvPr id="478" name="Google Shape;478;p37"/>
          <p:cNvSpPr/>
          <p:nvPr/>
        </p:nvSpPr>
        <p:spPr>
          <a:xfrm>
            <a:off x="5315092" y="1783080"/>
            <a:ext cx="3223346" cy="78867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79" name="Google Shape;479;p37"/>
          <p:cNvSpPr/>
          <p:nvPr/>
        </p:nvSpPr>
        <p:spPr>
          <a:xfrm>
            <a:off x="5315092" y="1783080"/>
            <a:ext cx="37720" cy="788670"/>
          </a:xfrm>
          <a:prstGeom prst="rect">
            <a:avLst/>
          </a:prstGeom>
          <a:solidFill>
            <a:srgbClr val="7C3AE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80" name="Google Shape;480;p37"/>
          <p:cNvSpPr txBox="1"/>
          <p:nvPr/>
        </p:nvSpPr>
        <p:spPr>
          <a:xfrm>
            <a:off x="5486546" y="1892808"/>
            <a:ext cx="1028727"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300">
                <a:solidFill>
                  <a:srgbClr val="7C3AED"/>
                </a:solidFill>
                <a:latin typeface="Georgia"/>
                <a:ea typeface="Georgia"/>
                <a:cs typeface="Georgia"/>
                <a:sym typeface="Georgia"/>
              </a:rPr>
              <a:t>16%</a:t>
            </a:r>
            <a:endParaRPr sz="1100"/>
          </a:p>
        </p:txBody>
      </p:sp>
      <p:sp>
        <p:nvSpPr>
          <p:cNvPr id="481" name="Google Shape;481;p37"/>
          <p:cNvSpPr txBox="1"/>
          <p:nvPr/>
        </p:nvSpPr>
        <p:spPr>
          <a:xfrm>
            <a:off x="6549564" y="1961388"/>
            <a:ext cx="1851709" cy="342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1A1A1A"/>
                </a:solidFill>
                <a:latin typeface="Calibri"/>
                <a:ea typeface="Calibri"/>
                <a:cs typeface="Calibri"/>
                <a:sym typeface="Calibri"/>
              </a:rPr>
              <a:t>of customers → 65% of revenue</a:t>
            </a:r>
            <a:endParaRPr sz="1100"/>
          </a:p>
        </p:txBody>
      </p:sp>
      <p:sp>
        <p:nvSpPr>
          <p:cNvPr id="482" name="Google Shape;482;p37"/>
          <p:cNvSpPr txBox="1"/>
          <p:nvPr/>
        </p:nvSpPr>
        <p:spPr>
          <a:xfrm>
            <a:off x="5486546" y="2318004"/>
            <a:ext cx="28804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CLUSTER 2 · CHAMPIONS</a:t>
            </a:r>
            <a:endParaRPr sz="1100"/>
          </a:p>
        </p:txBody>
      </p:sp>
      <p:sp>
        <p:nvSpPr>
          <p:cNvPr id="483" name="Google Shape;483;p37"/>
          <p:cNvSpPr/>
          <p:nvPr/>
        </p:nvSpPr>
        <p:spPr>
          <a:xfrm>
            <a:off x="5315092" y="2708910"/>
            <a:ext cx="3223346" cy="78867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84" name="Google Shape;484;p37"/>
          <p:cNvSpPr/>
          <p:nvPr/>
        </p:nvSpPr>
        <p:spPr>
          <a:xfrm>
            <a:off x="5315092" y="2708910"/>
            <a:ext cx="37720" cy="788670"/>
          </a:xfrm>
          <a:prstGeom prst="rect">
            <a:avLst/>
          </a:prstGeom>
          <a:solidFill>
            <a:srgbClr val="B91C1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85" name="Google Shape;485;p37"/>
          <p:cNvSpPr txBox="1"/>
          <p:nvPr/>
        </p:nvSpPr>
        <p:spPr>
          <a:xfrm>
            <a:off x="5486546" y="2818638"/>
            <a:ext cx="1028727"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300">
                <a:solidFill>
                  <a:srgbClr val="B91C1C"/>
                </a:solidFill>
                <a:latin typeface="Georgia"/>
                <a:ea typeface="Georgia"/>
                <a:cs typeface="Georgia"/>
                <a:sym typeface="Georgia"/>
              </a:rPr>
              <a:t>37%</a:t>
            </a:r>
            <a:endParaRPr sz="1100"/>
          </a:p>
        </p:txBody>
      </p:sp>
      <p:sp>
        <p:nvSpPr>
          <p:cNvPr id="486" name="Google Shape;486;p37"/>
          <p:cNvSpPr txBox="1"/>
          <p:nvPr/>
        </p:nvSpPr>
        <p:spPr>
          <a:xfrm>
            <a:off x="6549564" y="2887218"/>
            <a:ext cx="1851709" cy="342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1A1A1A"/>
                </a:solidFill>
                <a:latin typeface="Calibri"/>
                <a:ea typeface="Calibri"/>
                <a:cs typeface="Calibri"/>
                <a:sym typeface="Calibri"/>
              </a:rPr>
              <a:t>of customers → 6% of revenue</a:t>
            </a:r>
            <a:endParaRPr sz="1100"/>
          </a:p>
        </p:txBody>
      </p:sp>
      <p:sp>
        <p:nvSpPr>
          <p:cNvPr id="487" name="Google Shape;487;p37"/>
          <p:cNvSpPr txBox="1"/>
          <p:nvPr/>
        </p:nvSpPr>
        <p:spPr>
          <a:xfrm>
            <a:off x="5486546" y="3243834"/>
            <a:ext cx="28804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CLUSTER 3 · HIBERNATING</a:t>
            </a:r>
            <a:endParaRPr sz="1100"/>
          </a:p>
        </p:txBody>
      </p:sp>
      <p:sp>
        <p:nvSpPr>
          <p:cNvPr id="488" name="Google Shape;488;p37"/>
          <p:cNvSpPr/>
          <p:nvPr/>
        </p:nvSpPr>
        <p:spPr>
          <a:xfrm>
            <a:off x="5315092" y="3669030"/>
            <a:ext cx="3223346" cy="92583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89" name="Google Shape;489;p37"/>
          <p:cNvSpPr txBox="1"/>
          <p:nvPr/>
        </p:nvSpPr>
        <p:spPr>
          <a:xfrm>
            <a:off x="5486546" y="3840480"/>
            <a:ext cx="2880437" cy="61722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0" i="1" lang="en" sz="1000">
                <a:solidFill>
                  <a:srgbClr val="FAF8F4"/>
                </a:solidFill>
                <a:latin typeface="Georgia"/>
                <a:ea typeface="Georgia"/>
                <a:cs typeface="Georgia"/>
                <a:sym typeface="Georgia"/>
              </a:rPr>
              <a:t>Under blanket marketing these two groups get the same message and the same budget. That is the waste, stated in one number.</a:t>
            </a:r>
            <a:endParaRPr sz="1100"/>
          </a:p>
        </p:txBody>
      </p:sp>
      <p:cxnSp>
        <p:nvCxnSpPr>
          <p:cNvPr id="490" name="Google Shape;490;p37"/>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491" name="Google Shape;491;p37"/>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492" name="Google Shape;492;p37"/>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14 / 28</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8"/>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99" name="Google Shape;499;p38"/>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03  </a:t>
            </a:r>
            <a:r>
              <a:rPr lang="en" sz="800">
                <a:solidFill>
                  <a:srgbClr val="6B6B6B"/>
                </a:solidFill>
                <a:latin typeface="Consolas"/>
                <a:ea typeface="Consolas"/>
                <a:cs typeface="Consolas"/>
                <a:sym typeface="Consolas"/>
              </a:rPr>
              <a:t>ACTIVATION   ·   WHAT MARKETING SHOULD ACTUALLY DO</a:t>
            </a:r>
            <a:endParaRPr sz="1100"/>
          </a:p>
        </p:txBody>
      </p:sp>
      <p:sp>
        <p:nvSpPr>
          <p:cNvPr id="500" name="Google Shape;500;p38"/>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From cluster to campaign</a:t>
            </a:r>
            <a:endParaRPr sz="1100"/>
          </a:p>
        </p:txBody>
      </p:sp>
      <p:cxnSp>
        <p:nvCxnSpPr>
          <p:cNvPr id="501" name="Google Shape;501;p38"/>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02" name="Google Shape;502;p38"/>
          <p:cNvSpPr/>
          <p:nvPr/>
        </p:nvSpPr>
        <p:spPr>
          <a:xfrm>
            <a:off x="582946" y="1474470"/>
            <a:ext cx="37720" cy="699516"/>
          </a:xfrm>
          <a:prstGeom prst="rect">
            <a:avLst/>
          </a:prstGeom>
          <a:solidFill>
            <a:srgbClr val="7C3AE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03" name="Google Shape;503;p38"/>
          <p:cNvSpPr txBox="1"/>
          <p:nvPr/>
        </p:nvSpPr>
        <p:spPr>
          <a:xfrm>
            <a:off x="754400" y="1460754"/>
            <a:ext cx="1988873"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300">
                <a:solidFill>
                  <a:srgbClr val="1A1A1A"/>
                </a:solidFill>
                <a:latin typeface="Georgia"/>
                <a:ea typeface="Georgia"/>
                <a:cs typeface="Georgia"/>
                <a:sym typeface="Georgia"/>
              </a:rPr>
              <a:t>Champions</a:t>
            </a:r>
            <a:endParaRPr sz="1100"/>
          </a:p>
        </p:txBody>
      </p:sp>
      <p:sp>
        <p:nvSpPr>
          <p:cNvPr id="504" name="Google Shape;504;p38"/>
          <p:cNvSpPr txBox="1"/>
          <p:nvPr/>
        </p:nvSpPr>
        <p:spPr>
          <a:xfrm>
            <a:off x="754400" y="1707642"/>
            <a:ext cx="2126037" cy="41148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Recent, frequent, high spend. The revenue engine.</a:t>
            </a:r>
            <a:endParaRPr sz="1100"/>
          </a:p>
        </p:txBody>
      </p:sp>
      <p:sp>
        <p:nvSpPr>
          <p:cNvPr id="505" name="Google Shape;505;p38"/>
          <p:cNvSpPr/>
          <p:nvPr/>
        </p:nvSpPr>
        <p:spPr>
          <a:xfrm>
            <a:off x="3086182" y="1474470"/>
            <a:ext cx="617236" cy="28803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06" name="Google Shape;506;p38"/>
          <p:cNvSpPr txBox="1"/>
          <p:nvPr/>
        </p:nvSpPr>
        <p:spPr>
          <a:xfrm>
            <a:off x="3086182" y="1549908"/>
            <a:ext cx="617236"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800">
                <a:solidFill>
                  <a:srgbClr val="7C3AED"/>
                </a:solidFill>
                <a:latin typeface="Consolas"/>
                <a:ea typeface="Consolas"/>
                <a:cs typeface="Consolas"/>
                <a:sym typeface="Consolas"/>
              </a:rPr>
              <a:t>C2</a:t>
            </a:r>
            <a:endParaRPr sz="1100"/>
          </a:p>
        </p:txBody>
      </p:sp>
      <p:sp>
        <p:nvSpPr>
          <p:cNvPr id="507" name="Google Shape;507;p38"/>
          <p:cNvSpPr txBox="1"/>
          <p:nvPr/>
        </p:nvSpPr>
        <p:spPr>
          <a:xfrm>
            <a:off x="3840582" y="1488186"/>
            <a:ext cx="4697855" cy="6172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00">
                <a:solidFill>
                  <a:srgbClr val="1A1A1A"/>
                </a:solidFill>
                <a:latin typeface="Calibri"/>
                <a:ea typeface="Calibri"/>
                <a:cs typeface="Calibri"/>
                <a:sym typeface="Calibri"/>
              </a:rPr>
              <a:t>Loyalty tier, early access, referral programme. Recognition — not discounts, which would only erode margin on revenue already secured.</a:t>
            </a:r>
            <a:endParaRPr sz="1100"/>
          </a:p>
        </p:txBody>
      </p:sp>
      <p:cxnSp>
        <p:nvCxnSpPr>
          <p:cNvPr id="508" name="Google Shape;508;p38"/>
          <p:cNvCxnSpPr/>
          <p:nvPr/>
        </p:nvCxnSpPr>
        <p:spPr>
          <a:xfrm>
            <a:off x="582946" y="216712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09" name="Google Shape;509;p38"/>
          <p:cNvSpPr/>
          <p:nvPr/>
        </p:nvSpPr>
        <p:spPr>
          <a:xfrm>
            <a:off x="582946" y="2263140"/>
            <a:ext cx="37720" cy="699516"/>
          </a:xfrm>
          <a:prstGeom prst="rect">
            <a:avLst/>
          </a:prstGeom>
          <a:solidFill>
            <a:srgbClr val="0F766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10" name="Google Shape;510;p38"/>
          <p:cNvSpPr txBox="1"/>
          <p:nvPr/>
        </p:nvSpPr>
        <p:spPr>
          <a:xfrm>
            <a:off x="754400" y="2249424"/>
            <a:ext cx="1988873"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300">
                <a:solidFill>
                  <a:srgbClr val="1A1A1A"/>
                </a:solidFill>
                <a:latin typeface="Georgia"/>
                <a:ea typeface="Georgia"/>
                <a:cs typeface="Georgia"/>
                <a:sym typeface="Georgia"/>
              </a:rPr>
              <a:t>At-Risk Mid-Value</a:t>
            </a:r>
            <a:endParaRPr sz="1100"/>
          </a:p>
        </p:txBody>
      </p:sp>
      <p:sp>
        <p:nvSpPr>
          <p:cNvPr id="511" name="Google Shape;511;p38"/>
          <p:cNvSpPr txBox="1"/>
          <p:nvPr/>
        </p:nvSpPr>
        <p:spPr>
          <a:xfrm>
            <a:off x="754400" y="2496312"/>
            <a:ext cx="2126037" cy="41148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Real spend (£1,801) but 71 days quiet. Cooling.</a:t>
            </a:r>
            <a:endParaRPr sz="1100"/>
          </a:p>
        </p:txBody>
      </p:sp>
      <p:sp>
        <p:nvSpPr>
          <p:cNvPr id="512" name="Google Shape;512;p38"/>
          <p:cNvSpPr/>
          <p:nvPr/>
        </p:nvSpPr>
        <p:spPr>
          <a:xfrm>
            <a:off x="3086182" y="2263140"/>
            <a:ext cx="617236" cy="28803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13" name="Google Shape;513;p38"/>
          <p:cNvSpPr txBox="1"/>
          <p:nvPr/>
        </p:nvSpPr>
        <p:spPr>
          <a:xfrm>
            <a:off x="3086182" y="2338578"/>
            <a:ext cx="617236"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800">
                <a:solidFill>
                  <a:srgbClr val="0F766E"/>
                </a:solidFill>
                <a:latin typeface="Consolas"/>
                <a:ea typeface="Consolas"/>
                <a:cs typeface="Consolas"/>
                <a:sym typeface="Consolas"/>
              </a:rPr>
              <a:t>C1</a:t>
            </a:r>
            <a:endParaRPr sz="1100"/>
          </a:p>
        </p:txBody>
      </p:sp>
      <p:sp>
        <p:nvSpPr>
          <p:cNvPr id="514" name="Google Shape;514;p38"/>
          <p:cNvSpPr txBox="1"/>
          <p:nvPr/>
        </p:nvSpPr>
        <p:spPr>
          <a:xfrm>
            <a:off x="3840582" y="2276856"/>
            <a:ext cx="4697855" cy="6172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00">
                <a:solidFill>
                  <a:srgbClr val="1A1A1A"/>
                </a:solidFill>
                <a:latin typeface="Calibri"/>
                <a:ea typeface="Calibri"/>
                <a:cs typeface="Calibri"/>
                <a:sym typeface="Calibri"/>
              </a:rPr>
              <a:t>The priority for intervention. Personalised win-back offer, reminder of previously viewed items, time-limited incentive. Highest return per pound spent.</a:t>
            </a:r>
            <a:endParaRPr sz="1100"/>
          </a:p>
        </p:txBody>
      </p:sp>
      <p:cxnSp>
        <p:nvCxnSpPr>
          <p:cNvPr id="515" name="Google Shape;515;p38"/>
          <p:cNvCxnSpPr/>
          <p:nvPr/>
        </p:nvCxnSpPr>
        <p:spPr>
          <a:xfrm>
            <a:off x="582946" y="295579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16" name="Google Shape;516;p38"/>
          <p:cNvSpPr/>
          <p:nvPr/>
        </p:nvSpPr>
        <p:spPr>
          <a:xfrm>
            <a:off x="582946" y="3051810"/>
            <a:ext cx="37720" cy="699516"/>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17" name="Google Shape;517;p38"/>
          <p:cNvSpPr txBox="1"/>
          <p:nvPr/>
        </p:nvSpPr>
        <p:spPr>
          <a:xfrm>
            <a:off x="754400" y="3038094"/>
            <a:ext cx="1988873"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300">
                <a:solidFill>
                  <a:srgbClr val="1A1A1A"/>
                </a:solidFill>
                <a:latin typeface="Georgia"/>
                <a:ea typeface="Georgia"/>
                <a:cs typeface="Georgia"/>
                <a:sym typeface="Georgia"/>
              </a:rPr>
              <a:t>New / Occasional</a:t>
            </a:r>
            <a:endParaRPr sz="1100"/>
          </a:p>
        </p:txBody>
      </p:sp>
      <p:sp>
        <p:nvSpPr>
          <p:cNvPr id="518" name="Google Shape;518;p38"/>
          <p:cNvSpPr txBox="1"/>
          <p:nvPr/>
        </p:nvSpPr>
        <p:spPr>
          <a:xfrm>
            <a:off x="754400" y="3284982"/>
            <a:ext cx="2126037" cy="41148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Recent but shallow — few orders, low spend.</a:t>
            </a:r>
            <a:endParaRPr sz="1100"/>
          </a:p>
        </p:txBody>
      </p:sp>
      <p:sp>
        <p:nvSpPr>
          <p:cNvPr id="519" name="Google Shape;519;p38"/>
          <p:cNvSpPr/>
          <p:nvPr/>
        </p:nvSpPr>
        <p:spPr>
          <a:xfrm>
            <a:off x="3086182" y="3051810"/>
            <a:ext cx="617236" cy="28803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20" name="Google Shape;520;p38"/>
          <p:cNvSpPr txBox="1"/>
          <p:nvPr/>
        </p:nvSpPr>
        <p:spPr>
          <a:xfrm>
            <a:off x="3086182" y="3127248"/>
            <a:ext cx="617236"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800">
                <a:solidFill>
                  <a:srgbClr val="B45309"/>
                </a:solidFill>
                <a:latin typeface="Consolas"/>
                <a:ea typeface="Consolas"/>
                <a:cs typeface="Consolas"/>
                <a:sym typeface="Consolas"/>
              </a:rPr>
              <a:t>C0</a:t>
            </a:r>
            <a:endParaRPr sz="1100"/>
          </a:p>
        </p:txBody>
      </p:sp>
      <p:sp>
        <p:nvSpPr>
          <p:cNvPr id="521" name="Google Shape;521;p38"/>
          <p:cNvSpPr txBox="1"/>
          <p:nvPr/>
        </p:nvSpPr>
        <p:spPr>
          <a:xfrm>
            <a:off x="3840582" y="3065526"/>
            <a:ext cx="4697855" cy="6172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00">
                <a:solidFill>
                  <a:srgbClr val="1A1A1A"/>
                </a:solidFill>
                <a:latin typeface="Calibri"/>
                <a:ea typeface="Calibri"/>
                <a:cs typeface="Calibri"/>
                <a:sym typeface="Calibri"/>
              </a:rPr>
              <a:t>Onboarding sequence and a second-purchase nudge. The objective is to convert them into Cluster 2 over time.</a:t>
            </a:r>
            <a:endParaRPr sz="1100"/>
          </a:p>
        </p:txBody>
      </p:sp>
      <p:cxnSp>
        <p:nvCxnSpPr>
          <p:cNvPr id="522" name="Google Shape;522;p38"/>
          <p:cNvCxnSpPr/>
          <p:nvPr/>
        </p:nvCxnSpPr>
        <p:spPr>
          <a:xfrm>
            <a:off x="582946" y="374446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23" name="Google Shape;523;p38"/>
          <p:cNvSpPr/>
          <p:nvPr/>
        </p:nvSpPr>
        <p:spPr>
          <a:xfrm>
            <a:off x="582946" y="3840480"/>
            <a:ext cx="37720" cy="699516"/>
          </a:xfrm>
          <a:prstGeom prst="rect">
            <a:avLst/>
          </a:prstGeom>
          <a:solidFill>
            <a:srgbClr val="B91C1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24" name="Google Shape;524;p38"/>
          <p:cNvSpPr txBox="1"/>
          <p:nvPr/>
        </p:nvSpPr>
        <p:spPr>
          <a:xfrm>
            <a:off x="754400" y="3826764"/>
            <a:ext cx="1988873"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300">
                <a:solidFill>
                  <a:srgbClr val="1A1A1A"/>
                </a:solidFill>
                <a:latin typeface="Georgia"/>
                <a:ea typeface="Georgia"/>
                <a:cs typeface="Georgia"/>
                <a:sym typeface="Georgia"/>
              </a:rPr>
              <a:t>Hibernating</a:t>
            </a:r>
            <a:endParaRPr sz="1100"/>
          </a:p>
        </p:txBody>
      </p:sp>
      <p:sp>
        <p:nvSpPr>
          <p:cNvPr id="525" name="Google Shape;525;p38"/>
          <p:cNvSpPr txBox="1"/>
          <p:nvPr/>
        </p:nvSpPr>
        <p:spPr>
          <a:xfrm>
            <a:off x="754400" y="4073652"/>
            <a:ext cx="2126037" cy="41148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Unseen for 180 days, low value.</a:t>
            </a:r>
            <a:endParaRPr sz="1100"/>
          </a:p>
        </p:txBody>
      </p:sp>
      <p:sp>
        <p:nvSpPr>
          <p:cNvPr id="526" name="Google Shape;526;p38"/>
          <p:cNvSpPr/>
          <p:nvPr/>
        </p:nvSpPr>
        <p:spPr>
          <a:xfrm>
            <a:off x="3086182" y="3840480"/>
            <a:ext cx="617236" cy="28803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27" name="Google Shape;527;p38"/>
          <p:cNvSpPr txBox="1"/>
          <p:nvPr/>
        </p:nvSpPr>
        <p:spPr>
          <a:xfrm>
            <a:off x="3086182" y="3915918"/>
            <a:ext cx="617236" cy="20574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1" i="0" lang="en" sz="800">
                <a:solidFill>
                  <a:srgbClr val="B91C1C"/>
                </a:solidFill>
                <a:latin typeface="Consolas"/>
                <a:ea typeface="Consolas"/>
                <a:cs typeface="Consolas"/>
                <a:sym typeface="Consolas"/>
              </a:rPr>
              <a:t>C3</a:t>
            </a:r>
            <a:endParaRPr sz="1100"/>
          </a:p>
        </p:txBody>
      </p:sp>
      <p:sp>
        <p:nvSpPr>
          <p:cNvPr id="528" name="Google Shape;528;p38"/>
          <p:cNvSpPr txBox="1"/>
          <p:nvPr/>
        </p:nvSpPr>
        <p:spPr>
          <a:xfrm>
            <a:off x="3840582" y="3854196"/>
            <a:ext cx="4697855" cy="6172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1000">
                <a:solidFill>
                  <a:srgbClr val="1A1A1A"/>
                </a:solidFill>
                <a:latin typeface="Calibri"/>
                <a:ea typeface="Calibri"/>
                <a:cs typeface="Calibri"/>
                <a:sym typeface="Calibri"/>
              </a:rPr>
              <a:t>One low-cost reactivation attempt, then move to cheap channels. Do not spend premium acquisition budget re-chasing this group.</a:t>
            </a:r>
            <a:endParaRPr sz="1100"/>
          </a:p>
        </p:txBody>
      </p:sp>
      <p:cxnSp>
        <p:nvCxnSpPr>
          <p:cNvPr id="529" name="Google Shape;529;p38"/>
          <p:cNvCxnSpPr/>
          <p:nvPr/>
        </p:nvCxnSpPr>
        <p:spPr>
          <a:xfrm>
            <a:off x="582946" y="453313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cxnSp>
        <p:nvCxnSpPr>
          <p:cNvPr id="530" name="Google Shape;530;p38"/>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31" name="Google Shape;531;p38"/>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532" name="Google Shape;532;p38"/>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15 / 28</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9"/>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39" name="Google Shape;539;p39"/>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03  </a:t>
            </a:r>
            <a:r>
              <a:rPr lang="en" sz="800">
                <a:solidFill>
                  <a:srgbClr val="6B6B6B"/>
                </a:solidFill>
                <a:latin typeface="Consolas"/>
                <a:ea typeface="Consolas"/>
                <a:cs typeface="Consolas"/>
                <a:sym typeface="Consolas"/>
              </a:rPr>
              <a:t>BUSINESS IMPACT   ·   A WORKED EXAMPLE AT £2 PER CONTACT</a:t>
            </a:r>
            <a:endParaRPr sz="1100"/>
          </a:p>
        </p:txBody>
      </p:sp>
      <p:sp>
        <p:nvSpPr>
          <p:cNvPr id="540" name="Google Shape;540;p39"/>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What this saves</a:t>
            </a:r>
            <a:endParaRPr sz="1100"/>
          </a:p>
        </p:txBody>
      </p:sp>
      <p:cxnSp>
        <p:nvCxnSpPr>
          <p:cNvPr id="541" name="Google Shape;541;p39"/>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42" name="Google Shape;542;p39"/>
          <p:cNvSpPr/>
          <p:nvPr/>
        </p:nvSpPr>
        <p:spPr>
          <a:xfrm>
            <a:off x="582946" y="1508760"/>
            <a:ext cx="1912232" cy="89154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543" name="Google Shape;543;p39"/>
          <p:cNvCxnSpPr/>
          <p:nvPr/>
        </p:nvCxnSpPr>
        <p:spPr>
          <a:xfrm>
            <a:off x="582946" y="150876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544" name="Google Shape;544;p39"/>
          <p:cNvSpPr txBox="1"/>
          <p:nvPr/>
        </p:nvSpPr>
        <p:spPr>
          <a:xfrm>
            <a:off x="733826" y="168706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£8,678</a:t>
            </a:r>
            <a:endParaRPr sz="1100"/>
          </a:p>
        </p:txBody>
      </p:sp>
      <p:sp>
        <p:nvSpPr>
          <p:cNvPr id="545" name="Google Shape;545;p39"/>
          <p:cNvSpPr txBox="1"/>
          <p:nvPr/>
        </p:nvSpPr>
        <p:spPr>
          <a:xfrm>
            <a:off x="733826" y="211226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BLANKET CAMPAIGN · 4,339 CONTACTS</a:t>
            </a:r>
            <a:endParaRPr sz="1100"/>
          </a:p>
        </p:txBody>
      </p:sp>
      <p:sp>
        <p:nvSpPr>
          <p:cNvPr id="546" name="Google Shape;546;p39"/>
          <p:cNvSpPr/>
          <p:nvPr/>
        </p:nvSpPr>
        <p:spPr>
          <a:xfrm>
            <a:off x="2604909" y="1508760"/>
            <a:ext cx="1912232" cy="89154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547" name="Google Shape;547;p39"/>
          <p:cNvCxnSpPr/>
          <p:nvPr/>
        </p:nvCxnSpPr>
        <p:spPr>
          <a:xfrm>
            <a:off x="2604909" y="1508760"/>
            <a:ext cx="1912232"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548" name="Google Shape;548;p39"/>
          <p:cNvSpPr txBox="1"/>
          <p:nvPr/>
        </p:nvSpPr>
        <p:spPr>
          <a:xfrm>
            <a:off x="2755789" y="168706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B45309"/>
                </a:solidFill>
                <a:latin typeface="Georgia"/>
                <a:ea typeface="Georgia"/>
                <a:cs typeface="Georgia"/>
                <a:sym typeface="Georgia"/>
              </a:rPr>
              <a:t>£3,780</a:t>
            </a:r>
            <a:endParaRPr sz="1100"/>
          </a:p>
        </p:txBody>
      </p:sp>
      <p:sp>
        <p:nvSpPr>
          <p:cNvPr id="549" name="Google Shape;549;p39"/>
          <p:cNvSpPr txBox="1"/>
          <p:nvPr/>
        </p:nvSpPr>
        <p:spPr>
          <a:xfrm>
            <a:off x="2755789" y="211226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TARGETED CAMPAIGN · 1,890 CONTACTS</a:t>
            </a:r>
            <a:endParaRPr sz="1100"/>
          </a:p>
        </p:txBody>
      </p:sp>
      <p:sp>
        <p:nvSpPr>
          <p:cNvPr id="550" name="Google Shape;550;p39"/>
          <p:cNvSpPr/>
          <p:nvPr/>
        </p:nvSpPr>
        <p:spPr>
          <a:xfrm>
            <a:off x="4626872" y="1508760"/>
            <a:ext cx="1912232" cy="89154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551" name="Google Shape;551;p39"/>
          <p:cNvCxnSpPr/>
          <p:nvPr/>
        </p:nvCxnSpPr>
        <p:spPr>
          <a:xfrm>
            <a:off x="4626872" y="1508760"/>
            <a:ext cx="1912232"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552" name="Google Shape;552;p39"/>
          <p:cNvSpPr txBox="1"/>
          <p:nvPr/>
        </p:nvSpPr>
        <p:spPr>
          <a:xfrm>
            <a:off x="4777752" y="168706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B45309"/>
                </a:solidFill>
                <a:latin typeface="Georgia"/>
                <a:ea typeface="Georgia"/>
                <a:cs typeface="Georgia"/>
                <a:sym typeface="Georgia"/>
              </a:rPr>
              <a:t>56%</a:t>
            </a:r>
            <a:endParaRPr sz="1100"/>
          </a:p>
        </p:txBody>
      </p:sp>
      <p:sp>
        <p:nvSpPr>
          <p:cNvPr id="553" name="Google Shape;553;p39"/>
          <p:cNvSpPr txBox="1"/>
          <p:nvPr/>
        </p:nvSpPr>
        <p:spPr>
          <a:xfrm>
            <a:off x="4777752" y="211226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REDUCTION IN CAMPAIGN SPEND</a:t>
            </a:r>
            <a:endParaRPr sz="1100"/>
          </a:p>
        </p:txBody>
      </p:sp>
      <p:sp>
        <p:nvSpPr>
          <p:cNvPr id="554" name="Google Shape;554;p39"/>
          <p:cNvSpPr/>
          <p:nvPr/>
        </p:nvSpPr>
        <p:spPr>
          <a:xfrm>
            <a:off x="6648835" y="1508760"/>
            <a:ext cx="1912232" cy="89154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555" name="Google Shape;555;p39"/>
          <p:cNvCxnSpPr/>
          <p:nvPr/>
        </p:nvCxnSpPr>
        <p:spPr>
          <a:xfrm>
            <a:off x="6648835" y="150876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556" name="Google Shape;556;p39"/>
          <p:cNvSpPr txBox="1"/>
          <p:nvPr/>
        </p:nvSpPr>
        <p:spPr>
          <a:xfrm>
            <a:off x="6799715" y="168706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89%</a:t>
            </a:r>
            <a:endParaRPr sz="1100"/>
          </a:p>
        </p:txBody>
      </p:sp>
      <p:sp>
        <p:nvSpPr>
          <p:cNvPr id="557" name="Google Shape;557;p39"/>
          <p:cNvSpPr txBox="1"/>
          <p:nvPr/>
        </p:nvSpPr>
        <p:spPr>
          <a:xfrm>
            <a:off x="6799715" y="211226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OF REVENUE STILL ADDRESSED</a:t>
            </a:r>
            <a:endParaRPr sz="1100"/>
          </a:p>
        </p:txBody>
      </p:sp>
      <p:sp>
        <p:nvSpPr>
          <p:cNvPr id="558" name="Google Shape;558;p39"/>
          <p:cNvSpPr txBox="1"/>
          <p:nvPr/>
        </p:nvSpPr>
        <p:spPr>
          <a:xfrm>
            <a:off x="582946" y="2708910"/>
            <a:ext cx="38405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HOW THE TARGET LIST IS BUILT</a:t>
            </a:r>
            <a:endParaRPr sz="1100"/>
          </a:p>
        </p:txBody>
      </p:sp>
      <p:sp>
        <p:nvSpPr>
          <p:cNvPr id="559" name="Google Shape;559;p39"/>
          <p:cNvSpPr txBox="1"/>
          <p:nvPr/>
        </p:nvSpPr>
        <p:spPr>
          <a:xfrm>
            <a:off x="582946" y="2948940"/>
            <a:ext cx="3840582"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Include Champions. </a:t>
            </a:r>
            <a:r>
              <a:rPr lang="en" sz="900">
                <a:solidFill>
                  <a:srgbClr val="1A1A1A"/>
                </a:solidFill>
                <a:latin typeface="Calibri"/>
                <a:ea typeface="Calibri"/>
                <a:cs typeface="Calibri"/>
                <a:sym typeface="Calibri"/>
              </a:rPr>
              <a:t>715 customers carrying 65% of revenue — retention here protects the base.</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Include At-Risk. </a:t>
            </a:r>
            <a:r>
              <a:rPr lang="en" sz="900">
                <a:solidFill>
                  <a:srgbClr val="1A1A1A"/>
                </a:solidFill>
                <a:latin typeface="Calibri"/>
                <a:ea typeface="Calibri"/>
                <a:cs typeface="Calibri"/>
                <a:sym typeface="Calibri"/>
              </a:rPr>
              <a:t>1,175 customers carrying 24% of revenue and visibly lapsing — this is where a pound of spend changes the outcome.</a:t>
            </a:r>
            <a:endParaRPr sz="1100"/>
          </a:p>
          <a:p>
            <a:pPr indent="0" lvl="0" marL="0" marR="0" rtl="0" algn="l">
              <a:lnSpc>
                <a:spcPct val="130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Down-weight the rest. </a:t>
            </a:r>
            <a:r>
              <a:rPr lang="en" sz="900">
                <a:solidFill>
                  <a:srgbClr val="1A1A1A"/>
                </a:solidFill>
                <a:latin typeface="Calibri"/>
                <a:ea typeface="Calibri"/>
                <a:cs typeface="Calibri"/>
                <a:sym typeface="Calibri"/>
              </a:rPr>
              <a:t>2,449 customers move to low-cost channels rather than paid campaigns.</a:t>
            </a:r>
            <a:endParaRPr sz="1100"/>
          </a:p>
        </p:txBody>
      </p:sp>
      <p:sp>
        <p:nvSpPr>
          <p:cNvPr id="560" name="Google Shape;560;p39"/>
          <p:cNvSpPr/>
          <p:nvPr/>
        </p:nvSpPr>
        <p:spPr>
          <a:xfrm>
            <a:off x="4766437" y="2708910"/>
            <a:ext cx="3772001" cy="161163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561" name="Google Shape;561;p39"/>
          <p:cNvCxnSpPr/>
          <p:nvPr/>
        </p:nvCxnSpPr>
        <p:spPr>
          <a:xfrm>
            <a:off x="4766437" y="2708910"/>
            <a:ext cx="3772001"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562" name="Google Shape;562;p39"/>
          <p:cNvSpPr txBox="1"/>
          <p:nvPr/>
        </p:nvSpPr>
        <p:spPr>
          <a:xfrm>
            <a:off x="4972183" y="2880360"/>
            <a:ext cx="3360510"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B45309"/>
                </a:solidFill>
                <a:latin typeface="Consolas"/>
                <a:ea typeface="Consolas"/>
                <a:cs typeface="Consolas"/>
                <a:sym typeface="Consolas"/>
              </a:rPr>
              <a:t>STATING THE CLAIM PRECISELY</a:t>
            </a:r>
            <a:endParaRPr sz="1100"/>
          </a:p>
        </p:txBody>
      </p:sp>
      <p:sp>
        <p:nvSpPr>
          <p:cNvPr id="563" name="Google Shape;563;p39"/>
          <p:cNvSpPr txBox="1"/>
          <p:nvPr/>
        </p:nvSpPr>
        <p:spPr>
          <a:xfrm>
            <a:off x="4972183" y="3140964"/>
            <a:ext cx="3360510" cy="10972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900">
                <a:solidFill>
                  <a:srgbClr val="1A1A1A"/>
                </a:solidFill>
                <a:latin typeface="Calibri"/>
                <a:ea typeface="Calibri"/>
                <a:cs typeface="Calibri"/>
                <a:sym typeface="Calibri"/>
              </a:rPr>
              <a:t>This is a cost-efficiency figure derived from our actual segment sizes and revenue shares — it is not a measured lift in sales. Demonstrating uplift requires an A/B test against a randomised holdout group, which is the first item in our future work.</a:t>
            </a:r>
            <a:endParaRPr sz="1100"/>
          </a:p>
        </p:txBody>
      </p:sp>
      <p:cxnSp>
        <p:nvCxnSpPr>
          <p:cNvPr id="564" name="Google Shape;564;p39"/>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65" name="Google Shape;565;p39"/>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566" name="Google Shape;566;p39"/>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16 / 28</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0"/>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73" name="Google Shape;573;p40"/>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04  </a:t>
            </a:r>
            <a:r>
              <a:rPr lang="en" sz="800">
                <a:solidFill>
                  <a:srgbClr val="6B6B6B"/>
                </a:solidFill>
                <a:latin typeface="Consolas"/>
                <a:ea typeface="Consolas"/>
                <a:cs typeface="Consolas"/>
                <a:sym typeface="Consolas"/>
              </a:rPr>
              <a:t>CHURN PREDICTION   ·   LOGISTIC REGRESSION ON RFM</a:t>
            </a:r>
            <a:endParaRPr sz="1100"/>
          </a:p>
        </p:txBody>
      </p:sp>
      <p:sp>
        <p:nvSpPr>
          <p:cNvPr id="574" name="Google Shape;574;p40"/>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Who is about to leave</a:t>
            </a:r>
            <a:endParaRPr sz="1100"/>
          </a:p>
        </p:txBody>
      </p:sp>
      <p:cxnSp>
        <p:nvCxnSpPr>
          <p:cNvPr id="575" name="Google Shape;575;p40"/>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76" name="Google Shape;576;p40"/>
          <p:cNvSpPr txBox="1"/>
          <p:nvPr/>
        </p:nvSpPr>
        <p:spPr>
          <a:xfrm>
            <a:off x="582946" y="1508760"/>
            <a:ext cx="4389237"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The label. </a:t>
            </a:r>
            <a:r>
              <a:rPr lang="en" sz="1000">
                <a:solidFill>
                  <a:srgbClr val="1A1A1A"/>
                </a:solidFill>
                <a:latin typeface="Calibri"/>
                <a:ea typeface="Calibri"/>
                <a:cs typeface="Calibri"/>
                <a:sym typeface="Calibri"/>
              </a:rPr>
              <a:t>A customer is marked as churned if their Recency exceeds 90 days — a standard retail dormancy window, and one the dashboard lets you change (30 / 60 / 90 / 120 / 180).</a:t>
            </a:r>
            <a:endParaRPr sz="1100"/>
          </a:p>
          <a:p>
            <a:pPr indent="0" lvl="0" marL="0" marR="0" rtl="0" algn="l">
              <a:lnSpc>
                <a:spcPct val="130000"/>
              </a:lnSpc>
              <a:spcBef>
                <a:spcPts val="7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The model. </a:t>
            </a:r>
            <a:r>
              <a:rPr lang="en" sz="1000">
                <a:solidFill>
                  <a:srgbClr val="1A1A1A"/>
                </a:solidFill>
                <a:latin typeface="Calibri"/>
                <a:ea typeface="Calibri"/>
                <a:cs typeface="Calibri"/>
                <a:sym typeface="Calibri"/>
              </a:rPr>
              <a:t>Logistic regression on Recency, Frequency and Monetary, with an 80/20 stratified train-test split. Chosen for interpretability — coefficients can be explained to a marketing team.</a:t>
            </a:r>
            <a:endParaRPr sz="1100"/>
          </a:p>
          <a:p>
            <a:pPr indent="0" lvl="0" marL="0" marR="0" rtl="0" algn="l">
              <a:lnSpc>
                <a:spcPct val="130000"/>
              </a:lnSpc>
              <a:spcBef>
                <a:spcPts val="7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The output. </a:t>
            </a:r>
            <a:r>
              <a:rPr lang="en" sz="1000">
                <a:solidFill>
                  <a:srgbClr val="1A1A1A"/>
                </a:solidFill>
                <a:latin typeface="Calibri"/>
                <a:ea typeface="Calibri"/>
                <a:cs typeface="Calibri"/>
                <a:sym typeface="Calibri"/>
              </a:rPr>
              <a:t>A churn probability between 0 and 1 for every customer, which the dashboard buckets into High Risk (&gt; 0.7), Medium Risk (0.4 – 0.7) and Low Risk / Loyal.</a:t>
            </a:r>
            <a:endParaRPr sz="1100"/>
          </a:p>
          <a:p>
            <a:pPr indent="0" lvl="0" marL="0" marR="0" rtl="0" algn="l">
              <a:lnSpc>
                <a:spcPct val="130000"/>
              </a:lnSpc>
              <a:spcBef>
                <a:spcPts val="7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Base rate. </a:t>
            </a:r>
            <a:r>
              <a:rPr lang="en" sz="1000">
                <a:solidFill>
                  <a:srgbClr val="1A1A1A"/>
                </a:solidFill>
                <a:latin typeface="Calibri"/>
                <a:ea typeface="Calibri"/>
                <a:cs typeface="Calibri"/>
                <a:sym typeface="Calibri"/>
              </a:rPr>
              <a:t>33.0% of the customer base is churned under the 90-day definition — 1,432 customers.</a:t>
            </a:r>
            <a:endParaRPr sz="1100"/>
          </a:p>
        </p:txBody>
      </p:sp>
      <p:sp>
        <p:nvSpPr>
          <p:cNvPr id="577" name="Google Shape;577;p40"/>
          <p:cNvSpPr txBox="1"/>
          <p:nvPr/>
        </p:nvSpPr>
        <p:spPr>
          <a:xfrm>
            <a:off x="5315092" y="1508760"/>
            <a:ext cx="32233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CHURN RATE BY SEGMENT</a:t>
            </a:r>
            <a:endParaRPr sz="1100"/>
          </a:p>
        </p:txBody>
      </p:sp>
      <p:sp>
        <p:nvSpPr>
          <p:cNvPr id="578" name="Google Shape;578;p40"/>
          <p:cNvSpPr txBox="1"/>
          <p:nvPr/>
        </p:nvSpPr>
        <p:spPr>
          <a:xfrm>
            <a:off x="5315092" y="1796796"/>
            <a:ext cx="15773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1A1A1A"/>
                </a:solidFill>
                <a:latin typeface="Calibri"/>
                <a:ea typeface="Calibri"/>
                <a:cs typeface="Calibri"/>
                <a:sym typeface="Calibri"/>
              </a:rPr>
              <a:t>Champions</a:t>
            </a:r>
            <a:endParaRPr sz="1100"/>
          </a:p>
        </p:txBody>
      </p:sp>
      <p:sp>
        <p:nvSpPr>
          <p:cNvPr id="579" name="Google Shape;579;p40"/>
          <p:cNvSpPr/>
          <p:nvPr/>
        </p:nvSpPr>
        <p:spPr>
          <a:xfrm>
            <a:off x="6961056" y="1824228"/>
            <a:ext cx="1303055" cy="130302"/>
          </a:xfrm>
          <a:prstGeom prst="rect">
            <a:avLst/>
          </a:prstGeom>
          <a:solidFill>
            <a:srgbClr val="D8D4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80" name="Google Shape;580;p40"/>
          <p:cNvSpPr txBox="1"/>
          <p:nvPr/>
        </p:nvSpPr>
        <p:spPr>
          <a:xfrm>
            <a:off x="8346408" y="1796796"/>
            <a:ext cx="548655"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onsolas"/>
                <a:ea typeface="Consolas"/>
                <a:cs typeface="Consolas"/>
                <a:sym typeface="Consolas"/>
              </a:rPr>
              <a:t>0%</a:t>
            </a:r>
            <a:endParaRPr sz="1100"/>
          </a:p>
        </p:txBody>
      </p:sp>
      <p:sp>
        <p:nvSpPr>
          <p:cNvPr id="581" name="Google Shape;581;p40"/>
          <p:cNvSpPr txBox="1"/>
          <p:nvPr/>
        </p:nvSpPr>
        <p:spPr>
          <a:xfrm>
            <a:off x="5315092" y="2221992"/>
            <a:ext cx="15773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1A1A1A"/>
                </a:solidFill>
                <a:latin typeface="Calibri"/>
                <a:ea typeface="Calibri"/>
                <a:cs typeface="Calibri"/>
                <a:sym typeface="Calibri"/>
              </a:rPr>
              <a:t>New / Occasional</a:t>
            </a:r>
            <a:endParaRPr sz="1100"/>
          </a:p>
        </p:txBody>
      </p:sp>
      <p:sp>
        <p:nvSpPr>
          <p:cNvPr id="582" name="Google Shape;582;p40"/>
          <p:cNvSpPr/>
          <p:nvPr/>
        </p:nvSpPr>
        <p:spPr>
          <a:xfrm>
            <a:off x="6961056" y="2249424"/>
            <a:ext cx="1303055" cy="130302"/>
          </a:xfrm>
          <a:prstGeom prst="rect">
            <a:avLst/>
          </a:prstGeom>
          <a:solidFill>
            <a:srgbClr val="D8D4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83" name="Google Shape;583;p40"/>
          <p:cNvSpPr txBox="1"/>
          <p:nvPr/>
        </p:nvSpPr>
        <p:spPr>
          <a:xfrm>
            <a:off x="8346408" y="2221992"/>
            <a:ext cx="548655"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onsolas"/>
                <a:ea typeface="Consolas"/>
                <a:cs typeface="Consolas"/>
                <a:sym typeface="Consolas"/>
              </a:rPr>
              <a:t>0%</a:t>
            </a:r>
            <a:endParaRPr sz="1100"/>
          </a:p>
        </p:txBody>
      </p:sp>
      <p:sp>
        <p:nvSpPr>
          <p:cNvPr id="584" name="Google Shape;584;p40"/>
          <p:cNvSpPr txBox="1"/>
          <p:nvPr/>
        </p:nvSpPr>
        <p:spPr>
          <a:xfrm>
            <a:off x="5315092" y="2647188"/>
            <a:ext cx="15773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1A1A1A"/>
                </a:solidFill>
                <a:latin typeface="Calibri"/>
                <a:ea typeface="Calibri"/>
                <a:cs typeface="Calibri"/>
                <a:sym typeface="Calibri"/>
              </a:rPr>
              <a:t>At-Risk Mid-Value</a:t>
            </a:r>
            <a:endParaRPr sz="1100"/>
          </a:p>
        </p:txBody>
      </p:sp>
      <p:sp>
        <p:nvSpPr>
          <p:cNvPr id="585" name="Google Shape;585;p40"/>
          <p:cNvSpPr/>
          <p:nvPr/>
        </p:nvSpPr>
        <p:spPr>
          <a:xfrm>
            <a:off x="6961056" y="2674620"/>
            <a:ext cx="1303055" cy="130302"/>
          </a:xfrm>
          <a:prstGeom prst="rect">
            <a:avLst/>
          </a:prstGeom>
          <a:solidFill>
            <a:srgbClr val="D8D4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86" name="Google Shape;586;p40"/>
          <p:cNvSpPr/>
          <p:nvPr/>
        </p:nvSpPr>
        <p:spPr>
          <a:xfrm>
            <a:off x="6961056" y="2674620"/>
            <a:ext cx="309406" cy="130302"/>
          </a:xfrm>
          <a:prstGeom prst="rect">
            <a:avLst/>
          </a:prstGeom>
          <a:solidFill>
            <a:srgbClr val="0F766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87" name="Google Shape;587;p40"/>
          <p:cNvSpPr txBox="1"/>
          <p:nvPr/>
        </p:nvSpPr>
        <p:spPr>
          <a:xfrm>
            <a:off x="8346408" y="2647188"/>
            <a:ext cx="548655"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onsolas"/>
                <a:ea typeface="Consolas"/>
                <a:cs typeface="Consolas"/>
                <a:sym typeface="Consolas"/>
              </a:rPr>
              <a:t>24%</a:t>
            </a:r>
            <a:endParaRPr sz="1100"/>
          </a:p>
        </p:txBody>
      </p:sp>
      <p:sp>
        <p:nvSpPr>
          <p:cNvPr id="588" name="Google Shape;588;p40"/>
          <p:cNvSpPr txBox="1"/>
          <p:nvPr/>
        </p:nvSpPr>
        <p:spPr>
          <a:xfrm>
            <a:off x="5315092" y="3072384"/>
            <a:ext cx="15773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000">
                <a:solidFill>
                  <a:srgbClr val="1A1A1A"/>
                </a:solidFill>
                <a:latin typeface="Calibri"/>
                <a:ea typeface="Calibri"/>
                <a:cs typeface="Calibri"/>
                <a:sym typeface="Calibri"/>
              </a:rPr>
              <a:t>Hibernating</a:t>
            </a:r>
            <a:endParaRPr sz="1100"/>
          </a:p>
        </p:txBody>
      </p:sp>
      <p:sp>
        <p:nvSpPr>
          <p:cNvPr id="589" name="Google Shape;589;p40"/>
          <p:cNvSpPr/>
          <p:nvPr/>
        </p:nvSpPr>
        <p:spPr>
          <a:xfrm>
            <a:off x="6961056" y="3099816"/>
            <a:ext cx="1303055" cy="130302"/>
          </a:xfrm>
          <a:prstGeom prst="rect">
            <a:avLst/>
          </a:prstGeom>
          <a:solidFill>
            <a:srgbClr val="D8D4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90" name="Google Shape;590;p40"/>
          <p:cNvSpPr/>
          <p:nvPr/>
        </p:nvSpPr>
        <p:spPr>
          <a:xfrm>
            <a:off x="6961056" y="3099816"/>
            <a:ext cx="924334" cy="130302"/>
          </a:xfrm>
          <a:prstGeom prst="rect">
            <a:avLst/>
          </a:prstGeom>
          <a:solidFill>
            <a:srgbClr val="B91C1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91" name="Google Shape;591;p40"/>
          <p:cNvSpPr txBox="1"/>
          <p:nvPr/>
        </p:nvSpPr>
        <p:spPr>
          <a:xfrm>
            <a:off x="8346408" y="3072384"/>
            <a:ext cx="548655"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onsolas"/>
                <a:ea typeface="Consolas"/>
                <a:cs typeface="Consolas"/>
                <a:sym typeface="Consolas"/>
              </a:rPr>
              <a:t>71%</a:t>
            </a:r>
            <a:endParaRPr sz="1100"/>
          </a:p>
        </p:txBody>
      </p:sp>
      <p:sp>
        <p:nvSpPr>
          <p:cNvPr id="592" name="Google Shape;592;p40"/>
          <p:cNvSpPr/>
          <p:nvPr/>
        </p:nvSpPr>
        <p:spPr>
          <a:xfrm>
            <a:off x="5315092" y="3634740"/>
            <a:ext cx="3223346" cy="68580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93" name="Google Shape;593;p40"/>
          <p:cNvSpPr txBox="1"/>
          <p:nvPr/>
        </p:nvSpPr>
        <p:spPr>
          <a:xfrm>
            <a:off x="5486546" y="3771900"/>
            <a:ext cx="2880437" cy="48006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0" i="0" lang="en" sz="900">
                <a:solidFill>
                  <a:srgbClr val="1A1A1A"/>
                </a:solidFill>
                <a:latin typeface="Calibri"/>
                <a:ea typeface="Calibri"/>
                <a:cs typeface="Calibri"/>
                <a:sym typeface="Calibri"/>
              </a:rPr>
              <a:t>Risk tracks the segmentation cleanly — near zero among Champions, 71% among Hibernating. The two methods agree.</a:t>
            </a:r>
            <a:endParaRPr sz="1100"/>
          </a:p>
        </p:txBody>
      </p:sp>
      <p:cxnSp>
        <p:nvCxnSpPr>
          <p:cNvPr id="594" name="Google Shape;594;p40"/>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595" name="Google Shape;595;p40"/>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596" name="Google Shape;596;p40"/>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17 / 28</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41"/>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03" name="Google Shape;603;p41"/>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04  </a:t>
            </a:r>
            <a:r>
              <a:rPr lang="en" sz="800">
                <a:solidFill>
                  <a:srgbClr val="6B6B6B"/>
                </a:solidFill>
                <a:latin typeface="Consolas"/>
                <a:ea typeface="Consolas"/>
                <a:cs typeface="Consolas"/>
                <a:sym typeface="Consolas"/>
              </a:rPr>
              <a:t>CHURN EVALUATION   ·   READING OUR OWN RESULT HONESTLY</a:t>
            </a:r>
            <a:endParaRPr sz="1100"/>
          </a:p>
        </p:txBody>
      </p:sp>
      <p:sp>
        <p:nvSpPr>
          <p:cNvPr id="604" name="Google Shape;604;p41"/>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A perfect score is a red flag</a:t>
            </a:r>
            <a:endParaRPr sz="1100"/>
          </a:p>
        </p:txBody>
      </p:sp>
      <p:cxnSp>
        <p:nvCxnSpPr>
          <p:cNvPr id="605" name="Google Shape;605;p41"/>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606" name="Google Shape;606;p41"/>
          <p:cNvSpPr/>
          <p:nvPr/>
        </p:nvSpPr>
        <p:spPr>
          <a:xfrm>
            <a:off x="582946" y="1474470"/>
            <a:ext cx="1912232" cy="72009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607" name="Google Shape;607;p41"/>
          <p:cNvCxnSpPr/>
          <p:nvPr/>
        </p:nvCxnSpPr>
        <p:spPr>
          <a:xfrm>
            <a:off x="582946"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608" name="Google Shape;608;p41"/>
          <p:cNvSpPr txBox="1"/>
          <p:nvPr/>
        </p:nvSpPr>
        <p:spPr>
          <a:xfrm>
            <a:off x="733826"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800">
                <a:solidFill>
                  <a:srgbClr val="1A1A1A"/>
                </a:solidFill>
                <a:latin typeface="Georgia"/>
                <a:ea typeface="Georgia"/>
                <a:cs typeface="Georgia"/>
                <a:sym typeface="Georgia"/>
              </a:rPr>
              <a:t>100%</a:t>
            </a:r>
            <a:endParaRPr sz="1100"/>
          </a:p>
        </p:txBody>
      </p:sp>
      <p:sp>
        <p:nvSpPr>
          <p:cNvPr id="609" name="Google Shape;609;p41"/>
          <p:cNvSpPr txBox="1"/>
          <p:nvPr/>
        </p:nvSpPr>
        <p:spPr>
          <a:xfrm>
            <a:off x="733826" y="190652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REPORTED ACCURACY</a:t>
            </a:r>
            <a:endParaRPr sz="1100"/>
          </a:p>
        </p:txBody>
      </p:sp>
      <p:sp>
        <p:nvSpPr>
          <p:cNvPr id="610" name="Google Shape;610;p41"/>
          <p:cNvSpPr/>
          <p:nvPr/>
        </p:nvSpPr>
        <p:spPr>
          <a:xfrm>
            <a:off x="2604909" y="1474470"/>
            <a:ext cx="1912232" cy="72009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611" name="Google Shape;611;p41"/>
          <p:cNvCxnSpPr/>
          <p:nvPr/>
        </p:nvCxnSpPr>
        <p:spPr>
          <a:xfrm>
            <a:off x="2604909"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612" name="Google Shape;612;p41"/>
          <p:cNvSpPr txBox="1"/>
          <p:nvPr/>
        </p:nvSpPr>
        <p:spPr>
          <a:xfrm>
            <a:off x="2755789"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800">
                <a:solidFill>
                  <a:srgbClr val="1A1A1A"/>
                </a:solidFill>
                <a:latin typeface="Georgia"/>
                <a:ea typeface="Georgia"/>
                <a:cs typeface="Georgia"/>
                <a:sym typeface="Georgia"/>
              </a:rPr>
              <a:t>1.00</a:t>
            </a:r>
            <a:endParaRPr sz="1100"/>
          </a:p>
        </p:txBody>
      </p:sp>
      <p:sp>
        <p:nvSpPr>
          <p:cNvPr id="613" name="Google Shape;613;p41"/>
          <p:cNvSpPr txBox="1"/>
          <p:nvPr/>
        </p:nvSpPr>
        <p:spPr>
          <a:xfrm>
            <a:off x="2755789" y="190652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PRECISION · CHURN CLASS</a:t>
            </a:r>
            <a:endParaRPr sz="1100"/>
          </a:p>
        </p:txBody>
      </p:sp>
      <p:sp>
        <p:nvSpPr>
          <p:cNvPr id="614" name="Google Shape;614;p41"/>
          <p:cNvSpPr/>
          <p:nvPr/>
        </p:nvSpPr>
        <p:spPr>
          <a:xfrm>
            <a:off x="4626872" y="1474470"/>
            <a:ext cx="1912232" cy="72009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615" name="Google Shape;615;p41"/>
          <p:cNvCxnSpPr/>
          <p:nvPr/>
        </p:nvCxnSpPr>
        <p:spPr>
          <a:xfrm>
            <a:off x="4626872"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616" name="Google Shape;616;p41"/>
          <p:cNvSpPr txBox="1"/>
          <p:nvPr/>
        </p:nvSpPr>
        <p:spPr>
          <a:xfrm>
            <a:off x="4777752"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800">
                <a:solidFill>
                  <a:srgbClr val="1A1A1A"/>
                </a:solidFill>
                <a:latin typeface="Georgia"/>
                <a:ea typeface="Georgia"/>
                <a:cs typeface="Georgia"/>
                <a:sym typeface="Georgia"/>
              </a:rPr>
              <a:t>1.00</a:t>
            </a:r>
            <a:endParaRPr sz="1100"/>
          </a:p>
        </p:txBody>
      </p:sp>
      <p:sp>
        <p:nvSpPr>
          <p:cNvPr id="617" name="Google Shape;617;p41"/>
          <p:cNvSpPr txBox="1"/>
          <p:nvPr/>
        </p:nvSpPr>
        <p:spPr>
          <a:xfrm>
            <a:off x="4777752" y="190652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RECALL · CHURN CLASS</a:t>
            </a:r>
            <a:endParaRPr sz="1100"/>
          </a:p>
        </p:txBody>
      </p:sp>
      <p:sp>
        <p:nvSpPr>
          <p:cNvPr id="618" name="Google Shape;618;p41"/>
          <p:cNvSpPr/>
          <p:nvPr/>
        </p:nvSpPr>
        <p:spPr>
          <a:xfrm>
            <a:off x="6648835" y="1474470"/>
            <a:ext cx="1912232" cy="72009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619" name="Google Shape;619;p41"/>
          <p:cNvCxnSpPr/>
          <p:nvPr/>
        </p:nvCxnSpPr>
        <p:spPr>
          <a:xfrm>
            <a:off x="6648835"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620" name="Google Shape;620;p41"/>
          <p:cNvSpPr txBox="1"/>
          <p:nvPr/>
        </p:nvSpPr>
        <p:spPr>
          <a:xfrm>
            <a:off x="6799715"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800">
                <a:solidFill>
                  <a:srgbClr val="1A1A1A"/>
                </a:solidFill>
                <a:latin typeface="Georgia"/>
                <a:ea typeface="Georgia"/>
                <a:cs typeface="Georgia"/>
                <a:sym typeface="Georgia"/>
              </a:rPr>
              <a:t>868</a:t>
            </a:r>
            <a:endParaRPr sz="1100"/>
          </a:p>
        </p:txBody>
      </p:sp>
      <p:sp>
        <p:nvSpPr>
          <p:cNvPr id="621" name="Google Shape;621;p41"/>
          <p:cNvSpPr txBox="1"/>
          <p:nvPr/>
        </p:nvSpPr>
        <p:spPr>
          <a:xfrm>
            <a:off x="6799715" y="1906524"/>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TEST-SET CUSTOMERS</a:t>
            </a:r>
            <a:endParaRPr sz="1100"/>
          </a:p>
        </p:txBody>
      </p:sp>
      <p:pic>
        <p:nvPicPr>
          <p:cNvPr descr="churn.png" id="622" name="Google Shape;622;p41"/>
          <p:cNvPicPr preferRelativeResize="0"/>
          <p:nvPr/>
        </p:nvPicPr>
        <p:blipFill rotWithShape="1">
          <a:blip r:embed="rId3">
            <a:alphaModFix/>
          </a:blip>
          <a:srcRect b="0" l="0" r="0" t="0"/>
          <a:stretch/>
        </p:blipFill>
        <p:spPr>
          <a:xfrm>
            <a:off x="582946" y="2345436"/>
            <a:ext cx="3497580" cy="1967389"/>
          </a:xfrm>
          <a:prstGeom prst="rect">
            <a:avLst/>
          </a:prstGeom>
          <a:noFill/>
          <a:ln>
            <a:noFill/>
          </a:ln>
        </p:spPr>
      </p:pic>
      <p:sp>
        <p:nvSpPr>
          <p:cNvPr id="623" name="Google Shape;623;p41"/>
          <p:cNvSpPr txBox="1"/>
          <p:nvPr/>
        </p:nvSpPr>
        <p:spPr>
          <a:xfrm>
            <a:off x="582946" y="4361688"/>
            <a:ext cx="370341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 sz="900">
                <a:solidFill>
                  <a:srgbClr val="6B6B6B"/>
                </a:solidFill>
                <a:latin typeface="Calibri"/>
                <a:ea typeface="Calibri"/>
                <a:cs typeface="Calibri"/>
                <a:sym typeface="Calibri"/>
              </a:rPr>
              <a:t>Probabilities collapse to 0 and 1 — no genuine uncertainty is expressed.</a:t>
            </a:r>
            <a:endParaRPr sz="1100"/>
          </a:p>
        </p:txBody>
      </p:sp>
      <p:sp>
        <p:nvSpPr>
          <p:cNvPr id="624" name="Google Shape;624;p41"/>
          <p:cNvSpPr/>
          <p:nvPr/>
        </p:nvSpPr>
        <p:spPr>
          <a:xfrm>
            <a:off x="4389237" y="2345436"/>
            <a:ext cx="4149201" cy="227685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625" name="Google Shape;625;p41"/>
          <p:cNvCxnSpPr/>
          <p:nvPr/>
        </p:nvCxnSpPr>
        <p:spPr>
          <a:xfrm>
            <a:off x="4389237" y="2345436"/>
            <a:ext cx="4149201" cy="0"/>
          </a:xfrm>
          <a:prstGeom prst="straightConnector1">
            <a:avLst/>
          </a:prstGeom>
          <a:noFill/>
          <a:ln cap="flat" cmpd="sng" w="31750">
            <a:solidFill>
              <a:srgbClr val="B91C1C"/>
            </a:solidFill>
            <a:prstDash val="solid"/>
            <a:round/>
            <a:headEnd len="sm" w="sm" type="none"/>
            <a:tailEnd len="sm" w="sm" type="none"/>
          </a:ln>
          <a:effectLst>
            <a:outerShdw blurRad="40000" rotWithShape="0" dir="5400000" dist="20000">
              <a:srgbClr val="000000">
                <a:alpha val="38039"/>
              </a:srgbClr>
            </a:outerShdw>
          </a:effectLst>
        </p:spPr>
      </p:cxnSp>
      <p:sp>
        <p:nvSpPr>
          <p:cNvPr id="626" name="Google Shape;626;p41"/>
          <p:cNvSpPr txBox="1"/>
          <p:nvPr/>
        </p:nvSpPr>
        <p:spPr>
          <a:xfrm>
            <a:off x="4594982" y="2496312"/>
            <a:ext cx="370341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B91C1C"/>
                </a:solidFill>
                <a:latin typeface="Consolas"/>
                <a:ea typeface="Consolas"/>
                <a:cs typeface="Consolas"/>
                <a:sym typeface="Consolas"/>
              </a:rPr>
              <a:t>WHY — AND WE ARE RAISING THIS OURSELVES</a:t>
            </a:r>
            <a:endParaRPr sz="1100"/>
          </a:p>
        </p:txBody>
      </p:sp>
      <p:sp>
        <p:nvSpPr>
          <p:cNvPr id="627" name="Google Shape;627;p41"/>
          <p:cNvSpPr txBox="1"/>
          <p:nvPr/>
        </p:nvSpPr>
        <p:spPr>
          <a:xfrm>
            <a:off x="4594982" y="2729484"/>
            <a:ext cx="3737710" cy="274320"/>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The label leaks. </a:t>
            </a:r>
            <a:r>
              <a:rPr lang="en" sz="900">
                <a:solidFill>
                  <a:srgbClr val="1A1A1A"/>
                </a:solidFill>
                <a:latin typeface="Calibri"/>
                <a:ea typeface="Calibri"/>
                <a:cs typeface="Calibri"/>
                <a:sym typeface="Calibri"/>
              </a:rPr>
              <a:t>Churn is defined as Recency &gt; 90, and Recency is also a model input — the classifier only learns a threshold on a feature it was handed.</a:t>
            </a:r>
            <a:endParaRPr sz="1100"/>
          </a:p>
          <a:p>
            <a:pPr indent="0" lvl="0" marL="0" marR="0" rtl="0" algn="l">
              <a:lnSpc>
                <a:spcPct val="124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So the score is tautological. </a:t>
            </a:r>
            <a:r>
              <a:rPr lang="en" sz="900">
                <a:solidFill>
                  <a:srgbClr val="1A1A1A"/>
                </a:solidFill>
                <a:latin typeface="Calibri"/>
                <a:ea typeface="Calibri"/>
                <a:cs typeface="Calibri"/>
                <a:sym typeface="Calibri"/>
              </a:rPr>
              <a:t>100% measures label construction, not predictive ability.</a:t>
            </a:r>
            <a:endParaRPr sz="1100"/>
          </a:p>
          <a:p>
            <a:pPr indent="0" lvl="0" marL="0" marR="0" rtl="0" algn="l">
              <a:lnSpc>
                <a:spcPct val="124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The correct fix. </a:t>
            </a:r>
            <a:r>
              <a:rPr lang="en" sz="900">
                <a:solidFill>
                  <a:srgbClr val="1A1A1A"/>
                </a:solidFill>
                <a:latin typeface="Calibri"/>
                <a:ea typeface="Calibri"/>
                <a:cs typeface="Calibri"/>
                <a:sym typeface="Calibri"/>
              </a:rPr>
              <a:t>Define churn on a future window — did the customer buy in the next 90 days — and train without Recency as an input.</a:t>
            </a:r>
            <a:endParaRPr sz="1100"/>
          </a:p>
          <a:p>
            <a:pPr indent="0" lvl="0" marL="0" marR="0" rtl="0" algn="l">
              <a:lnSpc>
                <a:spcPct val="124000"/>
              </a:lnSpc>
              <a:spcBef>
                <a:spcPts val="500"/>
              </a:spcBef>
              <a:spcAft>
                <a:spcPts val="0"/>
              </a:spcAft>
              <a:buNone/>
            </a:pPr>
            <a:r>
              <a:rPr b="1" lang="en" sz="900">
                <a:solidFill>
                  <a:srgbClr val="B45309"/>
                </a:solidFill>
                <a:latin typeface="Calibri"/>
                <a:ea typeface="Calibri"/>
                <a:cs typeface="Calibri"/>
                <a:sym typeface="Calibri"/>
              </a:rPr>
              <a:t>— </a:t>
            </a:r>
            <a:r>
              <a:rPr b="1" lang="en" sz="900">
                <a:solidFill>
                  <a:srgbClr val="1A1A1A"/>
                </a:solidFill>
                <a:latin typeface="Calibri"/>
                <a:ea typeface="Calibri"/>
                <a:cs typeface="Calibri"/>
                <a:sym typeface="Calibri"/>
              </a:rPr>
              <a:t>What still holds. </a:t>
            </a:r>
            <a:r>
              <a:rPr lang="en" sz="900">
                <a:solidFill>
                  <a:srgbClr val="1A1A1A"/>
                </a:solidFill>
                <a:latin typeface="Calibri"/>
                <a:ea typeface="Calibri"/>
                <a:cs typeface="Calibri"/>
                <a:sym typeface="Calibri"/>
              </a:rPr>
              <a:t>It remains a useful ranked dormancy indicator for prioritising outreach; it is simply not a forecast.</a:t>
            </a:r>
            <a:endParaRPr sz="1100"/>
          </a:p>
        </p:txBody>
      </p:sp>
      <p:cxnSp>
        <p:nvCxnSpPr>
          <p:cNvPr id="628" name="Google Shape;628;p41"/>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629" name="Google Shape;629;p41"/>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630" name="Google Shape;630;p41"/>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18 / 28</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42"/>
          <p:cNvSpPr/>
          <p:nvPr/>
        </p:nvSpPr>
        <p:spPr>
          <a:xfrm>
            <a:off x="0" y="0"/>
            <a:ext cx="9144015" cy="514350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37" name="Google Shape;637;p42"/>
          <p:cNvSpPr/>
          <p:nvPr/>
        </p:nvSpPr>
        <p:spPr>
          <a:xfrm>
            <a:off x="0" y="0"/>
            <a:ext cx="75440" cy="5143500"/>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38" name="Google Shape;638;p42"/>
          <p:cNvSpPr txBox="1"/>
          <p:nvPr/>
        </p:nvSpPr>
        <p:spPr>
          <a:xfrm>
            <a:off x="582946" y="1988820"/>
            <a:ext cx="13716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000">
                <a:solidFill>
                  <a:srgbClr val="B45309"/>
                </a:solidFill>
                <a:latin typeface="Consolas"/>
                <a:ea typeface="Consolas"/>
                <a:cs typeface="Consolas"/>
                <a:sym typeface="Consolas"/>
              </a:rPr>
              <a:t>05</a:t>
            </a:r>
            <a:endParaRPr sz="1100"/>
          </a:p>
        </p:txBody>
      </p:sp>
      <p:sp>
        <p:nvSpPr>
          <p:cNvPr id="639" name="Google Shape;639;p42"/>
          <p:cNvSpPr txBox="1"/>
          <p:nvPr/>
        </p:nvSpPr>
        <p:spPr>
          <a:xfrm>
            <a:off x="582946" y="2297430"/>
            <a:ext cx="6515274" cy="96012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None/>
            </a:pPr>
            <a:r>
              <a:rPr b="0" i="0" lang="en" sz="3200">
                <a:solidFill>
                  <a:srgbClr val="FAF8F4"/>
                </a:solidFill>
                <a:latin typeface="Georgia"/>
                <a:ea typeface="Georgia"/>
                <a:cs typeface="Georgia"/>
                <a:sym typeface="Georgia"/>
              </a:rPr>
              <a:t>From notebook to working product</a:t>
            </a:r>
            <a:endParaRPr sz="1100"/>
          </a:p>
        </p:txBody>
      </p:sp>
      <p:cxnSp>
        <p:nvCxnSpPr>
          <p:cNvPr id="640" name="Google Shape;640;p42"/>
          <p:cNvCxnSpPr/>
          <p:nvPr/>
        </p:nvCxnSpPr>
        <p:spPr>
          <a:xfrm>
            <a:off x="582946" y="3463290"/>
            <a:ext cx="1645964"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641" name="Google Shape;641;p42"/>
          <p:cNvSpPr txBox="1"/>
          <p:nvPr/>
        </p:nvSpPr>
        <p:spPr>
          <a:xfrm>
            <a:off x="582946" y="3669030"/>
            <a:ext cx="5829455"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1000">
                <a:solidFill>
                  <a:srgbClr val="9A9488"/>
                </a:solidFill>
                <a:latin typeface="Consolas"/>
                <a:ea typeface="Consolas"/>
                <a:cs typeface="Consolas"/>
                <a:sym typeface="Consolas"/>
              </a:rPr>
              <a:t>A marketing team cannot run Jupyter. The same pipeline had to ship as an application.</a:t>
            </a:r>
            <a:endParaRPr sz="1100"/>
          </a:p>
        </p:txBody>
      </p:sp>
      <p:cxnSp>
        <p:nvCxnSpPr>
          <p:cNvPr id="642" name="Google Shape;642;p42"/>
          <p:cNvCxnSpPr/>
          <p:nvPr/>
        </p:nvCxnSpPr>
        <p:spPr>
          <a:xfrm>
            <a:off x="582946" y="4718304"/>
            <a:ext cx="7978124" cy="0"/>
          </a:xfrm>
          <a:prstGeom prst="straightConnector1">
            <a:avLst/>
          </a:prstGeom>
          <a:noFill/>
          <a:ln cap="flat" cmpd="sng" w="9525">
            <a:solidFill>
              <a:srgbClr val="3A3834"/>
            </a:solidFill>
            <a:prstDash val="solid"/>
            <a:round/>
            <a:headEnd len="sm" w="sm" type="none"/>
            <a:tailEnd len="sm" w="sm" type="none"/>
          </a:ln>
          <a:effectLst>
            <a:outerShdw blurRad="40000" rotWithShape="0" dir="5400000" dist="20000">
              <a:srgbClr val="000000">
                <a:alpha val="38039"/>
              </a:srgbClr>
            </a:outerShdw>
          </a:effectLst>
        </p:spPr>
      </p:cxnSp>
      <p:sp>
        <p:nvSpPr>
          <p:cNvPr id="643" name="Google Shape;643;p42"/>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8A847A"/>
                </a:solidFill>
                <a:latin typeface="Consolas"/>
                <a:ea typeface="Consolas"/>
                <a:cs typeface="Consolas"/>
                <a:sym typeface="Consolas"/>
              </a:rPr>
              <a:t>CUSTOMER SEGMENTATION FOR TARGETED E-COMMERCE MARKETING</a:t>
            </a:r>
            <a:endParaRPr sz="1100"/>
          </a:p>
        </p:txBody>
      </p:sp>
      <p:sp>
        <p:nvSpPr>
          <p:cNvPr id="644" name="Google Shape;644;p42"/>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8A847A"/>
                </a:solidFill>
                <a:latin typeface="Consolas"/>
                <a:ea typeface="Consolas"/>
                <a:cs typeface="Consolas"/>
                <a:sym typeface="Consolas"/>
              </a:rPr>
              <a:t>19 / 28</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43"/>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51" name="Google Shape;651;p43"/>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05  </a:t>
            </a:r>
            <a:r>
              <a:rPr lang="en" sz="800">
                <a:solidFill>
                  <a:srgbClr val="6B6B6B"/>
                </a:solidFill>
                <a:latin typeface="Consolas"/>
                <a:ea typeface="Consolas"/>
                <a:cs typeface="Consolas"/>
                <a:sym typeface="Consolas"/>
              </a:rPr>
              <a:t>SYSTEM ARCHITECTURE   ·   SAME PIPELINE, THREE SURFACES</a:t>
            </a:r>
            <a:endParaRPr sz="1100"/>
          </a:p>
        </p:txBody>
      </p:sp>
      <p:sp>
        <p:nvSpPr>
          <p:cNvPr id="652" name="Google Shape;652;p43"/>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How the three layers fit</a:t>
            </a:r>
            <a:endParaRPr sz="1100"/>
          </a:p>
        </p:txBody>
      </p:sp>
      <p:cxnSp>
        <p:nvCxnSpPr>
          <p:cNvPr id="653" name="Google Shape;653;p43"/>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654" name="Google Shape;654;p43"/>
          <p:cNvSpPr/>
          <p:nvPr/>
        </p:nvSpPr>
        <p:spPr>
          <a:xfrm>
            <a:off x="582946" y="1440180"/>
            <a:ext cx="7978124" cy="82296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55" name="Google Shape;655;p43"/>
          <p:cNvSpPr/>
          <p:nvPr/>
        </p:nvSpPr>
        <p:spPr>
          <a:xfrm>
            <a:off x="582946" y="1440180"/>
            <a:ext cx="37720" cy="822960"/>
          </a:xfrm>
          <a:prstGeom prst="rect">
            <a:avLst/>
          </a:prstGeom>
          <a:solidFill>
            <a:srgbClr val="7C3AED"/>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56" name="Google Shape;656;p43"/>
          <p:cNvSpPr txBox="1"/>
          <p:nvPr/>
        </p:nvSpPr>
        <p:spPr>
          <a:xfrm>
            <a:off x="788691" y="1556766"/>
            <a:ext cx="17831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7C3AED"/>
                </a:solidFill>
                <a:latin typeface="Consolas"/>
                <a:ea typeface="Consolas"/>
                <a:cs typeface="Consolas"/>
                <a:sym typeface="Consolas"/>
              </a:rPr>
              <a:t>PRESENTATION LAYER</a:t>
            </a:r>
            <a:endParaRPr sz="1100"/>
          </a:p>
        </p:txBody>
      </p:sp>
      <p:sp>
        <p:nvSpPr>
          <p:cNvPr id="657" name="Google Shape;657;p43"/>
          <p:cNvSpPr txBox="1"/>
          <p:nvPr/>
        </p:nvSpPr>
        <p:spPr>
          <a:xfrm>
            <a:off x="788691" y="1762506"/>
            <a:ext cx="185170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300">
                <a:solidFill>
                  <a:srgbClr val="1A1A1A"/>
                </a:solidFill>
                <a:latin typeface="Georgia"/>
                <a:ea typeface="Georgia"/>
                <a:cs typeface="Georgia"/>
                <a:sym typeface="Georgia"/>
              </a:rPr>
              <a:t>Frontend</a:t>
            </a:r>
            <a:endParaRPr sz="1100"/>
          </a:p>
        </p:txBody>
      </p:sp>
      <p:sp>
        <p:nvSpPr>
          <p:cNvPr id="658" name="Google Shape;658;p43"/>
          <p:cNvSpPr/>
          <p:nvPr/>
        </p:nvSpPr>
        <p:spPr>
          <a:xfrm>
            <a:off x="2914728" y="15430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59" name="Google Shape;659;p43"/>
          <p:cNvSpPr txBox="1"/>
          <p:nvPr/>
        </p:nvSpPr>
        <p:spPr>
          <a:xfrm>
            <a:off x="3038175" y="16390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React 19 + TypeScript</a:t>
            </a:r>
            <a:endParaRPr sz="1100"/>
          </a:p>
        </p:txBody>
      </p:sp>
      <p:sp>
        <p:nvSpPr>
          <p:cNvPr id="660" name="Google Shape;660;p43"/>
          <p:cNvSpPr txBox="1"/>
          <p:nvPr/>
        </p:nvSpPr>
        <p:spPr>
          <a:xfrm>
            <a:off x="3038175" y="18242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Vite build, shadcn/ui components</a:t>
            </a:r>
            <a:endParaRPr sz="1100"/>
          </a:p>
        </p:txBody>
      </p:sp>
      <p:sp>
        <p:nvSpPr>
          <p:cNvPr id="661" name="Google Shape;661;p43"/>
          <p:cNvSpPr/>
          <p:nvPr/>
        </p:nvSpPr>
        <p:spPr>
          <a:xfrm>
            <a:off x="4739690" y="15430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62" name="Google Shape;662;p43"/>
          <p:cNvSpPr txBox="1"/>
          <p:nvPr/>
        </p:nvSpPr>
        <p:spPr>
          <a:xfrm>
            <a:off x="4863137" y="16390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Recharts</a:t>
            </a:r>
            <a:endParaRPr sz="1100"/>
          </a:p>
        </p:txBody>
      </p:sp>
      <p:sp>
        <p:nvSpPr>
          <p:cNvPr id="663" name="Google Shape;663;p43"/>
          <p:cNvSpPr txBox="1"/>
          <p:nvPr/>
        </p:nvSpPr>
        <p:spPr>
          <a:xfrm>
            <a:off x="4863137" y="18242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PCA scatter, elbow, histograms</a:t>
            </a:r>
            <a:endParaRPr sz="1100"/>
          </a:p>
        </p:txBody>
      </p:sp>
      <p:sp>
        <p:nvSpPr>
          <p:cNvPr id="664" name="Google Shape;664;p43"/>
          <p:cNvSpPr/>
          <p:nvPr/>
        </p:nvSpPr>
        <p:spPr>
          <a:xfrm>
            <a:off x="6564652" y="15430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65" name="Google Shape;665;p43"/>
          <p:cNvSpPr txBox="1"/>
          <p:nvPr/>
        </p:nvSpPr>
        <p:spPr>
          <a:xfrm>
            <a:off x="6688099" y="16390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TanStack Query</a:t>
            </a:r>
            <a:endParaRPr sz="1100"/>
          </a:p>
        </p:txBody>
      </p:sp>
      <p:sp>
        <p:nvSpPr>
          <p:cNvPr id="666" name="Google Shape;666;p43"/>
          <p:cNvSpPr txBox="1"/>
          <p:nvPr/>
        </p:nvSpPr>
        <p:spPr>
          <a:xfrm>
            <a:off x="6688099" y="18242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Data fetching and caching</a:t>
            </a:r>
            <a:endParaRPr sz="1100"/>
          </a:p>
        </p:txBody>
      </p:sp>
      <p:sp>
        <p:nvSpPr>
          <p:cNvPr id="667" name="Google Shape;667;p43"/>
          <p:cNvSpPr/>
          <p:nvPr/>
        </p:nvSpPr>
        <p:spPr>
          <a:xfrm>
            <a:off x="582946" y="2468880"/>
            <a:ext cx="7978124" cy="82296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68" name="Google Shape;668;p43"/>
          <p:cNvSpPr/>
          <p:nvPr/>
        </p:nvSpPr>
        <p:spPr>
          <a:xfrm>
            <a:off x="582946" y="2468880"/>
            <a:ext cx="37720" cy="822960"/>
          </a:xfrm>
          <a:prstGeom prst="rect">
            <a:avLst/>
          </a:prstGeom>
          <a:solidFill>
            <a:srgbClr val="0F766E"/>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69" name="Google Shape;669;p43"/>
          <p:cNvSpPr txBox="1"/>
          <p:nvPr/>
        </p:nvSpPr>
        <p:spPr>
          <a:xfrm>
            <a:off x="788691" y="2585466"/>
            <a:ext cx="17831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0F766E"/>
                </a:solidFill>
                <a:latin typeface="Consolas"/>
                <a:ea typeface="Consolas"/>
                <a:cs typeface="Consolas"/>
                <a:sym typeface="Consolas"/>
              </a:rPr>
              <a:t>APPLICATION LAYER</a:t>
            </a:r>
            <a:endParaRPr sz="1100"/>
          </a:p>
        </p:txBody>
      </p:sp>
      <p:sp>
        <p:nvSpPr>
          <p:cNvPr id="670" name="Google Shape;670;p43"/>
          <p:cNvSpPr txBox="1"/>
          <p:nvPr/>
        </p:nvSpPr>
        <p:spPr>
          <a:xfrm>
            <a:off x="788691" y="2791206"/>
            <a:ext cx="185170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300">
                <a:solidFill>
                  <a:srgbClr val="1A1A1A"/>
                </a:solidFill>
                <a:latin typeface="Georgia"/>
                <a:ea typeface="Georgia"/>
                <a:cs typeface="Georgia"/>
                <a:sym typeface="Georgia"/>
              </a:rPr>
              <a:t>Backend API</a:t>
            </a:r>
            <a:endParaRPr sz="1100"/>
          </a:p>
        </p:txBody>
      </p:sp>
      <p:sp>
        <p:nvSpPr>
          <p:cNvPr id="671" name="Google Shape;671;p43"/>
          <p:cNvSpPr/>
          <p:nvPr/>
        </p:nvSpPr>
        <p:spPr>
          <a:xfrm>
            <a:off x="2914728" y="25717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72" name="Google Shape;672;p43"/>
          <p:cNvSpPr txBox="1"/>
          <p:nvPr/>
        </p:nvSpPr>
        <p:spPr>
          <a:xfrm>
            <a:off x="3038175" y="26677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FastAPI + Uvicorn</a:t>
            </a:r>
            <a:endParaRPr sz="1100"/>
          </a:p>
        </p:txBody>
      </p:sp>
      <p:sp>
        <p:nvSpPr>
          <p:cNvPr id="673" name="Google Shape;673;p43"/>
          <p:cNvSpPr txBox="1"/>
          <p:nvPr/>
        </p:nvSpPr>
        <p:spPr>
          <a:xfrm>
            <a:off x="3038175" y="28529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Typed Pydantic response models</a:t>
            </a:r>
            <a:endParaRPr sz="1100"/>
          </a:p>
        </p:txBody>
      </p:sp>
      <p:sp>
        <p:nvSpPr>
          <p:cNvPr id="674" name="Google Shape;674;p43"/>
          <p:cNvSpPr/>
          <p:nvPr/>
        </p:nvSpPr>
        <p:spPr>
          <a:xfrm>
            <a:off x="4739690" y="25717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75" name="Google Shape;675;p43"/>
          <p:cNvSpPr txBox="1"/>
          <p:nvPr/>
        </p:nvSpPr>
        <p:spPr>
          <a:xfrm>
            <a:off x="4863137" y="26677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pipeline.py</a:t>
            </a:r>
            <a:endParaRPr sz="1100"/>
          </a:p>
        </p:txBody>
      </p:sp>
      <p:sp>
        <p:nvSpPr>
          <p:cNvPr id="676" name="Google Shape;676;p43"/>
          <p:cNvSpPr txBox="1"/>
          <p:nvPr/>
        </p:nvSpPr>
        <p:spPr>
          <a:xfrm>
            <a:off x="4863137" y="28529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The same code the notebook runs</a:t>
            </a:r>
            <a:endParaRPr sz="1100"/>
          </a:p>
        </p:txBody>
      </p:sp>
      <p:sp>
        <p:nvSpPr>
          <p:cNvPr id="677" name="Google Shape;677;p43"/>
          <p:cNvSpPr/>
          <p:nvPr/>
        </p:nvSpPr>
        <p:spPr>
          <a:xfrm>
            <a:off x="6564652" y="25717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78" name="Google Shape;678;p43"/>
          <p:cNvSpPr txBox="1"/>
          <p:nvPr/>
        </p:nvSpPr>
        <p:spPr>
          <a:xfrm>
            <a:off x="6688099" y="26677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In-memory cache</a:t>
            </a:r>
            <a:endParaRPr sz="1100"/>
          </a:p>
        </p:txBody>
      </p:sp>
      <p:sp>
        <p:nvSpPr>
          <p:cNvPr id="679" name="Google Shape;679;p43"/>
          <p:cNvSpPr txBox="1"/>
          <p:nvPr/>
        </p:nvSpPr>
        <p:spPr>
          <a:xfrm>
            <a:off x="6688099" y="28529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Pipeline runs once at startup</a:t>
            </a:r>
            <a:endParaRPr sz="1100"/>
          </a:p>
        </p:txBody>
      </p:sp>
      <p:sp>
        <p:nvSpPr>
          <p:cNvPr id="680" name="Google Shape;680;p43"/>
          <p:cNvSpPr/>
          <p:nvPr/>
        </p:nvSpPr>
        <p:spPr>
          <a:xfrm>
            <a:off x="582946" y="3497580"/>
            <a:ext cx="7978124" cy="82296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81" name="Google Shape;681;p43"/>
          <p:cNvSpPr/>
          <p:nvPr/>
        </p:nvSpPr>
        <p:spPr>
          <a:xfrm>
            <a:off x="582946" y="3497580"/>
            <a:ext cx="37720" cy="822960"/>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82" name="Google Shape;682;p43"/>
          <p:cNvSpPr txBox="1"/>
          <p:nvPr/>
        </p:nvSpPr>
        <p:spPr>
          <a:xfrm>
            <a:off x="788691" y="3614166"/>
            <a:ext cx="17831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B45309"/>
                </a:solidFill>
                <a:latin typeface="Consolas"/>
                <a:ea typeface="Consolas"/>
                <a:cs typeface="Consolas"/>
                <a:sym typeface="Consolas"/>
              </a:rPr>
              <a:t>DATA LAYER</a:t>
            </a:r>
            <a:endParaRPr sz="1100"/>
          </a:p>
        </p:txBody>
      </p:sp>
      <p:sp>
        <p:nvSpPr>
          <p:cNvPr id="683" name="Google Shape;683;p43"/>
          <p:cNvSpPr txBox="1"/>
          <p:nvPr/>
        </p:nvSpPr>
        <p:spPr>
          <a:xfrm>
            <a:off x="788691" y="3819906"/>
            <a:ext cx="1851709"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300">
                <a:solidFill>
                  <a:srgbClr val="1A1A1A"/>
                </a:solidFill>
                <a:latin typeface="Georgia"/>
                <a:ea typeface="Georgia"/>
                <a:cs typeface="Georgia"/>
                <a:sym typeface="Georgia"/>
              </a:rPr>
              <a:t>Storage</a:t>
            </a:r>
            <a:endParaRPr sz="1100"/>
          </a:p>
        </p:txBody>
      </p:sp>
      <p:sp>
        <p:nvSpPr>
          <p:cNvPr id="684" name="Google Shape;684;p43"/>
          <p:cNvSpPr/>
          <p:nvPr/>
        </p:nvSpPr>
        <p:spPr>
          <a:xfrm>
            <a:off x="2914728" y="36004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85" name="Google Shape;685;p43"/>
          <p:cNvSpPr txBox="1"/>
          <p:nvPr/>
        </p:nvSpPr>
        <p:spPr>
          <a:xfrm>
            <a:off x="3038175" y="36964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data.csv</a:t>
            </a:r>
            <a:endParaRPr sz="1100"/>
          </a:p>
        </p:txBody>
      </p:sp>
      <p:sp>
        <p:nvSpPr>
          <p:cNvPr id="686" name="Google Shape;686;p43"/>
          <p:cNvSpPr txBox="1"/>
          <p:nvPr/>
        </p:nvSpPr>
        <p:spPr>
          <a:xfrm>
            <a:off x="3038175" y="38816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541,909 raw transaction rows</a:t>
            </a:r>
            <a:endParaRPr sz="1100"/>
          </a:p>
        </p:txBody>
      </p:sp>
      <p:sp>
        <p:nvSpPr>
          <p:cNvPr id="687" name="Google Shape;687;p43"/>
          <p:cNvSpPr/>
          <p:nvPr/>
        </p:nvSpPr>
        <p:spPr>
          <a:xfrm>
            <a:off x="4739690" y="36004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88" name="Google Shape;688;p43"/>
          <p:cNvSpPr txBox="1"/>
          <p:nvPr/>
        </p:nvSpPr>
        <p:spPr>
          <a:xfrm>
            <a:off x="4863137" y="36964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SQLite</a:t>
            </a:r>
            <a:endParaRPr sz="1100"/>
          </a:p>
        </p:txBody>
      </p:sp>
      <p:sp>
        <p:nvSpPr>
          <p:cNvPr id="689" name="Google Shape;689;p43"/>
          <p:cNvSpPr txBox="1"/>
          <p:nvPr/>
        </p:nvSpPr>
        <p:spPr>
          <a:xfrm>
            <a:off x="4863137" y="38816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Product catalogue + demo purchases</a:t>
            </a:r>
            <a:endParaRPr sz="1100"/>
          </a:p>
        </p:txBody>
      </p:sp>
      <p:sp>
        <p:nvSpPr>
          <p:cNvPr id="690" name="Google Shape;690;p43"/>
          <p:cNvSpPr/>
          <p:nvPr/>
        </p:nvSpPr>
        <p:spPr>
          <a:xfrm>
            <a:off x="6564652" y="3600450"/>
            <a:ext cx="1715231" cy="617220"/>
          </a:xfrm>
          <a:prstGeom prst="rect">
            <a:avLst/>
          </a:prstGeom>
          <a:solidFill>
            <a:srgbClr val="FAF8F4"/>
          </a:solidFill>
          <a:ln cap="flat" cmpd="sng" w="9525">
            <a:solidFill>
              <a:srgbClr val="D8D4CC"/>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91" name="Google Shape;691;p43"/>
          <p:cNvSpPr txBox="1"/>
          <p:nvPr/>
        </p:nvSpPr>
        <p:spPr>
          <a:xfrm>
            <a:off x="6688099" y="3696462"/>
            <a:ext cx="1468337"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1A1A1A"/>
                </a:solidFill>
                <a:latin typeface="Calibri"/>
                <a:ea typeface="Calibri"/>
                <a:cs typeface="Calibri"/>
                <a:sym typeface="Calibri"/>
              </a:rPr>
              <a:t>scikit-learn models</a:t>
            </a:r>
            <a:endParaRPr sz="1100"/>
          </a:p>
        </p:txBody>
      </p:sp>
      <p:sp>
        <p:nvSpPr>
          <p:cNvPr id="692" name="Google Shape;692;p43"/>
          <p:cNvSpPr txBox="1"/>
          <p:nvPr/>
        </p:nvSpPr>
        <p:spPr>
          <a:xfrm>
            <a:off x="6688099" y="3881628"/>
            <a:ext cx="1468337" cy="30861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800">
                <a:solidFill>
                  <a:srgbClr val="6B6B6B"/>
                </a:solidFill>
                <a:latin typeface="Calibri"/>
                <a:ea typeface="Calibri"/>
                <a:cs typeface="Calibri"/>
                <a:sym typeface="Calibri"/>
              </a:rPr>
              <a:t>Fitted scaler, K-Means, PCA, LR</a:t>
            </a:r>
            <a:endParaRPr sz="1100"/>
          </a:p>
        </p:txBody>
      </p:sp>
      <p:sp>
        <p:nvSpPr>
          <p:cNvPr id="693" name="Google Shape;693;p43"/>
          <p:cNvSpPr/>
          <p:nvPr/>
        </p:nvSpPr>
        <p:spPr>
          <a:xfrm rot="10800000">
            <a:off x="4469134" y="2290572"/>
            <a:ext cx="205745" cy="150876"/>
          </a:xfrm>
          <a:prstGeom prst="triangle">
            <a:avLst>
              <a:gd fmla="val 50000" name="adj"/>
            </a:avLst>
          </a:prstGeom>
          <a:solidFill>
            <a:srgbClr val="D8D4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94" name="Google Shape;694;p43"/>
          <p:cNvSpPr/>
          <p:nvPr/>
        </p:nvSpPr>
        <p:spPr>
          <a:xfrm rot="10800000">
            <a:off x="4469134" y="3319272"/>
            <a:ext cx="205745" cy="150876"/>
          </a:xfrm>
          <a:prstGeom prst="triangle">
            <a:avLst>
              <a:gd fmla="val 50000" name="adj"/>
            </a:avLst>
          </a:prstGeom>
          <a:solidFill>
            <a:srgbClr val="D8D4C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695" name="Google Shape;695;p43"/>
          <p:cNvSpPr txBox="1"/>
          <p:nvPr/>
        </p:nvSpPr>
        <p:spPr>
          <a:xfrm>
            <a:off x="582946" y="4402836"/>
            <a:ext cx="7978124"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1" lang="en" sz="1000">
                <a:solidFill>
                  <a:srgbClr val="B45309"/>
                </a:solidFill>
                <a:latin typeface="Georgia"/>
                <a:ea typeface="Georgia"/>
                <a:cs typeface="Georgia"/>
                <a:sym typeface="Georgia"/>
              </a:rPr>
              <a:t>Key decision: the backend imports the notebook's own pipeline — dashboard and analysis can never disagree.</a:t>
            </a:r>
            <a:endParaRPr sz="1100"/>
          </a:p>
        </p:txBody>
      </p:sp>
      <p:cxnSp>
        <p:nvCxnSpPr>
          <p:cNvPr id="696" name="Google Shape;696;p43"/>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697" name="Google Shape;697;p43"/>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698" name="Google Shape;698;p43"/>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20 / 28</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44"/>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05" name="Google Shape;705;p44"/>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05  </a:t>
            </a:r>
            <a:r>
              <a:rPr lang="en" sz="800">
                <a:solidFill>
                  <a:srgbClr val="6B6B6B"/>
                </a:solidFill>
                <a:latin typeface="Consolas"/>
                <a:ea typeface="Consolas"/>
                <a:cs typeface="Consolas"/>
                <a:sym typeface="Consolas"/>
              </a:rPr>
              <a:t>BACKEND   ·   FASTAPI · TYPED RESPONSES · CACHED AT STARTUP</a:t>
            </a:r>
            <a:endParaRPr sz="1100"/>
          </a:p>
        </p:txBody>
      </p:sp>
      <p:sp>
        <p:nvSpPr>
          <p:cNvPr id="706" name="Google Shape;706;p44"/>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The API surface</a:t>
            </a:r>
            <a:endParaRPr sz="1100"/>
          </a:p>
        </p:txBody>
      </p:sp>
      <p:cxnSp>
        <p:nvCxnSpPr>
          <p:cNvPr id="707" name="Google Shape;707;p44"/>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08" name="Google Shape;708;p44"/>
          <p:cNvSpPr txBox="1"/>
          <p:nvPr/>
        </p:nvSpPr>
        <p:spPr>
          <a:xfrm>
            <a:off x="582946" y="1508760"/>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/summary</a:t>
            </a:r>
            <a:endParaRPr sz="1100"/>
          </a:p>
        </p:txBody>
      </p:sp>
      <p:sp>
        <p:nvSpPr>
          <p:cNvPr id="709" name="Google Shape;709;p44"/>
          <p:cNvSpPr txBox="1"/>
          <p:nvPr/>
        </p:nvSpPr>
        <p:spPr>
          <a:xfrm>
            <a:off x="3806291" y="1508760"/>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Total customers, revenue, churn rate, cluster count</a:t>
            </a:r>
            <a:endParaRPr sz="1100"/>
          </a:p>
        </p:txBody>
      </p:sp>
      <p:cxnSp>
        <p:nvCxnSpPr>
          <p:cNvPr id="710" name="Google Shape;710;p44"/>
          <p:cNvCxnSpPr/>
          <p:nvPr/>
        </p:nvCxnSpPr>
        <p:spPr>
          <a:xfrm>
            <a:off x="582946" y="1748790"/>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11" name="Google Shape;711;p44"/>
          <p:cNvSpPr txBox="1"/>
          <p:nvPr/>
        </p:nvSpPr>
        <p:spPr>
          <a:xfrm>
            <a:off x="582946" y="1810512"/>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/clusters</a:t>
            </a:r>
            <a:endParaRPr sz="1100"/>
          </a:p>
        </p:txBody>
      </p:sp>
      <p:sp>
        <p:nvSpPr>
          <p:cNvPr id="712" name="Google Shape;712;p44"/>
          <p:cNvSpPr txBox="1"/>
          <p:nvPr/>
        </p:nvSpPr>
        <p:spPr>
          <a:xfrm>
            <a:off x="3806291" y="1810512"/>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Per-cluster size, mean RFM and churn rate</a:t>
            </a:r>
            <a:endParaRPr sz="1100"/>
          </a:p>
        </p:txBody>
      </p:sp>
      <p:cxnSp>
        <p:nvCxnSpPr>
          <p:cNvPr id="713" name="Google Shape;713;p44"/>
          <p:cNvCxnSpPr/>
          <p:nvPr/>
        </p:nvCxnSpPr>
        <p:spPr>
          <a:xfrm>
            <a:off x="582946" y="205054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14" name="Google Shape;714;p44"/>
          <p:cNvSpPr txBox="1"/>
          <p:nvPr/>
        </p:nvSpPr>
        <p:spPr>
          <a:xfrm>
            <a:off x="582946" y="2112264"/>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/customers</a:t>
            </a:r>
            <a:endParaRPr sz="1100"/>
          </a:p>
        </p:txBody>
      </p:sp>
      <p:sp>
        <p:nvSpPr>
          <p:cNvPr id="715" name="Google Shape;715;p44"/>
          <p:cNvSpPr txBox="1"/>
          <p:nvPr/>
        </p:nvSpPr>
        <p:spPr>
          <a:xfrm>
            <a:off x="3806291" y="2112264"/>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Paginated directory — filter by cluster and churn band</a:t>
            </a:r>
            <a:endParaRPr sz="1100"/>
          </a:p>
        </p:txBody>
      </p:sp>
      <p:cxnSp>
        <p:nvCxnSpPr>
          <p:cNvPr id="716" name="Google Shape;716;p44"/>
          <p:cNvCxnSpPr/>
          <p:nvPr/>
        </p:nvCxnSpPr>
        <p:spPr>
          <a:xfrm>
            <a:off x="582946" y="235229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17" name="Google Shape;717;p44"/>
          <p:cNvSpPr txBox="1"/>
          <p:nvPr/>
        </p:nvSpPr>
        <p:spPr>
          <a:xfrm>
            <a:off x="582946" y="2414016"/>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/customers/{id}/transactions</a:t>
            </a:r>
            <a:endParaRPr sz="1100"/>
          </a:p>
        </p:txBody>
      </p:sp>
      <p:sp>
        <p:nvSpPr>
          <p:cNvPr id="718" name="Google Shape;718;p44"/>
          <p:cNvSpPr txBox="1"/>
          <p:nvPr/>
        </p:nvSpPr>
        <p:spPr>
          <a:xfrm>
            <a:off x="3806291" y="2414016"/>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Full invoice history for one customer</a:t>
            </a:r>
            <a:endParaRPr sz="1100"/>
          </a:p>
        </p:txBody>
      </p:sp>
      <p:cxnSp>
        <p:nvCxnSpPr>
          <p:cNvPr id="719" name="Google Shape;719;p44"/>
          <p:cNvCxnSpPr/>
          <p:nvPr/>
        </p:nvCxnSpPr>
        <p:spPr>
          <a:xfrm>
            <a:off x="582946" y="265404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20" name="Google Shape;720;p44"/>
          <p:cNvSpPr txBox="1"/>
          <p:nvPr/>
        </p:nvSpPr>
        <p:spPr>
          <a:xfrm>
            <a:off x="582946" y="2715768"/>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/charts/pca-scatter</a:t>
            </a:r>
            <a:endParaRPr sz="1100"/>
          </a:p>
        </p:txBody>
      </p:sp>
      <p:sp>
        <p:nvSpPr>
          <p:cNvPr id="721" name="Google Shape;721;p44"/>
          <p:cNvSpPr txBox="1"/>
          <p:nvPr/>
        </p:nvSpPr>
        <p:spPr>
          <a:xfrm>
            <a:off x="3806291" y="2715768"/>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De-duplicated 2-D projection points for plotting</a:t>
            </a:r>
            <a:endParaRPr sz="1100"/>
          </a:p>
        </p:txBody>
      </p:sp>
      <p:cxnSp>
        <p:nvCxnSpPr>
          <p:cNvPr id="722" name="Google Shape;722;p44"/>
          <p:cNvCxnSpPr/>
          <p:nvPr/>
        </p:nvCxnSpPr>
        <p:spPr>
          <a:xfrm>
            <a:off x="582946" y="295579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23" name="Google Shape;723;p44"/>
          <p:cNvSpPr txBox="1"/>
          <p:nvPr/>
        </p:nvSpPr>
        <p:spPr>
          <a:xfrm>
            <a:off x="582946" y="3017520"/>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/charts/churn-distribution</a:t>
            </a:r>
            <a:endParaRPr sz="1100"/>
          </a:p>
        </p:txBody>
      </p:sp>
      <p:sp>
        <p:nvSpPr>
          <p:cNvPr id="724" name="Google Shape;724;p44"/>
          <p:cNvSpPr txBox="1"/>
          <p:nvPr/>
        </p:nvSpPr>
        <p:spPr>
          <a:xfrm>
            <a:off x="3806291" y="3017520"/>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Pre-binned churn probability histogram</a:t>
            </a:r>
            <a:endParaRPr sz="1100"/>
          </a:p>
        </p:txBody>
      </p:sp>
      <p:cxnSp>
        <p:nvCxnSpPr>
          <p:cNvPr id="725" name="Google Shape;725;p44"/>
          <p:cNvCxnSpPr/>
          <p:nvPr/>
        </p:nvCxnSpPr>
        <p:spPr>
          <a:xfrm>
            <a:off x="582946" y="3257550"/>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26" name="Google Shape;726;p44"/>
          <p:cNvSpPr txBox="1"/>
          <p:nvPr/>
        </p:nvSpPr>
        <p:spPr>
          <a:xfrm>
            <a:off x="582946" y="3319272"/>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/charts/rfm-distribution</a:t>
            </a:r>
            <a:endParaRPr sz="1100"/>
          </a:p>
        </p:txBody>
      </p:sp>
      <p:sp>
        <p:nvSpPr>
          <p:cNvPr id="727" name="Google Shape;727;p44"/>
          <p:cNvSpPr txBox="1"/>
          <p:nvPr/>
        </p:nvSpPr>
        <p:spPr>
          <a:xfrm>
            <a:off x="3806291" y="3319272"/>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Pre-binned R, F and M histograms (99th-pct clipped)</a:t>
            </a:r>
            <a:endParaRPr sz="1100"/>
          </a:p>
        </p:txBody>
      </p:sp>
      <p:cxnSp>
        <p:nvCxnSpPr>
          <p:cNvPr id="728" name="Google Shape;728;p44"/>
          <p:cNvCxnSpPr/>
          <p:nvPr/>
        </p:nvCxnSpPr>
        <p:spPr>
          <a:xfrm>
            <a:off x="582946" y="355930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29" name="Google Shape;729;p44"/>
          <p:cNvSpPr txBox="1"/>
          <p:nvPr/>
        </p:nvSpPr>
        <p:spPr>
          <a:xfrm>
            <a:off x="582946" y="3621024"/>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GET  /charts/elbow</a:t>
            </a:r>
            <a:endParaRPr sz="1100"/>
          </a:p>
        </p:txBody>
      </p:sp>
      <p:sp>
        <p:nvSpPr>
          <p:cNvPr id="730" name="Google Shape;730;p44"/>
          <p:cNvSpPr txBox="1"/>
          <p:nvPr/>
        </p:nvSpPr>
        <p:spPr>
          <a:xfrm>
            <a:off x="3806291" y="3621024"/>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WCSS per K — the elbow curve, served to the UI</a:t>
            </a:r>
            <a:endParaRPr sz="1100"/>
          </a:p>
        </p:txBody>
      </p:sp>
      <p:cxnSp>
        <p:nvCxnSpPr>
          <p:cNvPr id="731" name="Google Shape;731;p44"/>
          <p:cNvCxnSpPr/>
          <p:nvPr/>
        </p:nvCxnSpPr>
        <p:spPr>
          <a:xfrm>
            <a:off x="582946" y="386105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32" name="Google Shape;732;p44"/>
          <p:cNvSpPr txBox="1"/>
          <p:nvPr/>
        </p:nvSpPr>
        <p:spPr>
          <a:xfrm>
            <a:off x="582946" y="3922776"/>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B45309"/>
                </a:solidFill>
                <a:latin typeface="Consolas"/>
                <a:ea typeface="Consolas"/>
                <a:cs typeface="Consolas"/>
                <a:sym typeface="Consolas"/>
              </a:rPr>
              <a:t>POST /demo/purchase</a:t>
            </a:r>
            <a:endParaRPr sz="1100"/>
          </a:p>
        </p:txBody>
      </p:sp>
      <p:sp>
        <p:nvSpPr>
          <p:cNvPr id="733" name="Google Shape;733;p44"/>
          <p:cNvSpPr txBox="1"/>
          <p:nvPr/>
        </p:nvSpPr>
        <p:spPr>
          <a:xfrm>
            <a:off x="3806291" y="3922776"/>
            <a:ext cx="4732146"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6B6B6B"/>
                </a:solidFill>
                <a:latin typeface="Calibri"/>
                <a:ea typeface="Calibri"/>
                <a:cs typeface="Calibri"/>
                <a:sym typeface="Calibri"/>
              </a:rPr>
              <a:t>Records a live purchase and re-segments that customer</a:t>
            </a:r>
            <a:endParaRPr sz="1100"/>
          </a:p>
        </p:txBody>
      </p:sp>
      <p:cxnSp>
        <p:nvCxnSpPr>
          <p:cNvPr id="734" name="Google Shape;734;p44"/>
          <p:cNvCxnSpPr/>
          <p:nvPr/>
        </p:nvCxnSpPr>
        <p:spPr>
          <a:xfrm>
            <a:off x="582946" y="416280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35" name="Google Shape;735;p44"/>
          <p:cNvSpPr/>
          <p:nvPr/>
        </p:nvSpPr>
        <p:spPr>
          <a:xfrm>
            <a:off x="582946" y="4423410"/>
            <a:ext cx="7978124" cy="34290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36" name="Google Shape;736;p44"/>
          <p:cNvSpPr txBox="1"/>
          <p:nvPr/>
        </p:nvSpPr>
        <p:spPr>
          <a:xfrm>
            <a:off x="754400" y="4512564"/>
            <a:ext cx="7635215"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900">
                <a:solidFill>
                  <a:srgbClr val="1A1A1A"/>
                </a:solidFill>
                <a:latin typeface="Calibri"/>
                <a:ea typeface="Calibri"/>
                <a:cs typeface="Calibri"/>
                <a:sym typeface="Calibri"/>
              </a:rPr>
              <a:t>Charts are binned server-side and cached, so the browser never handles 4,339 raw rows — the dashboard stays responsive.</a:t>
            </a:r>
            <a:endParaRPr sz="1100"/>
          </a:p>
        </p:txBody>
      </p:sp>
      <p:cxnSp>
        <p:nvCxnSpPr>
          <p:cNvPr id="737" name="Google Shape;737;p44"/>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38" name="Google Shape;738;p44"/>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739" name="Google Shape;739;p44"/>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21 / 28</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45"/>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46" name="Google Shape;746;p45"/>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05  </a:t>
            </a:r>
            <a:r>
              <a:rPr lang="en" sz="800">
                <a:solidFill>
                  <a:srgbClr val="6B6B6B"/>
                </a:solidFill>
                <a:latin typeface="Consolas"/>
                <a:ea typeface="Consolas"/>
                <a:cs typeface="Consolas"/>
                <a:sym typeface="Consolas"/>
              </a:rPr>
              <a:t>FRONTEND   ·   SIX SECTIONS, READ TOP TO BOTTOM</a:t>
            </a:r>
            <a:endParaRPr sz="1100"/>
          </a:p>
        </p:txBody>
      </p:sp>
      <p:sp>
        <p:nvSpPr>
          <p:cNvPr id="747" name="Google Shape;747;p45"/>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The dashboard</a:t>
            </a:r>
            <a:endParaRPr sz="1100"/>
          </a:p>
        </p:txBody>
      </p:sp>
      <p:cxnSp>
        <p:nvCxnSpPr>
          <p:cNvPr id="748" name="Google Shape;748;p45"/>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49" name="Google Shape;749;p45"/>
          <p:cNvSpPr txBox="1"/>
          <p:nvPr/>
        </p:nvSpPr>
        <p:spPr>
          <a:xfrm>
            <a:off x="582946" y="1495044"/>
            <a:ext cx="411491"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800">
                <a:solidFill>
                  <a:srgbClr val="B45309"/>
                </a:solidFill>
                <a:latin typeface="Consolas"/>
                <a:ea typeface="Consolas"/>
                <a:cs typeface="Consolas"/>
                <a:sym typeface="Consolas"/>
              </a:rPr>
              <a:t>01</a:t>
            </a:r>
            <a:endParaRPr sz="1100"/>
          </a:p>
        </p:txBody>
      </p:sp>
      <p:sp>
        <p:nvSpPr>
          <p:cNvPr id="750" name="Google Shape;750;p45"/>
          <p:cNvSpPr txBox="1"/>
          <p:nvPr/>
        </p:nvSpPr>
        <p:spPr>
          <a:xfrm>
            <a:off x="1097309" y="1460754"/>
            <a:ext cx="1714546"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Overview</a:t>
            </a:r>
            <a:endParaRPr sz="1100"/>
          </a:p>
        </p:txBody>
      </p:sp>
      <p:sp>
        <p:nvSpPr>
          <p:cNvPr id="751" name="Google Shape;751;p45"/>
          <p:cNvSpPr txBox="1"/>
          <p:nvPr/>
        </p:nvSpPr>
        <p:spPr>
          <a:xfrm>
            <a:off x="2983310" y="1488186"/>
            <a:ext cx="5555128" cy="34290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 sz="900">
                <a:solidFill>
                  <a:srgbClr val="6B6B6B"/>
                </a:solidFill>
                <a:latin typeface="Calibri"/>
                <a:ea typeface="Calibri"/>
                <a:cs typeface="Calibri"/>
                <a:sym typeface="Calibri"/>
              </a:rPr>
              <a:t>Four headline indicators: total customers, total revenue, churn rate and cluster count — recomputed live for the selected threshold.</a:t>
            </a:r>
            <a:endParaRPr sz="1100"/>
          </a:p>
        </p:txBody>
      </p:sp>
      <p:cxnSp>
        <p:nvCxnSpPr>
          <p:cNvPr id="752" name="Google Shape;752;p45"/>
          <p:cNvCxnSpPr/>
          <p:nvPr/>
        </p:nvCxnSpPr>
        <p:spPr>
          <a:xfrm>
            <a:off x="582946" y="183794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53" name="Google Shape;753;p45"/>
          <p:cNvSpPr txBox="1"/>
          <p:nvPr/>
        </p:nvSpPr>
        <p:spPr>
          <a:xfrm>
            <a:off x="582946" y="1947672"/>
            <a:ext cx="411491"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800">
                <a:solidFill>
                  <a:srgbClr val="B45309"/>
                </a:solidFill>
                <a:latin typeface="Consolas"/>
                <a:ea typeface="Consolas"/>
                <a:cs typeface="Consolas"/>
                <a:sym typeface="Consolas"/>
              </a:rPr>
              <a:t>02</a:t>
            </a:r>
            <a:endParaRPr sz="1100"/>
          </a:p>
        </p:txBody>
      </p:sp>
      <p:sp>
        <p:nvSpPr>
          <p:cNvPr id="754" name="Google Shape;754;p45"/>
          <p:cNvSpPr txBox="1"/>
          <p:nvPr/>
        </p:nvSpPr>
        <p:spPr>
          <a:xfrm>
            <a:off x="1097309" y="1913382"/>
            <a:ext cx="1714546"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The Segments</a:t>
            </a:r>
            <a:endParaRPr sz="1100"/>
          </a:p>
        </p:txBody>
      </p:sp>
      <p:sp>
        <p:nvSpPr>
          <p:cNvPr id="755" name="Google Shape;755;p45"/>
          <p:cNvSpPr txBox="1"/>
          <p:nvPr/>
        </p:nvSpPr>
        <p:spPr>
          <a:xfrm>
            <a:off x="2983310" y="1940814"/>
            <a:ext cx="5555128" cy="34290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 sz="900">
                <a:solidFill>
                  <a:srgbClr val="6B6B6B"/>
                </a:solidFill>
                <a:latin typeface="Calibri"/>
                <a:ea typeface="Calibri"/>
                <a:cs typeface="Calibri"/>
                <a:sym typeface="Calibri"/>
              </a:rPr>
              <a:t>The cluster table: size, mean recency, frequency, monetary value and churn rate for each of the four groups.</a:t>
            </a:r>
            <a:endParaRPr sz="1100"/>
          </a:p>
        </p:txBody>
      </p:sp>
      <p:cxnSp>
        <p:nvCxnSpPr>
          <p:cNvPr id="756" name="Google Shape;756;p45"/>
          <p:cNvCxnSpPr/>
          <p:nvPr/>
        </p:nvCxnSpPr>
        <p:spPr>
          <a:xfrm>
            <a:off x="582946" y="229057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57" name="Google Shape;757;p45"/>
          <p:cNvSpPr txBox="1"/>
          <p:nvPr/>
        </p:nvSpPr>
        <p:spPr>
          <a:xfrm>
            <a:off x="582946" y="2400300"/>
            <a:ext cx="411491"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800">
                <a:solidFill>
                  <a:srgbClr val="B45309"/>
                </a:solidFill>
                <a:latin typeface="Consolas"/>
                <a:ea typeface="Consolas"/>
                <a:cs typeface="Consolas"/>
                <a:sym typeface="Consolas"/>
              </a:rPr>
              <a:t>03</a:t>
            </a:r>
            <a:endParaRPr sz="1100"/>
          </a:p>
        </p:txBody>
      </p:sp>
      <p:sp>
        <p:nvSpPr>
          <p:cNvPr id="758" name="Google Shape;758;p45"/>
          <p:cNvSpPr txBox="1"/>
          <p:nvPr/>
        </p:nvSpPr>
        <p:spPr>
          <a:xfrm>
            <a:off x="1097309" y="2366010"/>
            <a:ext cx="1714546"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Distribution</a:t>
            </a:r>
            <a:endParaRPr sz="1100"/>
          </a:p>
        </p:txBody>
      </p:sp>
      <p:sp>
        <p:nvSpPr>
          <p:cNvPr id="759" name="Google Shape;759;p45"/>
          <p:cNvSpPr txBox="1"/>
          <p:nvPr/>
        </p:nvSpPr>
        <p:spPr>
          <a:xfrm>
            <a:off x="2983310" y="2393442"/>
            <a:ext cx="5555128" cy="34290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 sz="900">
                <a:solidFill>
                  <a:srgbClr val="6B6B6B"/>
                </a:solidFill>
                <a:latin typeface="Calibri"/>
                <a:ea typeface="Calibri"/>
                <a:cs typeface="Calibri"/>
                <a:sym typeface="Calibri"/>
              </a:rPr>
              <a:t>PCA scatter of every customer coloured by cluster, beside the churn-probability density.</a:t>
            </a:r>
            <a:endParaRPr sz="1100"/>
          </a:p>
        </p:txBody>
      </p:sp>
      <p:cxnSp>
        <p:nvCxnSpPr>
          <p:cNvPr id="760" name="Google Shape;760;p45"/>
          <p:cNvCxnSpPr/>
          <p:nvPr/>
        </p:nvCxnSpPr>
        <p:spPr>
          <a:xfrm>
            <a:off x="582946" y="2743200"/>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61" name="Google Shape;761;p45"/>
          <p:cNvSpPr txBox="1"/>
          <p:nvPr/>
        </p:nvSpPr>
        <p:spPr>
          <a:xfrm>
            <a:off x="582946" y="2852928"/>
            <a:ext cx="411491"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800">
                <a:solidFill>
                  <a:srgbClr val="B45309"/>
                </a:solidFill>
                <a:latin typeface="Consolas"/>
                <a:ea typeface="Consolas"/>
                <a:cs typeface="Consolas"/>
                <a:sym typeface="Consolas"/>
              </a:rPr>
              <a:t>04</a:t>
            </a:r>
            <a:endParaRPr sz="1100"/>
          </a:p>
        </p:txBody>
      </p:sp>
      <p:sp>
        <p:nvSpPr>
          <p:cNvPr id="762" name="Google Shape;762;p45"/>
          <p:cNvSpPr txBox="1"/>
          <p:nvPr/>
        </p:nvSpPr>
        <p:spPr>
          <a:xfrm>
            <a:off x="1097309" y="2818638"/>
            <a:ext cx="1714546"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Directory</a:t>
            </a:r>
            <a:endParaRPr sz="1100"/>
          </a:p>
        </p:txBody>
      </p:sp>
      <p:sp>
        <p:nvSpPr>
          <p:cNvPr id="763" name="Google Shape;763;p45"/>
          <p:cNvSpPr txBox="1"/>
          <p:nvPr/>
        </p:nvSpPr>
        <p:spPr>
          <a:xfrm>
            <a:off x="2983310" y="2846070"/>
            <a:ext cx="5555128" cy="34290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 sz="900">
                <a:solidFill>
                  <a:srgbClr val="6B6B6B"/>
                </a:solidFill>
                <a:latin typeface="Calibri"/>
                <a:ea typeface="Calibri"/>
                <a:cs typeface="Calibri"/>
                <a:sym typeface="Calibri"/>
              </a:rPr>
              <a:t>Paginated, filterable per-customer table — cluster, RFM, churn score and email. The list a campaign is actually built from.</a:t>
            </a:r>
            <a:endParaRPr sz="1100"/>
          </a:p>
        </p:txBody>
      </p:sp>
      <p:cxnSp>
        <p:nvCxnSpPr>
          <p:cNvPr id="764" name="Google Shape;764;p45"/>
          <p:cNvCxnSpPr/>
          <p:nvPr/>
        </p:nvCxnSpPr>
        <p:spPr>
          <a:xfrm>
            <a:off x="582946" y="319582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65" name="Google Shape;765;p45"/>
          <p:cNvSpPr txBox="1"/>
          <p:nvPr/>
        </p:nvSpPr>
        <p:spPr>
          <a:xfrm>
            <a:off x="582946" y="3305556"/>
            <a:ext cx="411491"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800">
                <a:solidFill>
                  <a:srgbClr val="B45309"/>
                </a:solidFill>
                <a:latin typeface="Consolas"/>
                <a:ea typeface="Consolas"/>
                <a:cs typeface="Consolas"/>
                <a:sym typeface="Consolas"/>
              </a:rPr>
              <a:t>05</a:t>
            </a:r>
            <a:endParaRPr sz="1100"/>
          </a:p>
        </p:txBody>
      </p:sp>
      <p:sp>
        <p:nvSpPr>
          <p:cNvPr id="766" name="Google Shape;766;p45"/>
          <p:cNvSpPr txBox="1"/>
          <p:nvPr/>
        </p:nvSpPr>
        <p:spPr>
          <a:xfrm>
            <a:off x="1097309" y="3271266"/>
            <a:ext cx="1714546"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Method</a:t>
            </a:r>
            <a:endParaRPr sz="1100"/>
          </a:p>
        </p:txBody>
      </p:sp>
      <p:sp>
        <p:nvSpPr>
          <p:cNvPr id="767" name="Google Shape;767;p45"/>
          <p:cNvSpPr txBox="1"/>
          <p:nvPr/>
        </p:nvSpPr>
        <p:spPr>
          <a:xfrm>
            <a:off x="2983310" y="3298698"/>
            <a:ext cx="5555128" cy="34290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 sz="900">
                <a:solidFill>
                  <a:srgbClr val="6B6B6B"/>
                </a:solidFill>
                <a:latin typeface="Calibri"/>
                <a:ea typeface="Calibri"/>
                <a:cs typeface="Calibri"/>
                <a:sym typeface="Calibri"/>
              </a:rPr>
              <a:t>RFM distributions and the elbow plot, exposed in the product so the modelling choices are auditable rather than hidden.</a:t>
            </a:r>
            <a:endParaRPr sz="1100"/>
          </a:p>
        </p:txBody>
      </p:sp>
      <p:cxnSp>
        <p:nvCxnSpPr>
          <p:cNvPr id="768" name="Google Shape;768;p45"/>
          <p:cNvCxnSpPr/>
          <p:nvPr/>
        </p:nvCxnSpPr>
        <p:spPr>
          <a:xfrm>
            <a:off x="582946" y="36484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69" name="Google Shape;769;p45"/>
          <p:cNvSpPr txBox="1"/>
          <p:nvPr/>
        </p:nvSpPr>
        <p:spPr>
          <a:xfrm>
            <a:off x="582946" y="3758184"/>
            <a:ext cx="411491"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800">
                <a:solidFill>
                  <a:srgbClr val="B45309"/>
                </a:solidFill>
                <a:latin typeface="Consolas"/>
                <a:ea typeface="Consolas"/>
                <a:cs typeface="Consolas"/>
                <a:sym typeface="Consolas"/>
              </a:rPr>
              <a:t>06</a:t>
            </a:r>
            <a:endParaRPr sz="1100"/>
          </a:p>
        </p:txBody>
      </p:sp>
      <p:sp>
        <p:nvSpPr>
          <p:cNvPr id="770" name="Google Shape;770;p45"/>
          <p:cNvSpPr txBox="1"/>
          <p:nvPr/>
        </p:nvSpPr>
        <p:spPr>
          <a:xfrm>
            <a:off x="1097309" y="3723894"/>
            <a:ext cx="1714546" cy="24003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Researchers</a:t>
            </a:r>
            <a:endParaRPr sz="1100"/>
          </a:p>
        </p:txBody>
      </p:sp>
      <p:sp>
        <p:nvSpPr>
          <p:cNvPr id="771" name="Google Shape;771;p45"/>
          <p:cNvSpPr txBox="1"/>
          <p:nvPr/>
        </p:nvSpPr>
        <p:spPr>
          <a:xfrm>
            <a:off x="2983310" y="3751326"/>
            <a:ext cx="5555128" cy="34290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 sz="900">
                <a:solidFill>
                  <a:srgbClr val="6B6B6B"/>
                </a:solidFill>
                <a:latin typeface="Calibri"/>
                <a:ea typeface="Calibri"/>
                <a:cs typeface="Calibri"/>
                <a:sym typeface="Calibri"/>
              </a:rPr>
              <a:t>Project attribution.</a:t>
            </a:r>
            <a:endParaRPr sz="1100"/>
          </a:p>
        </p:txBody>
      </p:sp>
      <p:cxnSp>
        <p:nvCxnSpPr>
          <p:cNvPr id="772" name="Google Shape;772;p45"/>
          <p:cNvCxnSpPr/>
          <p:nvPr/>
        </p:nvCxnSpPr>
        <p:spPr>
          <a:xfrm>
            <a:off x="582946" y="410108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73" name="Google Shape;773;p45"/>
          <p:cNvSpPr/>
          <p:nvPr/>
        </p:nvSpPr>
        <p:spPr>
          <a:xfrm>
            <a:off x="582946" y="4251960"/>
            <a:ext cx="7978124" cy="42519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74" name="Google Shape;774;p45"/>
          <p:cNvSpPr txBox="1"/>
          <p:nvPr/>
        </p:nvSpPr>
        <p:spPr>
          <a:xfrm>
            <a:off x="754400" y="4347972"/>
            <a:ext cx="7635215" cy="274320"/>
          </a:xfrm>
          <a:prstGeom prst="rect">
            <a:avLst/>
          </a:prstGeom>
          <a:noFill/>
          <a:ln>
            <a:noFill/>
          </a:ln>
        </p:spPr>
        <p:txBody>
          <a:bodyPr anchorCtr="0" anchor="t" bIns="0" lIns="0" spcFirstLastPara="1" rIns="0" wrap="square" tIns="0">
            <a:spAutoFit/>
          </a:bodyPr>
          <a:lstStyle/>
          <a:p>
            <a:pPr indent="0" lvl="0" marL="0" marR="0" rtl="0" algn="l">
              <a:lnSpc>
                <a:spcPct val="122000"/>
              </a:lnSpc>
              <a:spcBef>
                <a:spcPts val="0"/>
              </a:spcBef>
              <a:spcAft>
                <a:spcPts val="0"/>
              </a:spcAft>
              <a:buNone/>
            </a:pPr>
            <a:r>
              <a:rPr b="0" i="0" lang="en" sz="900">
                <a:solidFill>
                  <a:srgbClr val="1A1A1A"/>
                </a:solidFill>
                <a:latin typeface="Calibri"/>
                <a:ea typeface="Calibri"/>
                <a:cs typeface="Calibri"/>
                <a:sym typeface="Calibri"/>
              </a:rPr>
              <a:t>Header control: the churn threshold (30 / 60 / 90 / 120 / 180 days) recomputes the whole dashboard — the definition of churn belongs to the user, not to us.</a:t>
            </a:r>
            <a:endParaRPr sz="1100"/>
          </a:p>
        </p:txBody>
      </p:sp>
      <p:cxnSp>
        <p:nvCxnSpPr>
          <p:cNvPr id="775" name="Google Shape;775;p45"/>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76" name="Google Shape;776;p45"/>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777" name="Google Shape;777;p45"/>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22 / 28</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46"/>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84" name="Google Shape;784;p46"/>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05  </a:t>
            </a:r>
            <a:r>
              <a:rPr lang="en" sz="800">
                <a:solidFill>
                  <a:srgbClr val="6B6B6B"/>
                </a:solidFill>
                <a:latin typeface="Consolas"/>
                <a:ea typeface="Consolas"/>
                <a:cs typeface="Consolas"/>
                <a:sym typeface="Consolas"/>
              </a:rPr>
              <a:t>LIVE DEMONSTRATION   ·   REAL-TIME RE-SEGMENTATION</a:t>
            </a:r>
            <a:endParaRPr sz="1100"/>
          </a:p>
        </p:txBody>
      </p:sp>
      <p:sp>
        <p:nvSpPr>
          <p:cNvPr id="785" name="Google Shape;785;p46"/>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Watching a customer change segment</a:t>
            </a:r>
            <a:endParaRPr sz="1100"/>
          </a:p>
        </p:txBody>
      </p:sp>
      <p:cxnSp>
        <p:nvCxnSpPr>
          <p:cNvPr id="786" name="Google Shape;786;p46"/>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787" name="Google Shape;787;p46"/>
          <p:cNvSpPr/>
          <p:nvPr/>
        </p:nvSpPr>
        <p:spPr>
          <a:xfrm>
            <a:off x="582946" y="1543050"/>
            <a:ext cx="1917376" cy="171450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788" name="Google Shape;788;p46"/>
          <p:cNvCxnSpPr/>
          <p:nvPr/>
        </p:nvCxnSpPr>
        <p:spPr>
          <a:xfrm>
            <a:off x="582946" y="1543050"/>
            <a:ext cx="1917376"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789" name="Google Shape;789;p46"/>
          <p:cNvSpPr txBox="1"/>
          <p:nvPr/>
        </p:nvSpPr>
        <p:spPr>
          <a:xfrm>
            <a:off x="774975" y="1748790"/>
            <a:ext cx="6858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700">
                <a:solidFill>
                  <a:srgbClr val="B45309"/>
                </a:solidFill>
                <a:latin typeface="Consolas"/>
                <a:ea typeface="Consolas"/>
                <a:cs typeface="Consolas"/>
                <a:sym typeface="Consolas"/>
              </a:rPr>
              <a:t>01</a:t>
            </a:r>
            <a:endParaRPr sz="1100"/>
          </a:p>
        </p:txBody>
      </p:sp>
      <p:sp>
        <p:nvSpPr>
          <p:cNvPr id="790" name="Google Shape;790;p46"/>
          <p:cNvSpPr txBox="1"/>
          <p:nvPr/>
        </p:nvSpPr>
        <p:spPr>
          <a:xfrm>
            <a:off x="774975" y="2125980"/>
            <a:ext cx="15333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Log in</a:t>
            </a:r>
            <a:endParaRPr sz="1100"/>
          </a:p>
        </p:txBody>
      </p:sp>
      <p:sp>
        <p:nvSpPr>
          <p:cNvPr id="791" name="Google Shape;791;p46"/>
          <p:cNvSpPr txBox="1"/>
          <p:nvPr/>
        </p:nvSpPr>
        <p:spPr>
          <a:xfrm>
            <a:off x="774975" y="2434590"/>
            <a:ext cx="1533318" cy="685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A real customer authenticates against credentials stored per CustomerID; the backend issues a signed token.</a:t>
            </a:r>
            <a:endParaRPr sz="1100"/>
          </a:p>
        </p:txBody>
      </p:sp>
      <p:sp>
        <p:nvSpPr>
          <p:cNvPr id="792" name="Google Shape;792;p46"/>
          <p:cNvSpPr/>
          <p:nvPr/>
        </p:nvSpPr>
        <p:spPr>
          <a:xfrm>
            <a:off x="2603194" y="1543050"/>
            <a:ext cx="1917376" cy="171450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793" name="Google Shape;793;p46"/>
          <p:cNvCxnSpPr/>
          <p:nvPr/>
        </p:nvCxnSpPr>
        <p:spPr>
          <a:xfrm>
            <a:off x="2603194" y="1543050"/>
            <a:ext cx="1917376"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794" name="Google Shape;794;p46"/>
          <p:cNvSpPr txBox="1"/>
          <p:nvPr/>
        </p:nvSpPr>
        <p:spPr>
          <a:xfrm>
            <a:off x="2795223" y="1748790"/>
            <a:ext cx="6858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700">
                <a:solidFill>
                  <a:srgbClr val="B45309"/>
                </a:solidFill>
                <a:latin typeface="Consolas"/>
                <a:ea typeface="Consolas"/>
                <a:cs typeface="Consolas"/>
                <a:sym typeface="Consolas"/>
              </a:rPr>
              <a:t>02</a:t>
            </a:r>
            <a:endParaRPr sz="1100"/>
          </a:p>
        </p:txBody>
      </p:sp>
      <p:sp>
        <p:nvSpPr>
          <p:cNvPr id="795" name="Google Shape;795;p46"/>
          <p:cNvSpPr txBox="1"/>
          <p:nvPr/>
        </p:nvSpPr>
        <p:spPr>
          <a:xfrm>
            <a:off x="2795223" y="2125980"/>
            <a:ext cx="15333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Buy a product</a:t>
            </a:r>
            <a:endParaRPr sz="1100"/>
          </a:p>
        </p:txBody>
      </p:sp>
      <p:sp>
        <p:nvSpPr>
          <p:cNvPr id="796" name="Google Shape;796;p46"/>
          <p:cNvSpPr txBox="1"/>
          <p:nvPr/>
        </p:nvSpPr>
        <p:spPr>
          <a:xfrm>
            <a:off x="2795223" y="2434590"/>
            <a:ext cx="1533318" cy="685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The customer selects an item from the catalogue served out of SQLite and places an order.</a:t>
            </a:r>
            <a:endParaRPr sz="1100"/>
          </a:p>
        </p:txBody>
      </p:sp>
      <p:sp>
        <p:nvSpPr>
          <p:cNvPr id="797" name="Google Shape;797;p46"/>
          <p:cNvSpPr/>
          <p:nvPr/>
        </p:nvSpPr>
        <p:spPr>
          <a:xfrm>
            <a:off x="4623443" y="1543050"/>
            <a:ext cx="1917376" cy="171450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798" name="Google Shape;798;p46"/>
          <p:cNvCxnSpPr/>
          <p:nvPr/>
        </p:nvCxnSpPr>
        <p:spPr>
          <a:xfrm>
            <a:off x="4623443" y="1543050"/>
            <a:ext cx="1917376"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799" name="Google Shape;799;p46"/>
          <p:cNvSpPr txBox="1"/>
          <p:nvPr/>
        </p:nvSpPr>
        <p:spPr>
          <a:xfrm>
            <a:off x="4815472" y="1748790"/>
            <a:ext cx="6858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700">
                <a:solidFill>
                  <a:srgbClr val="B45309"/>
                </a:solidFill>
                <a:latin typeface="Consolas"/>
                <a:ea typeface="Consolas"/>
                <a:cs typeface="Consolas"/>
                <a:sym typeface="Consolas"/>
              </a:rPr>
              <a:t>03</a:t>
            </a:r>
            <a:endParaRPr sz="1100"/>
          </a:p>
        </p:txBody>
      </p:sp>
      <p:sp>
        <p:nvSpPr>
          <p:cNvPr id="800" name="Google Shape;800;p46"/>
          <p:cNvSpPr txBox="1"/>
          <p:nvPr/>
        </p:nvSpPr>
        <p:spPr>
          <a:xfrm>
            <a:off x="4815472" y="2125980"/>
            <a:ext cx="15333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Backend recomputes</a:t>
            </a:r>
            <a:endParaRPr sz="1100"/>
          </a:p>
        </p:txBody>
      </p:sp>
      <p:sp>
        <p:nvSpPr>
          <p:cNvPr id="801" name="Google Shape;801;p46"/>
          <p:cNvSpPr txBox="1"/>
          <p:nvPr/>
        </p:nvSpPr>
        <p:spPr>
          <a:xfrm>
            <a:off x="4815472" y="2434590"/>
            <a:ext cx="1533318" cy="685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Recency resets to 0, Frequency +1, Monetary increases. The fitted scaler and K-Means then re-predict this customer's cluster.</a:t>
            </a:r>
            <a:endParaRPr sz="1100"/>
          </a:p>
        </p:txBody>
      </p:sp>
      <p:sp>
        <p:nvSpPr>
          <p:cNvPr id="802" name="Google Shape;802;p46"/>
          <p:cNvSpPr/>
          <p:nvPr/>
        </p:nvSpPr>
        <p:spPr>
          <a:xfrm>
            <a:off x="6643691" y="1543050"/>
            <a:ext cx="1917376" cy="1714500"/>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803" name="Google Shape;803;p46"/>
          <p:cNvCxnSpPr/>
          <p:nvPr/>
        </p:nvCxnSpPr>
        <p:spPr>
          <a:xfrm>
            <a:off x="6643691" y="1543050"/>
            <a:ext cx="1917376"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804" name="Google Shape;804;p46"/>
          <p:cNvSpPr txBox="1"/>
          <p:nvPr/>
        </p:nvSpPr>
        <p:spPr>
          <a:xfrm>
            <a:off x="6835720" y="1748790"/>
            <a:ext cx="6858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1700">
                <a:solidFill>
                  <a:srgbClr val="B45309"/>
                </a:solidFill>
                <a:latin typeface="Consolas"/>
                <a:ea typeface="Consolas"/>
                <a:cs typeface="Consolas"/>
                <a:sym typeface="Consolas"/>
              </a:rPr>
              <a:t>04</a:t>
            </a:r>
            <a:endParaRPr sz="1100"/>
          </a:p>
        </p:txBody>
      </p:sp>
      <p:sp>
        <p:nvSpPr>
          <p:cNvPr id="805" name="Google Shape;805;p46"/>
          <p:cNvSpPr txBox="1"/>
          <p:nvPr/>
        </p:nvSpPr>
        <p:spPr>
          <a:xfrm>
            <a:off x="6835720" y="2125980"/>
            <a:ext cx="1533318"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1A1A1A"/>
                </a:solidFill>
                <a:latin typeface="Georgia"/>
                <a:ea typeface="Georgia"/>
                <a:cs typeface="Georgia"/>
                <a:sym typeface="Georgia"/>
              </a:rPr>
              <a:t>Segment updates live</a:t>
            </a:r>
            <a:endParaRPr sz="1100"/>
          </a:p>
        </p:txBody>
      </p:sp>
      <p:sp>
        <p:nvSpPr>
          <p:cNvPr id="806" name="Google Shape;806;p46"/>
          <p:cNvSpPr txBox="1"/>
          <p:nvPr/>
        </p:nvSpPr>
        <p:spPr>
          <a:xfrm>
            <a:off x="6835720" y="2434590"/>
            <a:ext cx="1533318" cy="685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The panel shows before / after side by side and the dashboard figures move. /demo/reset restores the original state.</a:t>
            </a:r>
            <a:endParaRPr sz="1100"/>
          </a:p>
        </p:txBody>
      </p:sp>
      <p:sp>
        <p:nvSpPr>
          <p:cNvPr id="807" name="Google Shape;807;p46"/>
          <p:cNvSpPr/>
          <p:nvPr/>
        </p:nvSpPr>
        <p:spPr>
          <a:xfrm>
            <a:off x="582946" y="3463290"/>
            <a:ext cx="7978124" cy="106299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08" name="Google Shape;808;p46"/>
          <p:cNvSpPr txBox="1"/>
          <p:nvPr/>
        </p:nvSpPr>
        <p:spPr>
          <a:xfrm>
            <a:off x="822982" y="3634740"/>
            <a:ext cx="2743273"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B45309"/>
                </a:solidFill>
                <a:latin typeface="Consolas"/>
                <a:ea typeface="Consolas"/>
                <a:cs typeface="Consolas"/>
                <a:sym typeface="Consolas"/>
              </a:rPr>
              <a:t>WHY THIS MATTERS</a:t>
            </a:r>
            <a:endParaRPr sz="1100"/>
          </a:p>
        </p:txBody>
      </p:sp>
      <p:sp>
        <p:nvSpPr>
          <p:cNvPr id="809" name="Google Shape;809;p46"/>
          <p:cNvSpPr txBox="1"/>
          <p:nvPr/>
        </p:nvSpPr>
        <p:spPr>
          <a:xfrm>
            <a:off x="822982" y="3895344"/>
            <a:ext cx="7406837" cy="548640"/>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0" i="1" lang="en" sz="1100">
                <a:solidFill>
                  <a:srgbClr val="FAF8F4"/>
                </a:solidFill>
                <a:latin typeface="Georgia"/>
                <a:ea typeface="Georgia"/>
                <a:cs typeface="Georgia"/>
                <a:sym typeface="Georgia"/>
              </a:rPr>
              <a:t>It proves the segmentation is a live system, not a one-off report. The fitted scaler, K-Means and logistic-regression models are held in memory and applied to new behaviour as it arrives — which is exactly how this would run in production.</a:t>
            </a:r>
            <a:endParaRPr sz="1100"/>
          </a:p>
        </p:txBody>
      </p:sp>
      <p:cxnSp>
        <p:nvCxnSpPr>
          <p:cNvPr id="810" name="Google Shape;810;p46"/>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11" name="Google Shape;811;p46"/>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812" name="Google Shape;812;p46"/>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23 / 28</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47"/>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19" name="Google Shape;819;p47"/>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06  </a:t>
            </a:r>
            <a:r>
              <a:rPr lang="en" sz="800">
                <a:solidFill>
                  <a:srgbClr val="6B6B6B"/>
                </a:solidFill>
                <a:latin typeface="Consolas"/>
                <a:ea typeface="Consolas"/>
                <a:cs typeface="Consolas"/>
                <a:sym typeface="Consolas"/>
              </a:rPr>
              <a:t>LIMITATIONS   ·   STATED UP FRONT</a:t>
            </a:r>
            <a:endParaRPr sz="1100"/>
          </a:p>
        </p:txBody>
      </p:sp>
      <p:sp>
        <p:nvSpPr>
          <p:cNvPr id="820" name="Google Shape;820;p47"/>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What this project does not do</a:t>
            </a:r>
            <a:endParaRPr sz="1100"/>
          </a:p>
        </p:txBody>
      </p:sp>
      <p:cxnSp>
        <p:nvCxnSpPr>
          <p:cNvPr id="821" name="Google Shape;821;p47"/>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22" name="Google Shape;822;p47"/>
          <p:cNvSpPr txBox="1"/>
          <p:nvPr/>
        </p:nvSpPr>
        <p:spPr>
          <a:xfrm>
            <a:off x="582946" y="1522476"/>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B91C1C"/>
                </a:solidFill>
                <a:latin typeface="Consolas"/>
                <a:ea typeface="Consolas"/>
                <a:cs typeface="Consolas"/>
                <a:sym typeface="Consolas"/>
              </a:rPr>
              <a:t>01</a:t>
            </a:r>
            <a:endParaRPr sz="1100"/>
          </a:p>
        </p:txBody>
      </p:sp>
      <p:sp>
        <p:nvSpPr>
          <p:cNvPr id="823" name="Google Shape;823;p47"/>
          <p:cNvSpPr txBox="1"/>
          <p:nvPr/>
        </p:nvSpPr>
        <p:spPr>
          <a:xfrm>
            <a:off x="1008153" y="1495044"/>
            <a:ext cx="3086182"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The churn label leaks its own input</a:t>
            </a:r>
            <a:endParaRPr sz="1100"/>
          </a:p>
        </p:txBody>
      </p:sp>
      <p:sp>
        <p:nvSpPr>
          <p:cNvPr id="824" name="Google Shape;824;p47"/>
          <p:cNvSpPr txBox="1"/>
          <p:nvPr/>
        </p:nvSpPr>
        <p:spPr>
          <a:xfrm>
            <a:off x="4286364" y="1508760"/>
            <a:ext cx="4217782"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Churn is defined from Recency, which is also a feature, so the reported 100% accuracy measures label construction rather than predictive power.</a:t>
            </a:r>
            <a:endParaRPr sz="1100"/>
          </a:p>
        </p:txBody>
      </p:sp>
      <p:cxnSp>
        <p:nvCxnSpPr>
          <p:cNvPr id="825" name="Google Shape;825;p47"/>
          <p:cNvCxnSpPr/>
          <p:nvPr/>
        </p:nvCxnSpPr>
        <p:spPr>
          <a:xfrm>
            <a:off x="582946" y="201625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26" name="Google Shape;826;p47"/>
          <p:cNvSpPr txBox="1"/>
          <p:nvPr/>
        </p:nvSpPr>
        <p:spPr>
          <a:xfrm>
            <a:off x="582946" y="2139696"/>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B91C1C"/>
                </a:solidFill>
                <a:latin typeface="Consolas"/>
                <a:ea typeface="Consolas"/>
                <a:cs typeface="Consolas"/>
                <a:sym typeface="Consolas"/>
              </a:rPr>
              <a:t>02</a:t>
            </a:r>
            <a:endParaRPr sz="1100"/>
          </a:p>
        </p:txBody>
      </p:sp>
      <p:sp>
        <p:nvSpPr>
          <p:cNvPr id="827" name="Google Shape;827;p47"/>
          <p:cNvSpPr txBox="1"/>
          <p:nvPr/>
        </p:nvSpPr>
        <p:spPr>
          <a:xfrm>
            <a:off x="1008153" y="2112264"/>
            <a:ext cx="3086182"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A quarter of the data was discarded</a:t>
            </a:r>
            <a:endParaRPr sz="1100"/>
          </a:p>
        </p:txBody>
      </p:sp>
      <p:sp>
        <p:nvSpPr>
          <p:cNvPr id="828" name="Google Shape;828;p47"/>
          <p:cNvSpPr txBox="1"/>
          <p:nvPr/>
        </p:nvSpPr>
        <p:spPr>
          <a:xfrm>
            <a:off x="4286364" y="2125980"/>
            <a:ext cx="4217782"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135,080 rows had no CustomerID. That is real revenue excluded from the analysis simply because it cannot be attributed to a person.</a:t>
            </a:r>
            <a:endParaRPr sz="1100"/>
          </a:p>
        </p:txBody>
      </p:sp>
      <p:cxnSp>
        <p:nvCxnSpPr>
          <p:cNvPr id="829" name="Google Shape;829;p47"/>
          <p:cNvCxnSpPr/>
          <p:nvPr/>
        </p:nvCxnSpPr>
        <p:spPr>
          <a:xfrm>
            <a:off x="582946" y="263347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30" name="Google Shape;830;p47"/>
          <p:cNvSpPr txBox="1"/>
          <p:nvPr/>
        </p:nvSpPr>
        <p:spPr>
          <a:xfrm>
            <a:off x="582946" y="2756916"/>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B91C1C"/>
                </a:solidFill>
                <a:latin typeface="Consolas"/>
                <a:ea typeface="Consolas"/>
                <a:cs typeface="Consolas"/>
                <a:sym typeface="Consolas"/>
              </a:rPr>
              <a:t>03</a:t>
            </a:r>
            <a:endParaRPr sz="1100"/>
          </a:p>
        </p:txBody>
      </p:sp>
      <p:sp>
        <p:nvSpPr>
          <p:cNvPr id="831" name="Google Shape;831;p47"/>
          <p:cNvSpPr txBox="1"/>
          <p:nvPr/>
        </p:nvSpPr>
        <p:spPr>
          <a:xfrm>
            <a:off x="1008153" y="2729484"/>
            <a:ext cx="3086182"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K = 4 overrides the silhouette score</a:t>
            </a:r>
            <a:endParaRPr sz="1100"/>
          </a:p>
        </p:txBody>
      </p:sp>
      <p:sp>
        <p:nvSpPr>
          <p:cNvPr id="832" name="Google Shape;832;p47"/>
          <p:cNvSpPr txBox="1"/>
          <p:nvPr/>
        </p:nvSpPr>
        <p:spPr>
          <a:xfrm>
            <a:off x="4286364" y="2743200"/>
            <a:ext cx="4217782"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Silhouette prefers K = 2 (0.432 vs 0.337). We chose K = 4 for business interpretability — defensible, but a judgement call.</a:t>
            </a:r>
            <a:endParaRPr sz="1100"/>
          </a:p>
        </p:txBody>
      </p:sp>
      <p:cxnSp>
        <p:nvCxnSpPr>
          <p:cNvPr id="833" name="Google Shape;833;p47"/>
          <p:cNvCxnSpPr/>
          <p:nvPr/>
        </p:nvCxnSpPr>
        <p:spPr>
          <a:xfrm>
            <a:off x="582946" y="325069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34" name="Google Shape;834;p47"/>
          <p:cNvSpPr txBox="1"/>
          <p:nvPr/>
        </p:nvSpPr>
        <p:spPr>
          <a:xfrm>
            <a:off x="582946" y="3374136"/>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B91C1C"/>
                </a:solidFill>
                <a:latin typeface="Consolas"/>
                <a:ea typeface="Consolas"/>
                <a:cs typeface="Consolas"/>
                <a:sym typeface="Consolas"/>
              </a:rPr>
              <a:t>04</a:t>
            </a:r>
            <a:endParaRPr sz="1100"/>
          </a:p>
        </p:txBody>
      </p:sp>
      <p:sp>
        <p:nvSpPr>
          <p:cNvPr id="835" name="Google Shape;835;p47"/>
          <p:cNvSpPr txBox="1"/>
          <p:nvPr/>
        </p:nvSpPr>
        <p:spPr>
          <a:xfrm>
            <a:off x="1008153" y="3346704"/>
            <a:ext cx="3086182"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RFM ignores what customers buy</a:t>
            </a:r>
            <a:endParaRPr sz="1100"/>
          </a:p>
        </p:txBody>
      </p:sp>
      <p:sp>
        <p:nvSpPr>
          <p:cNvPr id="836" name="Google Shape;836;p47"/>
          <p:cNvSpPr txBox="1"/>
          <p:nvPr/>
        </p:nvSpPr>
        <p:spPr>
          <a:xfrm>
            <a:off x="4286364" y="3360420"/>
            <a:ext cx="4217782" cy="4800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Only how recently, how often and how much. Two customers with identical RFM but completely different baskets are treated as identical.</a:t>
            </a:r>
            <a:endParaRPr sz="1100"/>
          </a:p>
        </p:txBody>
      </p:sp>
      <p:cxnSp>
        <p:nvCxnSpPr>
          <p:cNvPr id="837" name="Google Shape;837;p47"/>
          <p:cNvCxnSpPr/>
          <p:nvPr/>
        </p:nvCxnSpPr>
        <p:spPr>
          <a:xfrm>
            <a:off x="582946" y="386791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38" name="Google Shape;838;p47"/>
          <p:cNvSpPr txBox="1"/>
          <p:nvPr/>
        </p:nvSpPr>
        <p:spPr>
          <a:xfrm>
            <a:off x="582946" y="3991356"/>
            <a:ext cx="342909"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1" i="0" lang="en" sz="900">
                <a:solidFill>
                  <a:srgbClr val="B91C1C"/>
                </a:solidFill>
                <a:latin typeface="Consolas"/>
                <a:ea typeface="Consolas"/>
                <a:cs typeface="Consolas"/>
                <a:sym typeface="Consolas"/>
              </a:rPr>
              <a:t>05</a:t>
            </a:r>
            <a:endParaRPr sz="1100"/>
          </a:p>
        </p:txBody>
      </p:sp>
      <p:sp>
        <p:nvSpPr>
          <p:cNvPr id="839" name="Google Shape;839;p47"/>
          <p:cNvSpPr txBox="1"/>
          <p:nvPr/>
        </p:nvSpPr>
        <p:spPr>
          <a:xfrm>
            <a:off x="1008153" y="3963924"/>
            <a:ext cx="3086182"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 sz="1200">
                <a:solidFill>
                  <a:srgbClr val="1A1A1A"/>
                </a:solidFill>
                <a:latin typeface="Georgia"/>
                <a:ea typeface="Georgia"/>
                <a:cs typeface="Georgia"/>
                <a:sym typeface="Georgia"/>
              </a:rPr>
              <a:t>The saving is modelled, not measured</a:t>
            </a:r>
            <a:endParaRPr sz="1100"/>
          </a:p>
        </p:txBody>
      </p:sp>
      <p:sp>
        <p:nvSpPr>
          <p:cNvPr id="840" name="Google Shape;840;p47"/>
          <p:cNvSpPr txBox="1"/>
          <p:nvPr/>
        </p:nvSpPr>
        <p:spPr>
          <a:xfrm>
            <a:off x="4286364" y="3977640"/>
            <a:ext cx="4217700" cy="3186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 sz="900">
                <a:solidFill>
                  <a:srgbClr val="6B6B6B"/>
                </a:solidFill>
                <a:latin typeface="Calibri"/>
                <a:ea typeface="Calibri"/>
                <a:cs typeface="Calibri"/>
                <a:sym typeface="Calibri"/>
              </a:rPr>
              <a:t>The 56% figure is arithmetic over real segment sizes. Proving campaign uplift needs an A/B test against a </a:t>
            </a:r>
            <a:r>
              <a:rPr lang="en" sz="900">
                <a:solidFill>
                  <a:srgbClr val="6B6B6B"/>
                </a:solidFill>
                <a:latin typeface="Calibri"/>
                <a:ea typeface="Calibri"/>
                <a:cs typeface="Calibri"/>
                <a:sym typeface="Calibri"/>
              </a:rPr>
              <a:t>randomized</a:t>
            </a:r>
            <a:r>
              <a:rPr b="0" i="0" lang="en" sz="900">
                <a:solidFill>
                  <a:srgbClr val="6B6B6B"/>
                </a:solidFill>
                <a:latin typeface="Calibri"/>
                <a:ea typeface="Calibri"/>
                <a:cs typeface="Calibri"/>
                <a:sym typeface="Calibri"/>
              </a:rPr>
              <a:t> holdout group.</a:t>
            </a:r>
            <a:endParaRPr sz="1100"/>
          </a:p>
        </p:txBody>
      </p:sp>
      <p:cxnSp>
        <p:nvCxnSpPr>
          <p:cNvPr id="841" name="Google Shape;841;p47"/>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42" name="Google Shape;842;p47"/>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843" name="Google Shape;843;p47"/>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24 / 28</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48"/>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50" name="Google Shape;850;p48"/>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06  </a:t>
            </a:r>
            <a:r>
              <a:rPr lang="en" sz="800">
                <a:solidFill>
                  <a:srgbClr val="6B6B6B"/>
                </a:solidFill>
                <a:latin typeface="Consolas"/>
                <a:ea typeface="Consolas"/>
                <a:cs typeface="Consolas"/>
                <a:sym typeface="Consolas"/>
              </a:rPr>
              <a:t>FUTURE WORK   ·   IN PRIORITY ORDER</a:t>
            </a:r>
            <a:endParaRPr sz="1100"/>
          </a:p>
        </p:txBody>
      </p:sp>
      <p:sp>
        <p:nvSpPr>
          <p:cNvPr id="851" name="Google Shape;851;p48"/>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Where this goes next</a:t>
            </a:r>
            <a:endParaRPr sz="1100"/>
          </a:p>
        </p:txBody>
      </p:sp>
      <p:cxnSp>
        <p:nvCxnSpPr>
          <p:cNvPr id="852" name="Google Shape;852;p48"/>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53" name="Google Shape;853;p48"/>
          <p:cNvSpPr/>
          <p:nvPr/>
        </p:nvSpPr>
        <p:spPr>
          <a:xfrm>
            <a:off x="582946" y="1488186"/>
            <a:ext cx="493789" cy="192024"/>
          </a:xfrm>
          <a:prstGeom prst="rect">
            <a:avLst/>
          </a:prstGeom>
          <a:noFill/>
          <a:ln cap="flat" cmpd="sng" w="9525">
            <a:solidFill>
              <a:srgbClr val="B4530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54" name="Google Shape;854;p48"/>
          <p:cNvSpPr txBox="1"/>
          <p:nvPr/>
        </p:nvSpPr>
        <p:spPr>
          <a:xfrm>
            <a:off x="582946" y="1512189"/>
            <a:ext cx="493789" cy="17145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 sz="600">
                <a:solidFill>
                  <a:srgbClr val="B45309"/>
                </a:solidFill>
                <a:latin typeface="Consolas"/>
                <a:ea typeface="Consolas"/>
                <a:cs typeface="Consolas"/>
                <a:sym typeface="Consolas"/>
              </a:rPr>
              <a:t>HIGH</a:t>
            </a:r>
            <a:endParaRPr sz="1100"/>
          </a:p>
        </p:txBody>
      </p:sp>
      <p:sp>
        <p:nvSpPr>
          <p:cNvPr id="855" name="Google Shape;855;p48"/>
          <p:cNvSpPr txBox="1"/>
          <p:nvPr/>
        </p:nvSpPr>
        <p:spPr>
          <a:xfrm>
            <a:off x="1234473" y="1460754"/>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a:solidFill>
                  <a:srgbClr val="1A1A1A"/>
                </a:solidFill>
                <a:latin typeface="Georgia"/>
                <a:ea typeface="Georgia"/>
                <a:cs typeface="Georgia"/>
                <a:sym typeface="Georgia"/>
              </a:rPr>
              <a:t>Rebuild churn as a real forecast</a:t>
            </a:r>
            <a:endParaRPr sz="1100"/>
          </a:p>
        </p:txBody>
      </p:sp>
      <p:sp>
        <p:nvSpPr>
          <p:cNvPr id="856" name="Google Shape;856;p48"/>
          <p:cNvSpPr txBox="1"/>
          <p:nvPr/>
        </p:nvSpPr>
        <p:spPr>
          <a:xfrm>
            <a:off x="4286364" y="1474470"/>
            <a:ext cx="4217782"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Define the label on a forward window — did the customer purchase in the next 90 days — and train only on features observed before it, with Recency excluded.</a:t>
            </a:r>
            <a:endParaRPr sz="1100"/>
          </a:p>
        </p:txBody>
      </p:sp>
      <p:cxnSp>
        <p:nvCxnSpPr>
          <p:cNvPr id="857" name="Google Shape;857;p48"/>
          <p:cNvCxnSpPr/>
          <p:nvPr/>
        </p:nvCxnSpPr>
        <p:spPr>
          <a:xfrm>
            <a:off x="582946" y="189966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58" name="Google Shape;858;p48"/>
          <p:cNvSpPr/>
          <p:nvPr/>
        </p:nvSpPr>
        <p:spPr>
          <a:xfrm>
            <a:off x="582946" y="2002536"/>
            <a:ext cx="493789" cy="192024"/>
          </a:xfrm>
          <a:prstGeom prst="rect">
            <a:avLst/>
          </a:prstGeom>
          <a:noFill/>
          <a:ln cap="flat" cmpd="sng" w="9525">
            <a:solidFill>
              <a:srgbClr val="B45309"/>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59" name="Google Shape;859;p48"/>
          <p:cNvSpPr txBox="1"/>
          <p:nvPr/>
        </p:nvSpPr>
        <p:spPr>
          <a:xfrm>
            <a:off x="582946" y="2026539"/>
            <a:ext cx="493789" cy="17145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 sz="600">
                <a:solidFill>
                  <a:srgbClr val="B45309"/>
                </a:solidFill>
                <a:latin typeface="Consolas"/>
                <a:ea typeface="Consolas"/>
                <a:cs typeface="Consolas"/>
                <a:sym typeface="Consolas"/>
              </a:rPr>
              <a:t>HIGH</a:t>
            </a:r>
            <a:endParaRPr sz="1100"/>
          </a:p>
        </p:txBody>
      </p:sp>
      <p:sp>
        <p:nvSpPr>
          <p:cNvPr id="860" name="Google Shape;860;p48"/>
          <p:cNvSpPr txBox="1"/>
          <p:nvPr/>
        </p:nvSpPr>
        <p:spPr>
          <a:xfrm>
            <a:off x="1234473" y="1975104"/>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a:solidFill>
                  <a:srgbClr val="1A1A1A"/>
                </a:solidFill>
                <a:latin typeface="Georgia"/>
                <a:ea typeface="Georgia"/>
                <a:cs typeface="Georgia"/>
                <a:sym typeface="Georgia"/>
              </a:rPr>
              <a:t>Measure uplift with an A/B test</a:t>
            </a:r>
            <a:endParaRPr sz="1100"/>
          </a:p>
        </p:txBody>
      </p:sp>
      <p:sp>
        <p:nvSpPr>
          <p:cNvPr id="861" name="Google Shape;861;p48"/>
          <p:cNvSpPr txBox="1"/>
          <p:nvPr/>
        </p:nvSpPr>
        <p:spPr>
          <a:xfrm>
            <a:off x="4286364" y="1988820"/>
            <a:ext cx="4217782"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Run the targeted campaign against a randomised holdout to convert the modelled cost saving into an evidenced revenue result.</a:t>
            </a:r>
            <a:endParaRPr sz="1100"/>
          </a:p>
        </p:txBody>
      </p:sp>
      <p:cxnSp>
        <p:nvCxnSpPr>
          <p:cNvPr id="862" name="Google Shape;862;p48"/>
          <p:cNvCxnSpPr/>
          <p:nvPr/>
        </p:nvCxnSpPr>
        <p:spPr>
          <a:xfrm>
            <a:off x="582946" y="241401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63" name="Google Shape;863;p48"/>
          <p:cNvSpPr/>
          <p:nvPr/>
        </p:nvSpPr>
        <p:spPr>
          <a:xfrm>
            <a:off x="582946" y="2516886"/>
            <a:ext cx="493789" cy="192024"/>
          </a:xfrm>
          <a:prstGeom prst="rect">
            <a:avLst/>
          </a:prstGeom>
          <a:noFill/>
          <a:ln cap="flat" cmpd="sng" w="9525">
            <a:solidFill>
              <a:srgbClr val="6B6B6B"/>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64" name="Google Shape;864;p48"/>
          <p:cNvSpPr txBox="1"/>
          <p:nvPr/>
        </p:nvSpPr>
        <p:spPr>
          <a:xfrm>
            <a:off x="582946" y="2540889"/>
            <a:ext cx="493789" cy="17145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 sz="600">
                <a:solidFill>
                  <a:srgbClr val="6B6B6B"/>
                </a:solidFill>
                <a:latin typeface="Consolas"/>
                <a:ea typeface="Consolas"/>
                <a:cs typeface="Consolas"/>
                <a:sym typeface="Consolas"/>
              </a:rPr>
              <a:t>MEDIUM</a:t>
            </a:r>
            <a:endParaRPr sz="1100"/>
          </a:p>
        </p:txBody>
      </p:sp>
      <p:sp>
        <p:nvSpPr>
          <p:cNvPr id="865" name="Google Shape;865;p48"/>
          <p:cNvSpPr txBox="1"/>
          <p:nvPr/>
        </p:nvSpPr>
        <p:spPr>
          <a:xfrm>
            <a:off x="1234473" y="2489454"/>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a:solidFill>
                  <a:srgbClr val="1A1A1A"/>
                </a:solidFill>
                <a:latin typeface="Georgia"/>
                <a:ea typeface="Georgia"/>
                <a:cs typeface="Georgia"/>
                <a:sym typeface="Georgia"/>
              </a:rPr>
              <a:t>Add product-affinity features</a:t>
            </a:r>
            <a:endParaRPr sz="1100"/>
          </a:p>
        </p:txBody>
      </p:sp>
      <p:sp>
        <p:nvSpPr>
          <p:cNvPr id="866" name="Google Shape;866;p48"/>
          <p:cNvSpPr txBox="1"/>
          <p:nvPr/>
        </p:nvSpPr>
        <p:spPr>
          <a:xfrm>
            <a:off x="4286364" y="2503170"/>
            <a:ext cx="4217782"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Extend RFM with category mix and basket composition so segments capture what people buy, not only how much and how often.</a:t>
            </a:r>
            <a:endParaRPr sz="1100"/>
          </a:p>
        </p:txBody>
      </p:sp>
      <p:cxnSp>
        <p:nvCxnSpPr>
          <p:cNvPr id="867" name="Google Shape;867;p48"/>
          <p:cNvCxnSpPr/>
          <p:nvPr/>
        </p:nvCxnSpPr>
        <p:spPr>
          <a:xfrm>
            <a:off x="582946" y="292836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68" name="Google Shape;868;p48"/>
          <p:cNvSpPr/>
          <p:nvPr/>
        </p:nvSpPr>
        <p:spPr>
          <a:xfrm>
            <a:off x="582946" y="3031236"/>
            <a:ext cx="493789" cy="192024"/>
          </a:xfrm>
          <a:prstGeom prst="rect">
            <a:avLst/>
          </a:prstGeom>
          <a:noFill/>
          <a:ln cap="flat" cmpd="sng" w="9525">
            <a:solidFill>
              <a:srgbClr val="6B6B6B"/>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69" name="Google Shape;869;p48"/>
          <p:cNvSpPr txBox="1"/>
          <p:nvPr/>
        </p:nvSpPr>
        <p:spPr>
          <a:xfrm>
            <a:off x="582946" y="3055239"/>
            <a:ext cx="493789" cy="17145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 sz="600">
                <a:solidFill>
                  <a:srgbClr val="6B6B6B"/>
                </a:solidFill>
                <a:latin typeface="Consolas"/>
                <a:ea typeface="Consolas"/>
                <a:cs typeface="Consolas"/>
                <a:sym typeface="Consolas"/>
              </a:rPr>
              <a:t>MEDIUM</a:t>
            </a:r>
            <a:endParaRPr sz="1100"/>
          </a:p>
        </p:txBody>
      </p:sp>
      <p:sp>
        <p:nvSpPr>
          <p:cNvPr id="870" name="Google Shape;870;p48"/>
          <p:cNvSpPr txBox="1"/>
          <p:nvPr/>
        </p:nvSpPr>
        <p:spPr>
          <a:xfrm>
            <a:off x="1234473" y="3003804"/>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a:solidFill>
                  <a:srgbClr val="1A1A1A"/>
                </a:solidFill>
                <a:latin typeface="Georgia"/>
                <a:ea typeface="Georgia"/>
                <a:cs typeface="Georgia"/>
                <a:sym typeface="Georgia"/>
              </a:rPr>
              <a:t>Benchmark alternative clustering</a:t>
            </a:r>
            <a:endParaRPr sz="1100"/>
          </a:p>
        </p:txBody>
      </p:sp>
      <p:sp>
        <p:nvSpPr>
          <p:cNvPr id="871" name="Google Shape;871;p48"/>
          <p:cNvSpPr txBox="1"/>
          <p:nvPr/>
        </p:nvSpPr>
        <p:spPr>
          <a:xfrm>
            <a:off x="4286364" y="3017520"/>
            <a:ext cx="4217782"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Evaluate DBSCAN and hierarchical clustering against K-Means, with Davies–Bouldin and Calinski–Harabasz alongside silhouette.</a:t>
            </a:r>
            <a:endParaRPr sz="1100"/>
          </a:p>
        </p:txBody>
      </p:sp>
      <p:cxnSp>
        <p:nvCxnSpPr>
          <p:cNvPr id="872" name="Google Shape;872;p48"/>
          <p:cNvCxnSpPr/>
          <p:nvPr/>
        </p:nvCxnSpPr>
        <p:spPr>
          <a:xfrm>
            <a:off x="582946" y="344271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73" name="Google Shape;873;p48"/>
          <p:cNvSpPr/>
          <p:nvPr/>
        </p:nvSpPr>
        <p:spPr>
          <a:xfrm>
            <a:off x="582946" y="3545586"/>
            <a:ext cx="493789" cy="192024"/>
          </a:xfrm>
          <a:prstGeom prst="rect">
            <a:avLst/>
          </a:prstGeom>
          <a:noFill/>
          <a:ln cap="flat" cmpd="sng" w="9525">
            <a:solidFill>
              <a:srgbClr val="6B6B6B"/>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74" name="Google Shape;874;p48"/>
          <p:cNvSpPr txBox="1"/>
          <p:nvPr/>
        </p:nvSpPr>
        <p:spPr>
          <a:xfrm>
            <a:off x="582946" y="3569589"/>
            <a:ext cx="493789" cy="17145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 sz="600">
                <a:solidFill>
                  <a:srgbClr val="6B6B6B"/>
                </a:solidFill>
                <a:latin typeface="Consolas"/>
                <a:ea typeface="Consolas"/>
                <a:cs typeface="Consolas"/>
                <a:sym typeface="Consolas"/>
              </a:rPr>
              <a:t>MEDIUM</a:t>
            </a:r>
            <a:endParaRPr sz="1100"/>
          </a:p>
        </p:txBody>
      </p:sp>
      <p:sp>
        <p:nvSpPr>
          <p:cNvPr id="875" name="Google Shape;875;p48"/>
          <p:cNvSpPr txBox="1"/>
          <p:nvPr/>
        </p:nvSpPr>
        <p:spPr>
          <a:xfrm>
            <a:off x="1234473" y="3518154"/>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a:solidFill>
                  <a:srgbClr val="1A1A1A"/>
                </a:solidFill>
                <a:latin typeface="Georgia"/>
                <a:ea typeface="Georgia"/>
                <a:cs typeface="Georgia"/>
                <a:sym typeface="Georgia"/>
              </a:rPr>
              <a:t>Model customer lifetime value</a:t>
            </a:r>
            <a:endParaRPr sz="1100"/>
          </a:p>
        </p:txBody>
      </p:sp>
      <p:sp>
        <p:nvSpPr>
          <p:cNvPr id="876" name="Google Shape;876;p48"/>
          <p:cNvSpPr txBox="1"/>
          <p:nvPr/>
        </p:nvSpPr>
        <p:spPr>
          <a:xfrm>
            <a:off x="4286364" y="3531870"/>
            <a:ext cx="4217782"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Move from historical spend to predicted future value so segments can be prioritised by what they will be worth.</a:t>
            </a:r>
            <a:endParaRPr sz="1100"/>
          </a:p>
        </p:txBody>
      </p:sp>
      <p:cxnSp>
        <p:nvCxnSpPr>
          <p:cNvPr id="877" name="Google Shape;877;p48"/>
          <p:cNvCxnSpPr/>
          <p:nvPr/>
        </p:nvCxnSpPr>
        <p:spPr>
          <a:xfrm>
            <a:off x="582946" y="395706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78" name="Google Shape;878;p48"/>
          <p:cNvSpPr/>
          <p:nvPr/>
        </p:nvSpPr>
        <p:spPr>
          <a:xfrm>
            <a:off x="582946" y="4059936"/>
            <a:ext cx="493789" cy="192024"/>
          </a:xfrm>
          <a:prstGeom prst="rect">
            <a:avLst/>
          </a:prstGeom>
          <a:noFill/>
          <a:ln cap="flat" cmpd="sng" w="9525">
            <a:solidFill>
              <a:srgbClr val="6B6B6B"/>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79" name="Google Shape;879;p48"/>
          <p:cNvSpPr txBox="1"/>
          <p:nvPr/>
        </p:nvSpPr>
        <p:spPr>
          <a:xfrm>
            <a:off x="582946" y="4083939"/>
            <a:ext cx="493789" cy="17145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 sz="600">
                <a:solidFill>
                  <a:srgbClr val="6B6B6B"/>
                </a:solidFill>
                <a:latin typeface="Consolas"/>
                <a:ea typeface="Consolas"/>
                <a:cs typeface="Consolas"/>
                <a:sym typeface="Consolas"/>
              </a:rPr>
              <a:t>LOW</a:t>
            </a:r>
            <a:endParaRPr sz="1100"/>
          </a:p>
        </p:txBody>
      </p:sp>
      <p:sp>
        <p:nvSpPr>
          <p:cNvPr id="880" name="Google Shape;880;p48"/>
          <p:cNvSpPr txBox="1"/>
          <p:nvPr/>
        </p:nvSpPr>
        <p:spPr>
          <a:xfrm>
            <a:off x="1234473" y="4032504"/>
            <a:ext cx="2880437" cy="27432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100">
                <a:solidFill>
                  <a:srgbClr val="1A1A1A"/>
                </a:solidFill>
                <a:latin typeface="Georgia"/>
                <a:ea typeface="Georgia"/>
                <a:cs typeface="Georgia"/>
                <a:sym typeface="Georgia"/>
              </a:rPr>
              <a:t>Connect to a campaign platform</a:t>
            </a:r>
            <a:endParaRPr sz="1100"/>
          </a:p>
        </p:txBody>
      </p:sp>
      <p:sp>
        <p:nvSpPr>
          <p:cNvPr id="881" name="Google Shape;881;p48"/>
          <p:cNvSpPr txBox="1"/>
          <p:nvPr/>
        </p:nvSpPr>
        <p:spPr>
          <a:xfrm>
            <a:off x="4286364" y="4046220"/>
            <a:ext cx="4217782"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Push a selected segment straight into an email or ads tool so the dashboard becomes operational rather than analytical.</a:t>
            </a:r>
            <a:endParaRPr sz="1100"/>
          </a:p>
        </p:txBody>
      </p:sp>
      <p:cxnSp>
        <p:nvCxnSpPr>
          <p:cNvPr id="882" name="Google Shape;882;p48"/>
          <p:cNvCxnSpPr/>
          <p:nvPr/>
        </p:nvCxnSpPr>
        <p:spPr>
          <a:xfrm>
            <a:off x="582946" y="447141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cxnSp>
        <p:nvCxnSpPr>
          <p:cNvPr id="883" name="Google Shape;883;p48"/>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84" name="Google Shape;884;p48"/>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885" name="Google Shape;885;p48"/>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25 / 28</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49"/>
          <p:cNvSpPr/>
          <p:nvPr/>
        </p:nvSpPr>
        <p:spPr>
          <a:xfrm>
            <a:off x="0" y="0"/>
            <a:ext cx="9144015" cy="5143500"/>
          </a:xfrm>
          <a:prstGeom prst="rect">
            <a:avLst/>
          </a:prstGeom>
          <a:solidFill>
            <a:srgbClr val="FAF8F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92" name="Google Shape;892;p49"/>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06  </a:t>
            </a:r>
            <a:r>
              <a:rPr lang="en" sz="800">
                <a:solidFill>
                  <a:srgbClr val="6B6B6B"/>
                </a:solidFill>
                <a:latin typeface="Consolas"/>
                <a:ea typeface="Consolas"/>
                <a:cs typeface="Consolas"/>
                <a:sym typeface="Consolas"/>
              </a:rPr>
              <a:t>CONCLUSION   ·   SUMMARY OF CONTRIBUTION</a:t>
            </a:r>
            <a:endParaRPr sz="1100"/>
          </a:p>
        </p:txBody>
      </p:sp>
      <p:sp>
        <p:nvSpPr>
          <p:cNvPr id="893" name="Google Shape;893;p49"/>
          <p:cNvSpPr txBox="1"/>
          <p:nvPr/>
        </p:nvSpPr>
        <p:spPr>
          <a:xfrm>
            <a:off x="582946" y="699516"/>
            <a:ext cx="7978124" cy="5143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What we delivered</a:t>
            </a:r>
            <a:endParaRPr sz="1100"/>
          </a:p>
        </p:txBody>
      </p:sp>
      <p:cxnSp>
        <p:nvCxnSpPr>
          <p:cNvPr id="894" name="Google Shape;894;p49"/>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895" name="Google Shape;895;p49"/>
          <p:cNvSpPr/>
          <p:nvPr/>
        </p:nvSpPr>
        <p:spPr>
          <a:xfrm>
            <a:off x="582946" y="1474470"/>
            <a:ext cx="1912232" cy="83667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896" name="Google Shape;896;p49"/>
          <p:cNvCxnSpPr/>
          <p:nvPr/>
        </p:nvCxnSpPr>
        <p:spPr>
          <a:xfrm>
            <a:off x="582946"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897" name="Google Shape;897;p49"/>
          <p:cNvSpPr txBox="1"/>
          <p:nvPr/>
        </p:nvSpPr>
        <p:spPr>
          <a:xfrm>
            <a:off x="733826"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541k</a:t>
            </a:r>
            <a:endParaRPr sz="1100"/>
          </a:p>
        </p:txBody>
      </p:sp>
      <p:sp>
        <p:nvSpPr>
          <p:cNvPr id="898" name="Google Shape;898;p49"/>
          <p:cNvSpPr txBox="1"/>
          <p:nvPr/>
        </p:nvSpPr>
        <p:spPr>
          <a:xfrm>
            <a:off x="733826" y="2023110"/>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TRANSACTIONS PROCESSED</a:t>
            </a:r>
            <a:endParaRPr sz="1100"/>
          </a:p>
        </p:txBody>
      </p:sp>
      <p:sp>
        <p:nvSpPr>
          <p:cNvPr id="899" name="Google Shape;899;p49"/>
          <p:cNvSpPr/>
          <p:nvPr/>
        </p:nvSpPr>
        <p:spPr>
          <a:xfrm>
            <a:off x="2604909" y="1474470"/>
            <a:ext cx="1912232" cy="83667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900" name="Google Shape;900;p49"/>
          <p:cNvCxnSpPr/>
          <p:nvPr/>
        </p:nvCxnSpPr>
        <p:spPr>
          <a:xfrm>
            <a:off x="2604909" y="1474470"/>
            <a:ext cx="1912232"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901" name="Google Shape;901;p49"/>
          <p:cNvSpPr txBox="1"/>
          <p:nvPr/>
        </p:nvSpPr>
        <p:spPr>
          <a:xfrm>
            <a:off x="2755789"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B45309"/>
                </a:solidFill>
                <a:latin typeface="Georgia"/>
                <a:ea typeface="Georgia"/>
                <a:cs typeface="Georgia"/>
                <a:sym typeface="Georgia"/>
              </a:rPr>
              <a:t>4</a:t>
            </a:r>
            <a:endParaRPr sz="1100"/>
          </a:p>
        </p:txBody>
      </p:sp>
      <p:sp>
        <p:nvSpPr>
          <p:cNvPr id="902" name="Google Shape;902;p49"/>
          <p:cNvSpPr txBox="1"/>
          <p:nvPr/>
        </p:nvSpPr>
        <p:spPr>
          <a:xfrm>
            <a:off x="2755789" y="2023110"/>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ACTIONABLE SEGMENTS</a:t>
            </a:r>
            <a:endParaRPr sz="1100"/>
          </a:p>
        </p:txBody>
      </p:sp>
      <p:sp>
        <p:nvSpPr>
          <p:cNvPr id="903" name="Google Shape;903;p49"/>
          <p:cNvSpPr/>
          <p:nvPr/>
        </p:nvSpPr>
        <p:spPr>
          <a:xfrm>
            <a:off x="4626872" y="1474470"/>
            <a:ext cx="1912232" cy="83667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904" name="Google Shape;904;p49"/>
          <p:cNvCxnSpPr/>
          <p:nvPr/>
        </p:nvCxnSpPr>
        <p:spPr>
          <a:xfrm>
            <a:off x="4626872" y="1474470"/>
            <a:ext cx="1912232"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905" name="Google Shape;905;p49"/>
          <p:cNvSpPr txBox="1"/>
          <p:nvPr/>
        </p:nvSpPr>
        <p:spPr>
          <a:xfrm>
            <a:off x="4777752"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B45309"/>
                </a:solidFill>
                <a:latin typeface="Georgia"/>
                <a:ea typeface="Georgia"/>
                <a:cs typeface="Georgia"/>
                <a:sym typeface="Georgia"/>
              </a:rPr>
              <a:t>65%</a:t>
            </a:r>
            <a:endParaRPr sz="1100"/>
          </a:p>
        </p:txBody>
      </p:sp>
      <p:sp>
        <p:nvSpPr>
          <p:cNvPr id="906" name="Google Shape;906;p49"/>
          <p:cNvSpPr txBox="1"/>
          <p:nvPr/>
        </p:nvSpPr>
        <p:spPr>
          <a:xfrm>
            <a:off x="4777752" y="2023110"/>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OF REVENUE IN ONE SEGMENT</a:t>
            </a:r>
            <a:endParaRPr sz="1100"/>
          </a:p>
        </p:txBody>
      </p:sp>
      <p:sp>
        <p:nvSpPr>
          <p:cNvPr id="907" name="Google Shape;907;p49"/>
          <p:cNvSpPr/>
          <p:nvPr/>
        </p:nvSpPr>
        <p:spPr>
          <a:xfrm>
            <a:off x="6648835" y="1474470"/>
            <a:ext cx="1912232" cy="836676"/>
          </a:xfrm>
          <a:prstGeom prst="rect">
            <a:avLst/>
          </a:prstGeom>
          <a:solidFill>
            <a:srgbClr val="F0ECE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cxnSp>
        <p:nvCxnSpPr>
          <p:cNvPr id="908" name="Google Shape;908;p49"/>
          <p:cNvCxnSpPr/>
          <p:nvPr/>
        </p:nvCxnSpPr>
        <p:spPr>
          <a:xfrm>
            <a:off x="6648835" y="1474470"/>
            <a:ext cx="1912232" cy="0"/>
          </a:xfrm>
          <a:prstGeom prst="straightConnector1">
            <a:avLst/>
          </a:prstGeom>
          <a:noFill/>
          <a:ln cap="flat" cmpd="sng" w="28575">
            <a:solidFill>
              <a:srgbClr val="1A1A1A"/>
            </a:solidFill>
            <a:prstDash val="solid"/>
            <a:round/>
            <a:headEnd len="sm" w="sm" type="none"/>
            <a:tailEnd len="sm" w="sm" type="none"/>
          </a:ln>
          <a:effectLst>
            <a:outerShdw blurRad="40000" rotWithShape="0" dir="5400000" dist="20000">
              <a:srgbClr val="000000">
                <a:alpha val="38039"/>
              </a:srgbClr>
            </a:outerShdw>
          </a:effectLst>
        </p:spPr>
      </p:cxnSp>
      <p:sp>
        <p:nvSpPr>
          <p:cNvPr id="909" name="Google Shape;909;p49"/>
          <p:cNvSpPr txBox="1"/>
          <p:nvPr/>
        </p:nvSpPr>
        <p:spPr>
          <a:xfrm>
            <a:off x="6799715" y="1652778"/>
            <a:ext cx="1610472" cy="34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000">
                <a:solidFill>
                  <a:srgbClr val="1A1A1A"/>
                </a:solidFill>
                <a:latin typeface="Georgia"/>
                <a:ea typeface="Georgia"/>
                <a:cs typeface="Georgia"/>
                <a:sym typeface="Georgia"/>
              </a:rPr>
              <a:t>56%</a:t>
            </a:r>
            <a:endParaRPr sz="1100"/>
          </a:p>
        </p:txBody>
      </p:sp>
      <p:sp>
        <p:nvSpPr>
          <p:cNvPr id="910" name="Google Shape;910;p49"/>
          <p:cNvSpPr txBox="1"/>
          <p:nvPr/>
        </p:nvSpPr>
        <p:spPr>
          <a:xfrm>
            <a:off x="6799715" y="2023110"/>
            <a:ext cx="161047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6B6B6B"/>
                </a:solidFill>
                <a:latin typeface="Consolas"/>
                <a:ea typeface="Consolas"/>
                <a:cs typeface="Consolas"/>
                <a:sym typeface="Consolas"/>
              </a:rPr>
              <a:t>MODELLED CUT IN CAMPAIGN SPEND</a:t>
            </a:r>
            <a:endParaRPr sz="1100"/>
          </a:p>
        </p:txBody>
      </p:sp>
      <p:sp>
        <p:nvSpPr>
          <p:cNvPr id="911" name="Google Shape;911;p49"/>
          <p:cNvSpPr txBox="1"/>
          <p:nvPr/>
        </p:nvSpPr>
        <p:spPr>
          <a:xfrm>
            <a:off x="582946" y="2640330"/>
            <a:ext cx="3840582" cy="27432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Segmentation. </a:t>
            </a:r>
            <a:r>
              <a:rPr lang="en" sz="1000">
                <a:solidFill>
                  <a:srgbClr val="1A1A1A"/>
                </a:solidFill>
                <a:latin typeface="Calibri"/>
                <a:ea typeface="Calibri"/>
                <a:cs typeface="Calibri"/>
                <a:sym typeface="Calibri"/>
              </a:rPr>
              <a:t>541,909 transactions reduced to four behavioural segments, each with a persona, a revenue share and a concrete marketing action.</a:t>
            </a:r>
            <a:endParaRPr sz="1100"/>
          </a:p>
          <a:p>
            <a:pPr indent="0" lvl="0" marL="0" marR="0" rtl="0" algn="l">
              <a:lnSpc>
                <a:spcPct val="130000"/>
              </a:lnSpc>
              <a:spcBef>
                <a:spcPts val="6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Prediction. </a:t>
            </a:r>
            <a:r>
              <a:rPr lang="en" sz="1000">
                <a:solidFill>
                  <a:srgbClr val="1A1A1A"/>
                </a:solidFill>
                <a:latin typeface="Calibri"/>
                <a:ea typeface="Calibri"/>
                <a:cs typeface="Calibri"/>
                <a:sym typeface="Calibri"/>
              </a:rPr>
              <a:t>A churn indicator on every customer, with the leakage in its construction identified and documented rather than glossed over.</a:t>
            </a:r>
            <a:endParaRPr sz="1100"/>
          </a:p>
          <a:p>
            <a:pPr indent="0" lvl="0" marL="0" marR="0" rtl="0" algn="l">
              <a:lnSpc>
                <a:spcPct val="130000"/>
              </a:lnSpc>
              <a:spcBef>
                <a:spcPts val="600"/>
              </a:spcBef>
              <a:spcAft>
                <a:spcPts val="0"/>
              </a:spcAft>
              <a:buNone/>
            </a:pPr>
            <a:r>
              <a:rPr b="1" lang="en" sz="1000">
                <a:solidFill>
                  <a:srgbClr val="B45309"/>
                </a:solidFill>
                <a:latin typeface="Calibri"/>
                <a:ea typeface="Calibri"/>
                <a:cs typeface="Calibri"/>
                <a:sym typeface="Calibri"/>
              </a:rPr>
              <a:t>— </a:t>
            </a:r>
            <a:r>
              <a:rPr b="1" lang="en" sz="1000">
                <a:solidFill>
                  <a:srgbClr val="1A1A1A"/>
                </a:solidFill>
                <a:latin typeface="Calibri"/>
                <a:ea typeface="Calibri"/>
                <a:cs typeface="Calibri"/>
                <a:sym typeface="Calibri"/>
              </a:rPr>
              <a:t>Delivery. </a:t>
            </a:r>
            <a:r>
              <a:rPr lang="en" sz="1000">
                <a:solidFill>
                  <a:srgbClr val="1A1A1A"/>
                </a:solidFill>
                <a:latin typeface="Calibri"/>
                <a:ea typeface="Calibri"/>
                <a:cs typeface="Calibri"/>
                <a:sym typeface="Calibri"/>
              </a:rPr>
              <a:t>A FastAPI backend and React dashboard sharing the notebook's exact pipeline — usable by a non-technical marketer.</a:t>
            </a:r>
            <a:endParaRPr sz="1100"/>
          </a:p>
        </p:txBody>
      </p:sp>
      <p:sp>
        <p:nvSpPr>
          <p:cNvPr id="912" name="Google Shape;912;p49"/>
          <p:cNvSpPr/>
          <p:nvPr/>
        </p:nvSpPr>
        <p:spPr>
          <a:xfrm>
            <a:off x="4766437" y="2640330"/>
            <a:ext cx="3772001" cy="171450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13" name="Google Shape;913;p49"/>
          <p:cNvSpPr txBox="1"/>
          <p:nvPr/>
        </p:nvSpPr>
        <p:spPr>
          <a:xfrm>
            <a:off x="5006473" y="2825496"/>
            <a:ext cx="3086182" cy="20574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700">
                <a:solidFill>
                  <a:srgbClr val="B45309"/>
                </a:solidFill>
                <a:latin typeface="Consolas"/>
                <a:ea typeface="Consolas"/>
                <a:cs typeface="Consolas"/>
                <a:sym typeface="Consolas"/>
              </a:rPr>
              <a:t>THE HEADLINE FINDING</a:t>
            </a:r>
            <a:endParaRPr sz="1100"/>
          </a:p>
        </p:txBody>
      </p:sp>
      <p:sp>
        <p:nvSpPr>
          <p:cNvPr id="914" name="Google Shape;914;p49"/>
          <p:cNvSpPr txBox="1"/>
          <p:nvPr/>
        </p:nvSpPr>
        <p:spPr>
          <a:xfrm>
            <a:off x="5006473" y="3120390"/>
            <a:ext cx="3326219" cy="10972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1" lang="en" sz="1100">
                <a:solidFill>
                  <a:srgbClr val="FAF8F4"/>
                </a:solidFill>
                <a:latin typeface="Georgia"/>
                <a:ea typeface="Georgia"/>
                <a:cs typeface="Georgia"/>
                <a:sym typeface="Georgia"/>
              </a:rPr>
              <a:t>16% of customers generate 65% of revenue. Marketing to them as though they were the same as the other 84% is the single largest avoidable cost in the campaign budget.</a:t>
            </a:r>
            <a:endParaRPr sz="1100"/>
          </a:p>
        </p:txBody>
      </p:sp>
      <p:cxnSp>
        <p:nvCxnSpPr>
          <p:cNvPr id="915" name="Google Shape;915;p49"/>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16" name="Google Shape;916;p49"/>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917" name="Google Shape;917;p49"/>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26 / 28</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50"/>
          <p:cNvSpPr txBox="1"/>
          <p:nvPr/>
        </p:nvSpPr>
        <p:spPr>
          <a:xfrm>
            <a:off x="582946" y="425196"/>
            <a:ext cx="7978124"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800">
                <a:solidFill>
                  <a:srgbClr val="B45309"/>
                </a:solidFill>
                <a:latin typeface="Consolas"/>
                <a:ea typeface="Consolas"/>
                <a:cs typeface="Consolas"/>
                <a:sym typeface="Consolas"/>
              </a:rPr>
              <a:t>07  </a:t>
            </a:r>
            <a:r>
              <a:rPr lang="en" sz="800">
                <a:solidFill>
                  <a:srgbClr val="6B6B6B"/>
                </a:solidFill>
                <a:latin typeface="Consolas"/>
                <a:ea typeface="Consolas"/>
                <a:cs typeface="Consolas"/>
                <a:sym typeface="Consolas"/>
              </a:rPr>
              <a:t>APPENDIX   ·   PREPARATION NOTES — NOT FOR PRESENTATION</a:t>
            </a:r>
            <a:endParaRPr sz="1100"/>
          </a:p>
        </p:txBody>
      </p:sp>
      <p:sp>
        <p:nvSpPr>
          <p:cNvPr id="924" name="Google Shape;924;p50"/>
          <p:cNvSpPr txBox="1"/>
          <p:nvPr/>
        </p:nvSpPr>
        <p:spPr>
          <a:xfrm>
            <a:off x="526021" y="682354"/>
            <a:ext cx="79782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2400">
                <a:solidFill>
                  <a:srgbClr val="1A1A1A"/>
                </a:solidFill>
                <a:latin typeface="Georgia"/>
                <a:ea typeface="Georgia"/>
                <a:cs typeface="Georgia"/>
                <a:sym typeface="Georgia"/>
              </a:rPr>
              <a:t>Anticipated questions</a:t>
            </a:r>
            <a:endParaRPr sz="1100"/>
          </a:p>
        </p:txBody>
      </p:sp>
      <p:cxnSp>
        <p:nvCxnSpPr>
          <p:cNvPr id="925" name="Google Shape;925;p50"/>
          <p:cNvCxnSpPr/>
          <p:nvPr/>
        </p:nvCxnSpPr>
        <p:spPr>
          <a:xfrm>
            <a:off x="582946" y="12481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26" name="Google Shape;926;p50"/>
          <p:cNvSpPr txBox="1"/>
          <p:nvPr/>
        </p:nvSpPr>
        <p:spPr>
          <a:xfrm>
            <a:off x="582946" y="1440180"/>
            <a:ext cx="3154764" cy="342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a:solidFill>
                  <a:srgbClr val="B45309"/>
                </a:solidFill>
                <a:latin typeface="Georgia"/>
                <a:ea typeface="Georgia"/>
                <a:cs typeface="Georgia"/>
                <a:sym typeface="Georgia"/>
              </a:rPr>
              <a:t>Why K-Means and not DBSCAN or hierarchical?</a:t>
            </a:r>
            <a:endParaRPr sz="1100"/>
          </a:p>
        </p:txBody>
      </p:sp>
      <p:sp>
        <p:nvSpPr>
          <p:cNvPr id="927" name="Google Shape;927;p50"/>
          <p:cNvSpPr txBox="1"/>
          <p:nvPr/>
        </p:nvSpPr>
        <p:spPr>
          <a:xfrm>
            <a:off x="3977746" y="1440180"/>
            <a:ext cx="4526401"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K-Means is efficient at this scale, produces centroids that are directly interpretable as segment profiles, and is the established choice for RFM. DBSCAN assumes density-separated groups, which RFM does not have — it would label most customers as noise.</a:t>
            </a:r>
            <a:endParaRPr sz="1100"/>
          </a:p>
        </p:txBody>
      </p:sp>
      <p:cxnSp>
        <p:nvCxnSpPr>
          <p:cNvPr id="928" name="Google Shape;928;p50"/>
          <p:cNvCxnSpPr/>
          <p:nvPr/>
        </p:nvCxnSpPr>
        <p:spPr>
          <a:xfrm>
            <a:off x="582933" y="1958217"/>
            <a:ext cx="7978200"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29" name="Google Shape;929;p50"/>
          <p:cNvSpPr txBox="1"/>
          <p:nvPr/>
        </p:nvSpPr>
        <p:spPr>
          <a:xfrm>
            <a:off x="582946" y="1981962"/>
            <a:ext cx="3154764" cy="342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a:solidFill>
                  <a:srgbClr val="B45309"/>
                </a:solidFill>
                <a:latin typeface="Georgia"/>
                <a:ea typeface="Georgia"/>
                <a:cs typeface="Georgia"/>
                <a:sym typeface="Georgia"/>
              </a:rPr>
              <a:t>Your silhouette is highest at K = 2. Why K = 4?</a:t>
            </a:r>
            <a:endParaRPr sz="1100"/>
          </a:p>
        </p:txBody>
      </p:sp>
      <p:sp>
        <p:nvSpPr>
          <p:cNvPr id="930" name="Google Shape;930;p50"/>
          <p:cNvSpPr txBox="1"/>
          <p:nvPr/>
        </p:nvSpPr>
        <p:spPr>
          <a:xfrm>
            <a:off x="3977746" y="1981962"/>
            <a:ext cx="4526401"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Silhouette favours few well-separated blobs and RFM is a continuum, so it biases toward small K. K = 2 gives only active/inactive, which is not actionable. K = 4 retains a reasonable score (0.337) and recovers the standard RFM segments.</a:t>
            </a:r>
            <a:endParaRPr sz="1100"/>
          </a:p>
        </p:txBody>
      </p:sp>
      <p:cxnSp>
        <p:nvCxnSpPr>
          <p:cNvPr id="931" name="Google Shape;931;p50"/>
          <p:cNvCxnSpPr/>
          <p:nvPr/>
        </p:nvCxnSpPr>
        <p:spPr>
          <a:xfrm>
            <a:off x="582946" y="242087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32" name="Google Shape;932;p50"/>
          <p:cNvSpPr txBox="1"/>
          <p:nvPr/>
        </p:nvSpPr>
        <p:spPr>
          <a:xfrm>
            <a:off x="582946" y="2523744"/>
            <a:ext cx="3154764" cy="342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a:solidFill>
                  <a:srgbClr val="B45309"/>
                </a:solidFill>
                <a:latin typeface="Georgia"/>
                <a:ea typeface="Georgia"/>
                <a:cs typeface="Georgia"/>
                <a:sym typeface="Georgia"/>
              </a:rPr>
              <a:t>Why is your churn accuracy 100%?</a:t>
            </a:r>
            <a:endParaRPr sz="1100"/>
          </a:p>
        </p:txBody>
      </p:sp>
      <p:sp>
        <p:nvSpPr>
          <p:cNvPr id="933" name="Google Shape;933;p50"/>
          <p:cNvSpPr txBox="1"/>
          <p:nvPr/>
        </p:nvSpPr>
        <p:spPr>
          <a:xfrm>
            <a:off x="3977746" y="2523744"/>
            <a:ext cx="4526401"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Because the label leaks. Churn = Recency &gt; 90 and Recency is an input, so the model learns a threshold on a given feature. We identified this ourselves; the fix is a forward-window label with Recency excluded from the inputs.</a:t>
            </a:r>
            <a:endParaRPr sz="1100"/>
          </a:p>
        </p:txBody>
      </p:sp>
      <p:cxnSp>
        <p:nvCxnSpPr>
          <p:cNvPr id="934" name="Google Shape;934;p50"/>
          <p:cNvCxnSpPr/>
          <p:nvPr/>
        </p:nvCxnSpPr>
        <p:spPr>
          <a:xfrm>
            <a:off x="582946" y="2962656"/>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35" name="Google Shape;935;p50"/>
          <p:cNvSpPr txBox="1"/>
          <p:nvPr/>
        </p:nvSpPr>
        <p:spPr>
          <a:xfrm>
            <a:off x="582946" y="3065526"/>
            <a:ext cx="3154764" cy="342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a:solidFill>
                  <a:srgbClr val="B45309"/>
                </a:solidFill>
                <a:latin typeface="Georgia"/>
                <a:ea typeface="Georgia"/>
                <a:cs typeface="Georgia"/>
                <a:sym typeface="Georgia"/>
              </a:rPr>
              <a:t>Why drop 25% of the rows?</a:t>
            </a:r>
            <a:endParaRPr sz="1100"/>
          </a:p>
        </p:txBody>
      </p:sp>
      <p:sp>
        <p:nvSpPr>
          <p:cNvPr id="936" name="Google Shape;936;p50"/>
          <p:cNvSpPr txBox="1"/>
          <p:nvPr/>
        </p:nvSpPr>
        <p:spPr>
          <a:xfrm>
            <a:off x="3977746" y="3065526"/>
            <a:ext cx="4526401"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Those rows have no CustomerID — they are guest checkouts. Per-customer analysis is impossible without an identifier. We record it as a limitation, not a fix.</a:t>
            </a:r>
            <a:endParaRPr sz="1100"/>
          </a:p>
        </p:txBody>
      </p:sp>
      <p:cxnSp>
        <p:nvCxnSpPr>
          <p:cNvPr id="937" name="Google Shape;937;p50"/>
          <p:cNvCxnSpPr/>
          <p:nvPr/>
        </p:nvCxnSpPr>
        <p:spPr>
          <a:xfrm>
            <a:off x="582946" y="3504438"/>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38" name="Google Shape;938;p50"/>
          <p:cNvSpPr txBox="1"/>
          <p:nvPr/>
        </p:nvSpPr>
        <p:spPr>
          <a:xfrm>
            <a:off x="582946" y="3607308"/>
            <a:ext cx="3154764" cy="342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a:solidFill>
                  <a:srgbClr val="B45309"/>
                </a:solidFill>
                <a:latin typeface="Georgia"/>
                <a:ea typeface="Georgia"/>
                <a:cs typeface="Georgia"/>
                <a:sym typeface="Georgia"/>
              </a:rPr>
              <a:t>Why log-transform before scaling?</a:t>
            </a:r>
            <a:endParaRPr sz="1100"/>
          </a:p>
        </p:txBody>
      </p:sp>
      <p:sp>
        <p:nvSpPr>
          <p:cNvPr id="939" name="Google Shape;939;p50"/>
          <p:cNvSpPr txBox="1"/>
          <p:nvPr/>
        </p:nvSpPr>
        <p:spPr>
          <a:xfrm>
            <a:off x="3977746" y="3607308"/>
            <a:ext cx="4526401"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Monetary skew is 19.3; StandardScaler alone leaves extreme spenders far from the mass, and K-Means then wastes clusters isolating them. log1p brings skew to 0.36.</a:t>
            </a:r>
            <a:endParaRPr sz="1100"/>
          </a:p>
        </p:txBody>
      </p:sp>
      <p:cxnSp>
        <p:nvCxnSpPr>
          <p:cNvPr id="940" name="Google Shape;940;p50"/>
          <p:cNvCxnSpPr/>
          <p:nvPr/>
        </p:nvCxnSpPr>
        <p:spPr>
          <a:xfrm>
            <a:off x="582946" y="4046220"/>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41" name="Google Shape;941;p50"/>
          <p:cNvSpPr txBox="1"/>
          <p:nvPr/>
        </p:nvSpPr>
        <p:spPr>
          <a:xfrm>
            <a:off x="582946" y="4149090"/>
            <a:ext cx="3154764" cy="342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1000">
                <a:solidFill>
                  <a:srgbClr val="B45309"/>
                </a:solidFill>
                <a:latin typeface="Georgia"/>
                <a:ea typeface="Georgia"/>
                <a:cs typeface="Georgia"/>
                <a:sym typeface="Georgia"/>
              </a:rPr>
              <a:t>Is the 56% saving proven?</a:t>
            </a:r>
            <a:endParaRPr sz="1100"/>
          </a:p>
        </p:txBody>
      </p:sp>
      <p:sp>
        <p:nvSpPr>
          <p:cNvPr id="942" name="Google Shape;942;p50"/>
          <p:cNvSpPr txBox="1"/>
          <p:nvPr/>
        </p:nvSpPr>
        <p:spPr>
          <a:xfrm>
            <a:off x="3977746" y="4149090"/>
            <a:ext cx="4526401" cy="411480"/>
          </a:xfrm>
          <a:prstGeom prst="rect">
            <a:avLst/>
          </a:prstGeom>
          <a:noFill/>
          <a:ln>
            <a:noFill/>
          </a:ln>
        </p:spPr>
        <p:txBody>
          <a:bodyPr anchorCtr="0" anchor="t" bIns="0" lIns="0" spcFirstLastPara="1" rIns="0" wrap="square" tIns="0">
            <a:spAutoFit/>
          </a:bodyPr>
          <a:lstStyle/>
          <a:p>
            <a:pPr indent="0" lvl="0" marL="0" marR="0" rtl="0" algn="l">
              <a:lnSpc>
                <a:spcPct val="128000"/>
              </a:lnSpc>
              <a:spcBef>
                <a:spcPts val="0"/>
              </a:spcBef>
              <a:spcAft>
                <a:spcPts val="0"/>
              </a:spcAft>
              <a:buNone/>
            </a:pPr>
            <a:r>
              <a:rPr b="0" i="0" lang="en" sz="900">
                <a:solidFill>
                  <a:srgbClr val="6B6B6B"/>
                </a:solidFill>
                <a:latin typeface="Calibri"/>
                <a:ea typeface="Calibri"/>
                <a:cs typeface="Calibri"/>
                <a:sym typeface="Calibri"/>
              </a:rPr>
              <a:t>No — it is arithmetic over our real segment sizes and revenue shares. Proving uplift requires an A/B test against a holdout, which is our first future-work item.</a:t>
            </a:r>
            <a:endParaRPr sz="1100"/>
          </a:p>
        </p:txBody>
      </p:sp>
      <p:cxnSp>
        <p:nvCxnSpPr>
          <p:cNvPr id="943" name="Google Shape;943;p50"/>
          <p:cNvCxnSpPr/>
          <p:nvPr/>
        </p:nvCxnSpPr>
        <p:spPr>
          <a:xfrm>
            <a:off x="582946" y="4588002"/>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cxnSp>
        <p:nvCxnSpPr>
          <p:cNvPr id="944" name="Google Shape;944;p50"/>
          <p:cNvCxnSpPr/>
          <p:nvPr/>
        </p:nvCxnSpPr>
        <p:spPr>
          <a:xfrm>
            <a:off x="582946" y="4718304"/>
            <a:ext cx="7978124" cy="0"/>
          </a:xfrm>
          <a:prstGeom prst="straightConnector1">
            <a:avLst/>
          </a:prstGeom>
          <a:noFill/>
          <a:ln cap="flat" cmpd="sng" w="9525">
            <a:solidFill>
              <a:srgbClr val="D8D4CC"/>
            </a:solidFill>
            <a:prstDash val="solid"/>
            <a:round/>
            <a:headEnd len="sm" w="sm" type="none"/>
            <a:tailEnd len="sm" w="sm" type="none"/>
          </a:ln>
          <a:effectLst>
            <a:outerShdw blurRad="40000" rotWithShape="0" dir="5400000" dist="20000">
              <a:srgbClr val="000000">
                <a:alpha val="38039"/>
              </a:srgbClr>
            </a:outerShdw>
          </a:effectLst>
        </p:spPr>
      </p:cxnSp>
      <p:sp>
        <p:nvSpPr>
          <p:cNvPr id="945" name="Google Shape;945;p50"/>
          <p:cNvSpPr txBox="1"/>
          <p:nvPr/>
        </p:nvSpPr>
        <p:spPr>
          <a:xfrm>
            <a:off x="582946" y="4800600"/>
            <a:ext cx="4800728" cy="17145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600">
                <a:solidFill>
                  <a:srgbClr val="6B6B6B"/>
                </a:solidFill>
                <a:latin typeface="Consolas"/>
                <a:ea typeface="Consolas"/>
                <a:cs typeface="Consolas"/>
                <a:sym typeface="Consolas"/>
              </a:rPr>
              <a:t>CUSTOMER SEGMENTATION FOR TARGETED E-COMMERCE MARKETING</a:t>
            </a:r>
            <a:endParaRPr sz="1100"/>
          </a:p>
        </p:txBody>
      </p:sp>
      <p:sp>
        <p:nvSpPr>
          <p:cNvPr id="946" name="Google Shape;946;p50"/>
          <p:cNvSpPr txBox="1"/>
          <p:nvPr/>
        </p:nvSpPr>
        <p:spPr>
          <a:xfrm>
            <a:off x="7189433" y="4800600"/>
            <a:ext cx="1371637" cy="171450"/>
          </a:xfrm>
          <a:prstGeom prst="rect">
            <a:avLst/>
          </a:prstGeom>
          <a:noFill/>
          <a:ln>
            <a:noFill/>
          </a:ln>
        </p:spPr>
        <p:txBody>
          <a:bodyPr anchorCtr="0" anchor="t" bIns="0" lIns="0" spcFirstLastPara="1" rIns="0" wrap="square" tIns="0">
            <a:spAutoFit/>
          </a:bodyPr>
          <a:lstStyle/>
          <a:p>
            <a:pPr indent="0" lvl="0" marL="0" marR="0" rtl="0" algn="r">
              <a:lnSpc>
                <a:spcPct val="125000"/>
              </a:lnSpc>
              <a:spcBef>
                <a:spcPts val="0"/>
              </a:spcBef>
              <a:spcAft>
                <a:spcPts val="0"/>
              </a:spcAft>
              <a:buNone/>
            </a:pPr>
            <a:r>
              <a:rPr b="0" i="0" lang="en" sz="600">
                <a:solidFill>
                  <a:srgbClr val="6B6B6B"/>
                </a:solidFill>
                <a:latin typeface="Consolas"/>
                <a:ea typeface="Consolas"/>
                <a:cs typeface="Consolas"/>
                <a:sym typeface="Consolas"/>
              </a:rPr>
              <a:t>27 / 28</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51"/>
          <p:cNvSpPr/>
          <p:nvPr/>
        </p:nvSpPr>
        <p:spPr>
          <a:xfrm>
            <a:off x="0" y="0"/>
            <a:ext cx="9144015" cy="5143500"/>
          </a:xfrm>
          <a:prstGeom prst="rect">
            <a:avLst/>
          </a:prstGeom>
          <a:solidFill>
            <a:srgbClr val="1C1B1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53" name="Google Shape;953;p51"/>
          <p:cNvSpPr/>
          <p:nvPr/>
        </p:nvSpPr>
        <p:spPr>
          <a:xfrm>
            <a:off x="0" y="0"/>
            <a:ext cx="75440" cy="5143500"/>
          </a:xfrm>
          <a:prstGeom prst="rect">
            <a:avLst/>
          </a:prstGeom>
          <a:solidFill>
            <a:srgbClr val="B45309"/>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54" name="Google Shape;954;p51"/>
          <p:cNvSpPr txBox="1"/>
          <p:nvPr/>
        </p:nvSpPr>
        <p:spPr>
          <a:xfrm>
            <a:off x="582946" y="1885950"/>
            <a:ext cx="6515274"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4100">
                <a:solidFill>
                  <a:srgbClr val="FAF8F4"/>
                </a:solidFill>
                <a:latin typeface="Georgia"/>
                <a:ea typeface="Georgia"/>
                <a:cs typeface="Georgia"/>
                <a:sym typeface="Georgia"/>
              </a:rPr>
              <a:t>Thank you</a:t>
            </a:r>
            <a:endParaRPr sz="1100"/>
          </a:p>
        </p:txBody>
      </p:sp>
      <p:cxnSp>
        <p:nvCxnSpPr>
          <p:cNvPr id="955" name="Google Shape;955;p51"/>
          <p:cNvCxnSpPr/>
          <p:nvPr/>
        </p:nvCxnSpPr>
        <p:spPr>
          <a:xfrm>
            <a:off x="582946" y="2846070"/>
            <a:ext cx="1645964" cy="0"/>
          </a:xfrm>
          <a:prstGeom prst="straightConnector1">
            <a:avLst/>
          </a:prstGeom>
          <a:noFill/>
          <a:ln cap="flat" cmpd="sng" w="28575">
            <a:solidFill>
              <a:srgbClr val="B45309"/>
            </a:solidFill>
            <a:prstDash val="solid"/>
            <a:round/>
            <a:headEnd len="sm" w="sm" type="none"/>
            <a:tailEnd len="sm" w="sm" type="none"/>
          </a:ln>
          <a:effectLst>
            <a:outerShdw blurRad="40000" rotWithShape="0" dir="5400000" dist="20000">
              <a:srgbClr val="000000">
                <a:alpha val="38039"/>
              </a:srgbClr>
            </a:outerShdw>
          </a:effectLst>
        </p:spPr>
      </p:cxnSp>
      <p:sp>
        <p:nvSpPr>
          <p:cNvPr id="956" name="Google Shape;956;p51"/>
          <p:cNvSpPr txBox="1"/>
          <p:nvPr/>
        </p:nvSpPr>
        <p:spPr>
          <a:xfrm>
            <a:off x="582946" y="3086100"/>
            <a:ext cx="5486546" cy="342900"/>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 sz="1200">
                <a:solidFill>
                  <a:srgbClr val="C8C2B6"/>
                </a:solidFill>
                <a:latin typeface="Calibri"/>
                <a:ea typeface="Calibri"/>
                <a:cs typeface="Calibri"/>
                <a:sym typeface="Calibri"/>
              </a:rPr>
              <a:t>Questions welcome</a:t>
            </a:r>
            <a:endParaRPr sz="1100"/>
          </a:p>
        </p:txBody>
      </p:sp>
      <p:sp>
        <p:nvSpPr>
          <p:cNvPr id="957" name="Google Shape;957;p51"/>
          <p:cNvSpPr txBox="1"/>
          <p:nvPr/>
        </p:nvSpPr>
        <p:spPr>
          <a:xfrm>
            <a:off x="582946" y="3840480"/>
            <a:ext cx="7544001" cy="54864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 sz="800">
                <a:solidFill>
                  <a:srgbClr val="8A8478"/>
                </a:solidFill>
                <a:latin typeface="Consolas"/>
                <a:ea typeface="Consolas"/>
                <a:cs typeface="Consolas"/>
                <a:sym typeface="Consolas"/>
              </a:rPr>
              <a:t>CUSTOMER SEGMENTATION FOR TARGETED E-COMMERCE MARKETING</a:t>
            </a:r>
            <a:endParaRPr sz="1100"/>
          </a:p>
          <a:p>
            <a:pPr indent="0" lvl="0" marL="0" marR="0" rtl="0" algn="l">
              <a:lnSpc>
                <a:spcPct val="180000"/>
              </a:lnSpc>
              <a:spcBef>
                <a:spcPts val="0"/>
              </a:spcBef>
              <a:spcAft>
                <a:spcPts val="0"/>
              </a:spcAft>
              <a:buNone/>
            </a:pPr>
            <a:r>
              <a:rPr b="0" i="0" lang="en" sz="800">
                <a:solidFill>
                  <a:srgbClr val="8A8478"/>
                </a:solidFill>
                <a:latin typeface="Consolas"/>
                <a:ea typeface="Consolas"/>
                <a:cs typeface="Consolas"/>
                <a:sym typeface="Consolas"/>
              </a:rPr>
              <a:t>RFM · K-MEANS · CHURN PREDICTION · FASTAPI · REACT</a:t>
            </a:r>
            <a:endParaRPr sz="1100"/>
          </a:p>
        </p:txBody>
      </p:sp>
      <p:sp>
        <p:nvSpPr>
          <p:cNvPr id="958" name="Google Shape;958;p51"/>
          <p:cNvSpPr txBox="1"/>
          <p:nvPr/>
        </p:nvSpPr>
        <p:spPr>
          <a:xfrm>
            <a:off x="5817796" y="3840480"/>
            <a:ext cx="2743273" cy="548640"/>
          </a:xfrm>
          <a:prstGeom prst="rect">
            <a:avLst/>
          </a:prstGeom>
          <a:noFill/>
          <a:ln>
            <a:noFill/>
          </a:ln>
        </p:spPr>
        <p:txBody>
          <a:bodyPr anchorCtr="0" anchor="t" bIns="0" lIns="0" spcFirstLastPara="1" rIns="0" wrap="square" tIns="0">
            <a:spAutoFit/>
          </a:bodyPr>
          <a:lstStyle/>
          <a:p>
            <a:pPr indent="0" lvl="0" marL="0" marR="0" rtl="0" algn="r">
              <a:lnSpc>
                <a:spcPct val="180000"/>
              </a:lnSpc>
              <a:spcBef>
                <a:spcPts val="0"/>
              </a:spcBef>
              <a:spcAft>
                <a:spcPts val="0"/>
              </a:spcAft>
              <a:buNone/>
            </a:pPr>
            <a:r>
              <a:rPr b="0" i="0" lang="en" sz="800">
                <a:solidFill>
                  <a:srgbClr val="6A6458"/>
                </a:solidFill>
                <a:latin typeface="Consolas"/>
                <a:ea typeface="Consolas"/>
                <a:cs typeface="Consolas"/>
                <a:sym typeface="Consolas"/>
              </a:rPr>
              <a:t>S.M. Tahmidul Islam  ·  Hasan Al Mamun  ·  Mahbubul Alam Marin  ·  Mahbubur Raman Mahfuj  ·  Aminul Islam</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